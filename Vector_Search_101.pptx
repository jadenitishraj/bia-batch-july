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94" r:id="rId21"/>
    <p:sldId id="275" r:id="rId22"/>
    <p:sldId id="29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33" autoAdjust="0"/>
    <p:restoredTop sz="93447" autoAdjust="0"/>
  </p:normalViewPr>
  <p:slideViewPr>
    <p:cSldViewPr snapToGrid="0">
      <p:cViewPr varScale="1">
        <p:scale>
          <a:sx n="96" d="100"/>
          <a:sy n="96" d="100"/>
        </p:scale>
        <p:origin x="750" y="84"/>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06-06-2026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emphasize that this is the first deep session on embeddings and vector search. The goal is not to build a full RAG app yet, but to understand the retrieval engine that makes RAG work.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expectations: the session mixes intuition, diagrams, and code walkthrough. Preview that RAG and multimodal are downstream applications, not the main focus today.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Bridge from previous modules to this module. Make the boundary clear: no full RAG chain yet.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as the intuitive hook. Do not define embeddings yet; first make the limitation of keyword search visible.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Tie the deck to the practical notebook. Reinforce that the class will build this system step by step.</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slide. Pause and position the next section: Embeddings: semantic meaning as vectors.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map analogy. Explain that real embedding spaces have hundreds or thousands of dimensions; the 2-D map is only a projection.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Connect to LLM Anatomy: tokenization has already been discussed, but embedding models are used differently from generative LLMs.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as a check: similar sentences should cluster. If they do not, retrieval will be weak before any LLM sees the context.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over-explain the internals. The important operational rule is model consistency and task-specific evaluation.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sets up the practical debugging mindset. Emphasize silent failure.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slide. Pause and position the next section: Similarity metrics: how “near” is calculated.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Clarify that score values are model/metric-specific. The absolute number is less important than the ranking and evaluation.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angle, not the formula. In practice, normalized dot product is often used for cosine-like retrieval.</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transition from math to implementation. Mention that the notebook will use normalized vectors and inner product search.</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Stress that metric choice must match the embedding model and index setup. L2 is simple, but cosine/dot product are more common in semantic text search.</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Make this practical: this metadata should be tracked with every index build, otherwise debugging becomes very difficult.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slide. Pause and position the next section: Dense vs sparse retrieval.</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frame keyword search as obsolete. Hybrid retrieval is important because exact identifiers are often mission-critical.</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1DB2E-DAAB-0804-92C0-5795F1B821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F17EAC-B776-292C-62A3-4120273C3D0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E001000-4E9C-13C6-FF67-5A57FFC0DAEA}"/>
              </a:ext>
            </a:extLst>
          </p:cNvPr>
          <p:cNvSpPr>
            <a:spLocks noGrp="1"/>
          </p:cNvSpPr>
          <p:nvPr>
            <p:ph type="body" sz="quarter" idx="3"/>
          </p:nvPr>
        </p:nvSpPr>
        <p:spPr/>
        <p:txBody>
          <a:bodyPr/>
          <a:lstStyle/>
          <a:p>
            <a:r>
              <a:t>Do not frame keyword search as obsolete. Hybrid retrieval is important because exact identifiers are often mission-critical.</a:t>
            </a:r>
          </a:p>
        </p:txBody>
      </p:sp>
      <p:sp>
        <p:nvSpPr>
          <p:cNvPr id="4" name="Slide Number Placeholder 3">
            <a:extLst>
              <a:ext uri="{FF2B5EF4-FFF2-40B4-BE49-F238E27FC236}">
                <a16:creationId xmlns:a16="http://schemas.microsoft.com/office/drawing/2014/main" id="{65B0FCF0-8B9D-7ED7-B433-4BC309DD1529}"/>
              </a:ext>
            </a:extLst>
          </p:cNvPr>
          <p:cNvSpPr>
            <a:spLocks noGrp="1"/>
          </p:cNvSpPr>
          <p:nvPr>
            <p:ph type="sldNum" sz="quarter" idx="5"/>
          </p:nvPr>
        </p:nvSpPr>
        <p:spPr/>
      </p:sp>
    </p:spTree>
    <p:extLst>
      <p:ext uri="{BB962C8B-B14F-4D97-AF65-F5344CB8AC3E}">
        <p14:creationId xmlns:p14="http://schemas.microsoft.com/office/powerpoint/2010/main" val="5702226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dense search expands beyond keywords but is not sufficient alone.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57C81-6D46-4D33-AA14-0F54F3C979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50E65C-E4BF-BA14-B0F5-572CDA163C9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D3EE10F-8A9C-BF02-AECE-FDCE87C613A7}"/>
              </a:ext>
            </a:extLst>
          </p:cNvPr>
          <p:cNvSpPr>
            <a:spLocks noGrp="1"/>
          </p:cNvSpPr>
          <p:nvPr>
            <p:ph type="body" sz="quarter" idx="3"/>
          </p:nvPr>
        </p:nvSpPr>
        <p:spPr/>
        <p:txBody>
          <a:bodyPr/>
          <a:lstStyle/>
          <a:p>
            <a:r>
              <a:t>Do not frame keyword search as obsolete. Hybrid retrieval is important because exact identifiers are often mission-critical.</a:t>
            </a:r>
          </a:p>
        </p:txBody>
      </p:sp>
      <p:sp>
        <p:nvSpPr>
          <p:cNvPr id="4" name="Slide Number Placeholder 3">
            <a:extLst>
              <a:ext uri="{FF2B5EF4-FFF2-40B4-BE49-F238E27FC236}">
                <a16:creationId xmlns:a16="http://schemas.microsoft.com/office/drawing/2014/main" id="{A05B6311-DD55-F4B8-E1FF-C3FB2291D244}"/>
              </a:ext>
            </a:extLst>
          </p:cNvPr>
          <p:cNvSpPr>
            <a:spLocks noGrp="1"/>
          </p:cNvSpPr>
          <p:nvPr>
            <p:ph type="sldNum" sz="quarter" idx="5"/>
          </p:nvPr>
        </p:nvSpPr>
        <p:spPr/>
      </p:sp>
    </p:spTree>
    <p:extLst>
      <p:ext uri="{BB962C8B-B14F-4D97-AF65-F5344CB8AC3E}">
        <p14:creationId xmlns:p14="http://schemas.microsoft.com/office/powerpoint/2010/main" val="34149155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as a quick classroom interaction. Ask for answers before revealing the matrix.</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Preview only. The next sessions will make this concrete with vector databases and RAG.</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slide. Pause and position the next section: Embedding model choices and cost.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Avoid declaring a universal best model. The right answer depends on corpus, latency, privacy, cost, and evaluation results.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as a practical budgeting exercise. The exact price should be checked on the provider's official pricing page.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to tie model choice to evaluation. The checklist doubles as a trainer talking aid.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slide. Pause and position the next section: FAISS: an in-memory vector index.</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bridge to Vector DB Landscape. FAISS is perfect for understanding index mechanics, not full production management.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N = number of documents, d = embedding dimensions. IDs must be mapped back to rows in a dataframe or document store.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a bridge to the notebook. Keep it conceptual: show what each line means rather than debugging syntax.</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prepares for RAG evaluation. Avoid overdoing metrics; precision@k is enough for this first session.</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concrete examples from the support dataset in the practical notebook.</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the narrative arc. Make clear why this session is foundational for upcoming work.</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Recap. Connect to practical notebook and exercises.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the case light. It is an anchor, not a deep case study. The goal is to show that embeddings are used beyond classroom demos.</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 slide for trainer and learners. Update URLs if the provider pages change.</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 slide required by the BIA design spec.</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523842" y="904536"/>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148840"/>
            <a:ext cx="12192000" cy="1508760"/>
          </a:xfrm>
          <a:prstGeom prst="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2359152"/>
            <a:ext cx="10424160" cy="594360"/>
          </a:xfrm>
          <a:prstGeom prst="rect">
            <a:avLst/>
          </a:prstGeom>
          <a:noFill/>
        </p:spPr>
        <p:txBody>
          <a:bodyPr wrap="square" lIns="0" tIns="0" rIns="0" bIns="0" anchor="t">
            <a:noAutofit/>
          </a:bodyPr>
          <a:lstStyle/>
          <a:p>
            <a:pPr algn="ctr"/>
            <a:r>
              <a:rPr sz="4000" b="1" i="0">
                <a:solidFill>
                  <a:srgbClr val="FFFFFF"/>
                </a:solidFill>
                <a:latin typeface="Calibri"/>
              </a:rPr>
              <a:t>Vector Search 101</a:t>
            </a:r>
          </a:p>
        </p:txBody>
      </p:sp>
      <p:sp>
        <p:nvSpPr>
          <p:cNvPr id="5" name="TextBox 4"/>
          <p:cNvSpPr txBox="1"/>
          <p:nvPr/>
        </p:nvSpPr>
        <p:spPr>
          <a:xfrm>
            <a:off x="868680" y="2999232"/>
            <a:ext cx="10424160" cy="292608"/>
          </a:xfrm>
          <a:prstGeom prst="rect">
            <a:avLst/>
          </a:prstGeom>
          <a:noFill/>
        </p:spPr>
        <p:txBody>
          <a:bodyPr wrap="square" lIns="0" tIns="0" rIns="0" bIns="0" anchor="t">
            <a:noAutofit/>
          </a:bodyPr>
          <a:lstStyle/>
          <a:p>
            <a:pPr algn="ctr"/>
            <a:r>
              <a:rPr sz="2000" b="0" i="0">
                <a:solidFill>
                  <a:srgbClr val="D6E4F0"/>
                </a:solidFill>
                <a:latin typeface="Calibri"/>
              </a:rPr>
              <a:t>Retrieval-Augmented Generation &amp; Multimodal Systems</a:t>
            </a:r>
          </a:p>
        </p:txBody>
      </p:sp>
      <p:sp>
        <p:nvSpPr>
          <p:cNvPr id="6" name="TextBox 5"/>
          <p:cNvSpPr txBox="1"/>
          <p:nvPr/>
        </p:nvSpPr>
        <p:spPr>
          <a:xfrm>
            <a:off x="1437198" y="3886200"/>
            <a:ext cx="9326880" cy="475488"/>
          </a:xfrm>
          <a:prstGeom prst="rect">
            <a:avLst/>
          </a:prstGeom>
          <a:noFill/>
        </p:spPr>
        <p:txBody>
          <a:bodyPr wrap="square" lIns="0" tIns="0" rIns="0" bIns="0" anchor="t">
            <a:noAutofit/>
          </a:bodyPr>
          <a:lstStyle/>
          <a:p>
            <a:pPr algn="ctr"/>
            <a:r>
              <a:rPr sz="2200" b="1" i="0" dirty="0">
                <a:solidFill>
                  <a:srgbClr val="161A3E"/>
                </a:solidFill>
                <a:latin typeface="Calibri"/>
              </a:rPr>
              <a:t>Turning text into searchable meaning — the foundation for vector databases and RAG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a:solidFill>
                  <a:srgbClr val="161A3E"/>
                </a:solidFill>
                <a:latin typeface="Calibri"/>
              </a:rPr>
              <a:t>Agenda</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14400" y="1783080"/>
            <a:ext cx="438912" cy="438912"/>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83664"/>
            <a:ext cx="438912" cy="201168"/>
          </a:xfrm>
          <a:prstGeom prst="rect">
            <a:avLst/>
          </a:prstGeom>
          <a:noFill/>
        </p:spPr>
        <p:txBody>
          <a:bodyPr wrap="square" lIns="0" tIns="0" rIns="0" bIns="0" anchor="t">
            <a:noAutofit/>
          </a:bodyPr>
          <a:lstStyle/>
          <a:p>
            <a:pPr algn="ctr"/>
            <a:r>
              <a:rPr sz="1200" b="1" i="0">
                <a:solidFill>
                  <a:srgbClr val="FFFFFF"/>
                </a:solidFill>
                <a:latin typeface="Calibri"/>
              </a:rPr>
              <a:t>01</a:t>
            </a:r>
          </a:p>
        </p:txBody>
      </p:sp>
      <p:sp>
        <p:nvSpPr>
          <p:cNvPr id="6" name="TextBox 5"/>
          <p:cNvSpPr txBox="1"/>
          <p:nvPr/>
        </p:nvSpPr>
        <p:spPr>
          <a:xfrm>
            <a:off x="1508760" y="1828800"/>
            <a:ext cx="9326880" cy="329184"/>
          </a:xfrm>
          <a:prstGeom prst="rect">
            <a:avLst/>
          </a:prstGeom>
          <a:noFill/>
        </p:spPr>
        <p:txBody>
          <a:bodyPr wrap="square" lIns="0" tIns="0" rIns="0" bIns="0" anchor="t">
            <a:noAutofit/>
          </a:bodyPr>
          <a:lstStyle/>
          <a:p>
            <a:pPr algn="l"/>
            <a:r>
              <a:rPr sz="2000" b="0" i="0">
                <a:solidFill>
                  <a:srgbClr val="161A3E"/>
                </a:solidFill>
                <a:latin typeface="Calibri"/>
              </a:rPr>
              <a:t>Why keyword search is not enough</a:t>
            </a:r>
          </a:p>
        </p:txBody>
      </p:sp>
      <p:sp>
        <p:nvSpPr>
          <p:cNvPr id="7" name="Oval 6"/>
          <p:cNvSpPr/>
          <p:nvPr/>
        </p:nvSpPr>
        <p:spPr>
          <a:xfrm>
            <a:off x="914400" y="2350008"/>
            <a:ext cx="438912" cy="438912"/>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450591"/>
            <a:ext cx="438912" cy="201168"/>
          </a:xfrm>
          <a:prstGeom prst="rect">
            <a:avLst/>
          </a:prstGeom>
          <a:noFill/>
        </p:spPr>
        <p:txBody>
          <a:bodyPr wrap="square" lIns="0" tIns="0" rIns="0" bIns="0" anchor="t">
            <a:noAutofit/>
          </a:bodyPr>
          <a:lstStyle/>
          <a:p>
            <a:pPr algn="ctr"/>
            <a:r>
              <a:rPr sz="1200" b="1" i="0">
                <a:solidFill>
                  <a:srgbClr val="FFFFFF"/>
                </a:solidFill>
                <a:latin typeface="Calibri"/>
              </a:rPr>
              <a:t>02</a:t>
            </a:r>
          </a:p>
        </p:txBody>
      </p:sp>
      <p:sp>
        <p:nvSpPr>
          <p:cNvPr id="9" name="TextBox 8"/>
          <p:cNvSpPr txBox="1"/>
          <p:nvPr/>
        </p:nvSpPr>
        <p:spPr>
          <a:xfrm>
            <a:off x="1508760" y="2395727"/>
            <a:ext cx="9326880" cy="329184"/>
          </a:xfrm>
          <a:prstGeom prst="rect">
            <a:avLst/>
          </a:prstGeom>
          <a:noFill/>
        </p:spPr>
        <p:txBody>
          <a:bodyPr wrap="square" lIns="0" tIns="0" rIns="0" bIns="0" anchor="t">
            <a:noAutofit/>
          </a:bodyPr>
          <a:lstStyle/>
          <a:p>
            <a:pPr algn="l"/>
            <a:r>
              <a:rPr sz="2000" b="1" i="0">
                <a:solidFill>
                  <a:srgbClr val="161A3E"/>
                </a:solidFill>
                <a:latin typeface="Calibri"/>
              </a:rPr>
              <a:t>Embeddings: semantic meaning as vectors</a:t>
            </a:r>
          </a:p>
        </p:txBody>
      </p:sp>
      <p:sp>
        <p:nvSpPr>
          <p:cNvPr id="10" name="Oval 9"/>
          <p:cNvSpPr/>
          <p:nvPr/>
        </p:nvSpPr>
        <p:spPr>
          <a:xfrm>
            <a:off x="914400" y="2916936"/>
            <a:ext cx="438912" cy="438912"/>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3017520"/>
            <a:ext cx="438912" cy="201168"/>
          </a:xfrm>
          <a:prstGeom prst="rect">
            <a:avLst/>
          </a:prstGeom>
          <a:noFill/>
        </p:spPr>
        <p:txBody>
          <a:bodyPr wrap="square" lIns="0" tIns="0" rIns="0" bIns="0" anchor="t">
            <a:noAutofit/>
          </a:bodyPr>
          <a:lstStyle/>
          <a:p>
            <a:pPr algn="ctr"/>
            <a:r>
              <a:rPr sz="1200" b="1" i="0">
                <a:solidFill>
                  <a:srgbClr val="FFFFFF"/>
                </a:solidFill>
                <a:latin typeface="Calibri"/>
              </a:rPr>
              <a:t>03</a:t>
            </a:r>
          </a:p>
        </p:txBody>
      </p:sp>
      <p:sp>
        <p:nvSpPr>
          <p:cNvPr id="12" name="TextBox 11"/>
          <p:cNvSpPr txBox="1"/>
          <p:nvPr/>
        </p:nvSpPr>
        <p:spPr>
          <a:xfrm>
            <a:off x="1508760" y="2962656"/>
            <a:ext cx="9326880" cy="329184"/>
          </a:xfrm>
          <a:prstGeom prst="rect">
            <a:avLst/>
          </a:prstGeom>
          <a:noFill/>
        </p:spPr>
        <p:txBody>
          <a:bodyPr wrap="square" lIns="0" tIns="0" rIns="0" bIns="0" anchor="t">
            <a:noAutofit/>
          </a:bodyPr>
          <a:lstStyle/>
          <a:p>
            <a:pPr algn="l"/>
            <a:r>
              <a:rPr sz="2000" b="0" i="0">
                <a:solidFill>
                  <a:srgbClr val="161A3E"/>
                </a:solidFill>
                <a:latin typeface="Calibri"/>
              </a:rPr>
              <a:t>Similarity metrics: cosine, dot product, Euclidean</a:t>
            </a:r>
          </a:p>
        </p:txBody>
      </p:sp>
      <p:sp>
        <p:nvSpPr>
          <p:cNvPr id="13" name="Oval 12"/>
          <p:cNvSpPr/>
          <p:nvPr/>
        </p:nvSpPr>
        <p:spPr>
          <a:xfrm>
            <a:off x="914400" y="3483864"/>
            <a:ext cx="438912" cy="438912"/>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3584448"/>
            <a:ext cx="438912" cy="201168"/>
          </a:xfrm>
          <a:prstGeom prst="rect">
            <a:avLst/>
          </a:prstGeom>
          <a:noFill/>
        </p:spPr>
        <p:txBody>
          <a:bodyPr wrap="square" lIns="0" tIns="0" rIns="0" bIns="0" anchor="t">
            <a:noAutofit/>
          </a:bodyPr>
          <a:lstStyle/>
          <a:p>
            <a:pPr algn="ctr"/>
            <a:r>
              <a:rPr sz="1200" b="1" i="0">
                <a:solidFill>
                  <a:srgbClr val="FFFFFF"/>
                </a:solidFill>
                <a:latin typeface="Calibri"/>
              </a:rPr>
              <a:t>04</a:t>
            </a:r>
          </a:p>
        </p:txBody>
      </p:sp>
      <p:sp>
        <p:nvSpPr>
          <p:cNvPr id="15" name="TextBox 14"/>
          <p:cNvSpPr txBox="1"/>
          <p:nvPr/>
        </p:nvSpPr>
        <p:spPr>
          <a:xfrm>
            <a:off x="1508760" y="3529584"/>
            <a:ext cx="9326880" cy="329184"/>
          </a:xfrm>
          <a:prstGeom prst="rect">
            <a:avLst/>
          </a:prstGeom>
          <a:noFill/>
        </p:spPr>
        <p:txBody>
          <a:bodyPr wrap="square" lIns="0" tIns="0" rIns="0" bIns="0" anchor="t">
            <a:noAutofit/>
          </a:bodyPr>
          <a:lstStyle/>
          <a:p>
            <a:pPr algn="l"/>
            <a:r>
              <a:rPr sz="2000" b="0" i="0">
                <a:solidFill>
                  <a:srgbClr val="161A3E"/>
                </a:solidFill>
                <a:latin typeface="Calibri"/>
              </a:rPr>
              <a:t>Dense vs sparse retrieval — and when each wins</a:t>
            </a:r>
          </a:p>
        </p:txBody>
      </p:sp>
      <p:sp>
        <p:nvSpPr>
          <p:cNvPr id="16" name="Oval 15"/>
          <p:cNvSpPr/>
          <p:nvPr/>
        </p:nvSpPr>
        <p:spPr>
          <a:xfrm>
            <a:off x="914400" y="4050791"/>
            <a:ext cx="438912" cy="438912"/>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4151376"/>
            <a:ext cx="438912" cy="201168"/>
          </a:xfrm>
          <a:prstGeom prst="rect">
            <a:avLst/>
          </a:prstGeom>
          <a:noFill/>
        </p:spPr>
        <p:txBody>
          <a:bodyPr wrap="square" lIns="0" tIns="0" rIns="0" bIns="0" anchor="t">
            <a:noAutofit/>
          </a:bodyPr>
          <a:lstStyle/>
          <a:p>
            <a:pPr algn="ctr"/>
            <a:r>
              <a:rPr sz="1200" b="1" i="0">
                <a:solidFill>
                  <a:srgbClr val="FFFFFF"/>
                </a:solidFill>
                <a:latin typeface="Calibri"/>
              </a:rPr>
              <a:t>05</a:t>
            </a:r>
          </a:p>
        </p:txBody>
      </p:sp>
      <p:sp>
        <p:nvSpPr>
          <p:cNvPr id="18" name="TextBox 17"/>
          <p:cNvSpPr txBox="1"/>
          <p:nvPr/>
        </p:nvSpPr>
        <p:spPr>
          <a:xfrm>
            <a:off x="1508760" y="4096511"/>
            <a:ext cx="9326880" cy="329184"/>
          </a:xfrm>
          <a:prstGeom prst="rect">
            <a:avLst/>
          </a:prstGeom>
          <a:noFill/>
        </p:spPr>
        <p:txBody>
          <a:bodyPr wrap="square" lIns="0" tIns="0" rIns="0" bIns="0" anchor="t">
            <a:noAutofit/>
          </a:bodyPr>
          <a:lstStyle/>
          <a:p>
            <a:pPr algn="l"/>
            <a:r>
              <a:rPr sz="2000" b="0" i="0">
                <a:solidFill>
                  <a:srgbClr val="161A3E"/>
                </a:solidFill>
                <a:latin typeface="Calibri"/>
              </a:rPr>
              <a:t>Embedding model choices and cost reasoning</a:t>
            </a:r>
          </a:p>
        </p:txBody>
      </p:sp>
      <p:sp>
        <p:nvSpPr>
          <p:cNvPr id="19" name="Oval 18"/>
          <p:cNvSpPr/>
          <p:nvPr/>
        </p:nvSpPr>
        <p:spPr>
          <a:xfrm>
            <a:off x="914400" y="4617720"/>
            <a:ext cx="438912" cy="438912"/>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4718304"/>
            <a:ext cx="438912" cy="201168"/>
          </a:xfrm>
          <a:prstGeom prst="rect">
            <a:avLst/>
          </a:prstGeom>
          <a:noFill/>
        </p:spPr>
        <p:txBody>
          <a:bodyPr wrap="square" lIns="0" tIns="0" rIns="0" bIns="0" anchor="t">
            <a:noAutofit/>
          </a:bodyPr>
          <a:lstStyle/>
          <a:p>
            <a:pPr algn="ctr"/>
            <a:r>
              <a:rPr sz="1200" b="1" i="0">
                <a:solidFill>
                  <a:srgbClr val="FFFFFF"/>
                </a:solidFill>
                <a:latin typeface="Calibri"/>
              </a:rPr>
              <a:t>06</a:t>
            </a:r>
          </a:p>
        </p:txBody>
      </p:sp>
      <p:sp>
        <p:nvSpPr>
          <p:cNvPr id="21" name="TextBox 20"/>
          <p:cNvSpPr txBox="1"/>
          <p:nvPr/>
        </p:nvSpPr>
        <p:spPr>
          <a:xfrm>
            <a:off x="1508760" y="4663440"/>
            <a:ext cx="9326880" cy="329184"/>
          </a:xfrm>
          <a:prstGeom prst="rect">
            <a:avLst/>
          </a:prstGeom>
          <a:noFill/>
        </p:spPr>
        <p:txBody>
          <a:bodyPr wrap="square" lIns="0" tIns="0" rIns="0" bIns="0" anchor="t">
            <a:noAutofit/>
          </a:bodyPr>
          <a:lstStyle/>
          <a:p>
            <a:pPr algn="l"/>
            <a:r>
              <a:rPr sz="2000" b="1" i="0">
                <a:solidFill>
                  <a:srgbClr val="161A3E"/>
                </a:solidFill>
                <a:latin typeface="Calibri"/>
              </a:rPr>
              <a:t>FAISS: building an in-memory vector index</a:t>
            </a:r>
          </a:p>
        </p:txBody>
      </p:sp>
      <p:sp>
        <p:nvSpPr>
          <p:cNvPr id="22" name="Oval 21"/>
          <p:cNvSpPr/>
          <p:nvPr/>
        </p:nvSpPr>
        <p:spPr>
          <a:xfrm>
            <a:off x="914400" y="5184648"/>
            <a:ext cx="438912" cy="438912"/>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5285232"/>
            <a:ext cx="438912" cy="201168"/>
          </a:xfrm>
          <a:prstGeom prst="rect">
            <a:avLst/>
          </a:prstGeom>
          <a:noFill/>
        </p:spPr>
        <p:txBody>
          <a:bodyPr wrap="square" lIns="0" tIns="0" rIns="0" bIns="0" anchor="t">
            <a:noAutofit/>
          </a:bodyPr>
          <a:lstStyle/>
          <a:p>
            <a:pPr algn="ctr"/>
            <a:r>
              <a:rPr sz="1200" b="1" i="0">
                <a:solidFill>
                  <a:srgbClr val="FFFFFF"/>
                </a:solidFill>
                <a:latin typeface="Calibri"/>
              </a:rPr>
              <a:t>07</a:t>
            </a:r>
          </a:p>
        </p:txBody>
      </p:sp>
      <p:sp>
        <p:nvSpPr>
          <p:cNvPr id="24" name="TextBox 23"/>
          <p:cNvSpPr txBox="1"/>
          <p:nvPr/>
        </p:nvSpPr>
        <p:spPr>
          <a:xfrm>
            <a:off x="1508760" y="5230368"/>
            <a:ext cx="9326880" cy="329184"/>
          </a:xfrm>
          <a:prstGeom prst="rect">
            <a:avLst/>
          </a:prstGeom>
          <a:noFill/>
        </p:spPr>
        <p:txBody>
          <a:bodyPr wrap="square" lIns="0" tIns="0" rIns="0" bIns="0" anchor="t">
            <a:noAutofit/>
          </a:bodyPr>
          <a:lstStyle/>
          <a:p>
            <a:pPr algn="l"/>
            <a:r>
              <a:rPr sz="2000" b="0" i="0">
                <a:solidFill>
                  <a:srgbClr val="161A3E"/>
                </a:solidFill>
                <a:latin typeface="Calibri"/>
              </a:rPr>
              <a:t>Retrieval quality: precision@k and failure modes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dirty="0">
                <a:solidFill>
                  <a:srgbClr val="161A3E"/>
                </a:solidFill>
                <a:latin typeface="Calibri"/>
              </a:rPr>
              <a:t>Where vector search fits in the RAG journey</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 name="Connector 3"/>
          <p:cNvCxnSpPr>
            <a:cxnSpLocks/>
            <a:stCxn id="8" idx="3"/>
            <a:endCxn id="11" idx="1"/>
          </p:cNvCxnSpPr>
          <p:nvPr/>
        </p:nvCxnSpPr>
        <p:spPr>
          <a:xfrm>
            <a:off x="2578608" y="2831456"/>
            <a:ext cx="685800" cy="0"/>
          </a:xfrm>
          <a:prstGeom prst="line">
            <a:avLst/>
          </a:prstGeom>
          <a:ln w="25400">
            <a:solidFill>
              <a:srgbClr val="5B9BD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a:cxnSpLocks/>
            <a:stCxn id="11" idx="3"/>
            <a:endCxn id="14" idx="1"/>
          </p:cNvCxnSpPr>
          <p:nvPr/>
        </p:nvCxnSpPr>
        <p:spPr>
          <a:xfrm>
            <a:off x="4681728" y="2831456"/>
            <a:ext cx="685800" cy="0"/>
          </a:xfrm>
          <a:prstGeom prst="line">
            <a:avLst/>
          </a:prstGeom>
          <a:ln w="25400">
            <a:solidFill>
              <a:srgbClr val="5B9BD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a:cxnSpLocks/>
            <a:stCxn id="14" idx="3"/>
            <a:endCxn id="17" idx="1"/>
          </p:cNvCxnSpPr>
          <p:nvPr/>
        </p:nvCxnSpPr>
        <p:spPr>
          <a:xfrm>
            <a:off x="6784848" y="2831456"/>
            <a:ext cx="685800" cy="0"/>
          </a:xfrm>
          <a:prstGeom prst="line">
            <a:avLst/>
          </a:prstGeom>
          <a:ln w="25400">
            <a:solidFill>
              <a:srgbClr val="5B9BD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a:cxnSpLocks/>
            <a:stCxn id="17" idx="3"/>
            <a:endCxn id="20" idx="1"/>
          </p:cNvCxnSpPr>
          <p:nvPr/>
        </p:nvCxnSpPr>
        <p:spPr>
          <a:xfrm>
            <a:off x="8887968" y="2831456"/>
            <a:ext cx="685800" cy="0"/>
          </a:xfrm>
          <a:prstGeom prst="line">
            <a:avLst/>
          </a:prstGeom>
          <a:ln w="25400">
            <a:solidFill>
              <a:srgbClr val="5B9BD5"/>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1161288" y="2282816"/>
            <a:ext cx="1417320" cy="1097280"/>
          </a:xfrm>
          <a:prstGeom prst="roundRect">
            <a:avLst/>
          </a:prstGeom>
          <a:solidFill>
            <a:srgbClr val="D6E4F0"/>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25296" y="2419976"/>
            <a:ext cx="1289304" cy="237744"/>
          </a:xfrm>
          <a:prstGeom prst="rect">
            <a:avLst/>
          </a:prstGeom>
          <a:noFill/>
        </p:spPr>
        <p:txBody>
          <a:bodyPr wrap="square" lIns="0" tIns="0" rIns="0" bIns="0" anchor="t">
            <a:noAutofit/>
          </a:bodyPr>
          <a:lstStyle/>
          <a:p>
            <a:pPr algn="ctr"/>
            <a:r>
              <a:rPr sz="1400" b="1" i="0">
                <a:solidFill>
                  <a:srgbClr val="161A3E"/>
                </a:solidFill>
                <a:latin typeface="Calibri"/>
              </a:rPr>
              <a:t>Raw text</a:t>
            </a:r>
          </a:p>
        </p:txBody>
      </p:sp>
      <p:sp>
        <p:nvSpPr>
          <p:cNvPr id="10" name="TextBox 9"/>
          <p:cNvSpPr txBox="1"/>
          <p:nvPr/>
        </p:nvSpPr>
        <p:spPr>
          <a:xfrm>
            <a:off x="1225296" y="2846960"/>
            <a:ext cx="1289304" cy="402336"/>
          </a:xfrm>
          <a:prstGeom prst="rect">
            <a:avLst/>
          </a:prstGeom>
          <a:noFill/>
        </p:spPr>
        <p:txBody>
          <a:bodyPr wrap="square" lIns="0" tIns="0" rIns="0" bIns="0" anchor="t">
            <a:noAutofit/>
          </a:bodyPr>
          <a:lstStyle/>
          <a:p>
            <a:pPr algn="ctr"/>
            <a:r>
              <a:rPr sz="1400" b="0" i="0" dirty="0">
                <a:solidFill>
                  <a:srgbClr val="161A3E"/>
                </a:solidFill>
                <a:latin typeface="Calibri"/>
              </a:rPr>
              <a:t>documents,</a:t>
            </a:r>
            <a:br>
              <a:rPr sz="2400" dirty="0"/>
            </a:br>
            <a:r>
              <a:rPr sz="1400" b="0" i="0" dirty="0">
                <a:solidFill>
                  <a:srgbClr val="161A3E"/>
                </a:solidFill>
                <a:latin typeface="Calibri"/>
              </a:rPr>
              <a:t>FAQs, tickets</a:t>
            </a:r>
          </a:p>
        </p:txBody>
      </p:sp>
      <p:sp>
        <p:nvSpPr>
          <p:cNvPr id="11" name="Rounded Rectangle 10"/>
          <p:cNvSpPr/>
          <p:nvPr/>
        </p:nvSpPr>
        <p:spPr>
          <a:xfrm>
            <a:off x="3264408" y="2282816"/>
            <a:ext cx="1417320" cy="1097280"/>
          </a:xfrm>
          <a:prstGeom prst="roundRect">
            <a:avLst/>
          </a:prstGeom>
          <a:solidFill>
            <a:srgbClr val="5B9BD5"/>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28416" y="2419976"/>
            <a:ext cx="1289304" cy="237744"/>
          </a:xfrm>
          <a:prstGeom prst="rect">
            <a:avLst/>
          </a:prstGeom>
          <a:noFill/>
        </p:spPr>
        <p:txBody>
          <a:bodyPr wrap="square" lIns="0" tIns="0" rIns="0" bIns="0" anchor="t">
            <a:noAutofit/>
          </a:bodyPr>
          <a:lstStyle/>
          <a:p>
            <a:pPr algn="ctr"/>
            <a:r>
              <a:rPr sz="1400" b="1" i="0">
                <a:solidFill>
                  <a:srgbClr val="161A3E"/>
                </a:solidFill>
                <a:latin typeface="Calibri"/>
              </a:rPr>
              <a:t>Embeddings</a:t>
            </a:r>
          </a:p>
        </p:txBody>
      </p:sp>
      <p:sp>
        <p:nvSpPr>
          <p:cNvPr id="13" name="TextBox 12"/>
          <p:cNvSpPr txBox="1"/>
          <p:nvPr/>
        </p:nvSpPr>
        <p:spPr>
          <a:xfrm>
            <a:off x="3328416" y="2846960"/>
            <a:ext cx="1289304" cy="402336"/>
          </a:xfrm>
          <a:prstGeom prst="rect">
            <a:avLst/>
          </a:prstGeom>
          <a:noFill/>
        </p:spPr>
        <p:txBody>
          <a:bodyPr wrap="square" lIns="0" tIns="0" rIns="0" bIns="0" anchor="t">
            <a:noAutofit/>
          </a:bodyPr>
          <a:lstStyle/>
          <a:p>
            <a:pPr algn="ctr"/>
            <a:r>
              <a:rPr sz="1400" b="0" i="0">
                <a:solidFill>
                  <a:srgbClr val="161A3E"/>
                </a:solidFill>
                <a:latin typeface="Calibri"/>
              </a:rPr>
              <a:t>meaning as</a:t>
            </a:r>
            <a:br>
              <a:rPr sz="2400"/>
            </a:br>
            <a:r>
              <a:rPr sz="1400" b="0" i="0">
                <a:solidFill>
                  <a:srgbClr val="161A3E"/>
                </a:solidFill>
                <a:latin typeface="Calibri"/>
              </a:rPr>
              <a:t>numbers</a:t>
            </a:r>
          </a:p>
        </p:txBody>
      </p:sp>
      <p:sp>
        <p:nvSpPr>
          <p:cNvPr id="14" name="Rounded Rectangle 13"/>
          <p:cNvSpPr/>
          <p:nvPr/>
        </p:nvSpPr>
        <p:spPr>
          <a:xfrm>
            <a:off x="5367528" y="2282816"/>
            <a:ext cx="1417320" cy="1097280"/>
          </a:xfrm>
          <a:prstGeom prst="roundRect">
            <a:avLst/>
          </a:prstGeom>
          <a:solidFill>
            <a:srgbClr val="4472C4"/>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31536" y="2419976"/>
            <a:ext cx="1289304" cy="237744"/>
          </a:xfrm>
          <a:prstGeom prst="rect">
            <a:avLst/>
          </a:prstGeom>
          <a:noFill/>
        </p:spPr>
        <p:txBody>
          <a:bodyPr wrap="square" lIns="0" tIns="0" rIns="0" bIns="0" anchor="t">
            <a:noAutofit/>
          </a:bodyPr>
          <a:lstStyle/>
          <a:p>
            <a:pPr algn="ctr"/>
            <a:r>
              <a:rPr sz="1400" b="1" i="0">
                <a:solidFill>
                  <a:srgbClr val="FFFFFF"/>
                </a:solidFill>
                <a:latin typeface="Calibri"/>
              </a:rPr>
              <a:t>Vector search</a:t>
            </a:r>
          </a:p>
        </p:txBody>
      </p:sp>
      <p:sp>
        <p:nvSpPr>
          <p:cNvPr id="16" name="TextBox 15"/>
          <p:cNvSpPr txBox="1"/>
          <p:nvPr/>
        </p:nvSpPr>
        <p:spPr>
          <a:xfrm>
            <a:off x="5431536" y="2846960"/>
            <a:ext cx="1289304" cy="402336"/>
          </a:xfrm>
          <a:prstGeom prst="rect">
            <a:avLst/>
          </a:prstGeom>
          <a:noFill/>
        </p:spPr>
        <p:txBody>
          <a:bodyPr wrap="square" lIns="0" tIns="0" rIns="0" bIns="0" anchor="t">
            <a:noAutofit/>
          </a:bodyPr>
          <a:lstStyle/>
          <a:p>
            <a:pPr algn="ctr"/>
            <a:r>
              <a:rPr sz="1400" b="0" i="0">
                <a:solidFill>
                  <a:srgbClr val="FFFFFF"/>
                </a:solidFill>
                <a:latin typeface="Calibri"/>
              </a:rPr>
              <a:t>find nearest</a:t>
            </a:r>
            <a:br>
              <a:rPr sz="2400"/>
            </a:br>
            <a:r>
              <a:rPr sz="1400" b="0" i="0">
                <a:solidFill>
                  <a:srgbClr val="FFFFFF"/>
                </a:solidFill>
                <a:latin typeface="Calibri"/>
              </a:rPr>
              <a:t>chunks</a:t>
            </a:r>
          </a:p>
        </p:txBody>
      </p:sp>
      <p:sp>
        <p:nvSpPr>
          <p:cNvPr id="17" name="Rounded Rectangle 16"/>
          <p:cNvSpPr/>
          <p:nvPr/>
        </p:nvSpPr>
        <p:spPr>
          <a:xfrm>
            <a:off x="7470648" y="2282816"/>
            <a:ext cx="1417320" cy="1097280"/>
          </a:xfrm>
          <a:prstGeom prst="roundRect">
            <a:avLst/>
          </a:prstGeom>
          <a:solidFill>
            <a:srgbClr val="5B9BD5"/>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34656" y="2419976"/>
            <a:ext cx="1289304" cy="237744"/>
          </a:xfrm>
          <a:prstGeom prst="rect">
            <a:avLst/>
          </a:prstGeom>
          <a:noFill/>
        </p:spPr>
        <p:txBody>
          <a:bodyPr wrap="square" lIns="0" tIns="0" rIns="0" bIns="0" anchor="t">
            <a:noAutofit/>
          </a:bodyPr>
          <a:lstStyle/>
          <a:p>
            <a:pPr algn="ctr"/>
            <a:r>
              <a:rPr sz="1400" b="1" i="0">
                <a:solidFill>
                  <a:srgbClr val="161A3E"/>
                </a:solidFill>
                <a:latin typeface="Calibri"/>
              </a:rPr>
              <a:t>Retrieved context</a:t>
            </a:r>
          </a:p>
        </p:txBody>
      </p:sp>
      <p:sp>
        <p:nvSpPr>
          <p:cNvPr id="19" name="TextBox 18"/>
          <p:cNvSpPr txBox="1"/>
          <p:nvPr/>
        </p:nvSpPr>
        <p:spPr>
          <a:xfrm>
            <a:off x="7534656" y="2846960"/>
            <a:ext cx="1289304" cy="402336"/>
          </a:xfrm>
          <a:prstGeom prst="rect">
            <a:avLst/>
          </a:prstGeom>
          <a:noFill/>
        </p:spPr>
        <p:txBody>
          <a:bodyPr wrap="square" lIns="0" tIns="0" rIns="0" bIns="0" anchor="t">
            <a:noAutofit/>
          </a:bodyPr>
          <a:lstStyle/>
          <a:p>
            <a:pPr algn="ctr"/>
            <a:r>
              <a:rPr sz="1400" b="0" i="0">
                <a:solidFill>
                  <a:srgbClr val="161A3E"/>
                </a:solidFill>
                <a:latin typeface="Calibri"/>
              </a:rPr>
              <a:t>top-k evidence</a:t>
            </a:r>
            <a:br>
              <a:rPr sz="2400"/>
            </a:br>
            <a:r>
              <a:rPr sz="1400" b="0" i="0">
                <a:solidFill>
                  <a:srgbClr val="161A3E"/>
                </a:solidFill>
                <a:latin typeface="Calibri"/>
              </a:rPr>
              <a:t>for the query</a:t>
            </a:r>
          </a:p>
        </p:txBody>
      </p:sp>
      <p:sp>
        <p:nvSpPr>
          <p:cNvPr id="20" name="Rounded Rectangle 19"/>
          <p:cNvSpPr/>
          <p:nvPr/>
        </p:nvSpPr>
        <p:spPr>
          <a:xfrm>
            <a:off x="9573768" y="2282816"/>
            <a:ext cx="1417320" cy="1097280"/>
          </a:xfrm>
          <a:prstGeom prst="roundRect">
            <a:avLst/>
          </a:prstGeom>
          <a:solidFill>
            <a:srgbClr val="161A3E"/>
          </a:solidFill>
          <a:ln w="12700">
            <a:solidFill>
              <a:srgbClr val="161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37776" y="2419976"/>
            <a:ext cx="1289304" cy="237744"/>
          </a:xfrm>
          <a:prstGeom prst="rect">
            <a:avLst/>
          </a:prstGeom>
          <a:noFill/>
        </p:spPr>
        <p:txBody>
          <a:bodyPr wrap="square" lIns="0" tIns="0" rIns="0" bIns="0" anchor="t">
            <a:noAutofit/>
          </a:bodyPr>
          <a:lstStyle/>
          <a:p>
            <a:pPr algn="ctr"/>
            <a:r>
              <a:rPr sz="1400" b="1" i="0">
                <a:solidFill>
                  <a:srgbClr val="FFFFFF"/>
                </a:solidFill>
                <a:latin typeface="Calibri"/>
              </a:rPr>
              <a:t>LLM answer</a:t>
            </a:r>
          </a:p>
        </p:txBody>
      </p:sp>
      <p:sp>
        <p:nvSpPr>
          <p:cNvPr id="22" name="TextBox 21"/>
          <p:cNvSpPr txBox="1"/>
          <p:nvPr/>
        </p:nvSpPr>
        <p:spPr>
          <a:xfrm>
            <a:off x="9637776" y="2846960"/>
            <a:ext cx="1289304" cy="402336"/>
          </a:xfrm>
          <a:prstGeom prst="rect">
            <a:avLst/>
          </a:prstGeom>
          <a:noFill/>
        </p:spPr>
        <p:txBody>
          <a:bodyPr wrap="square" lIns="0" tIns="0" rIns="0" bIns="0" anchor="t">
            <a:noAutofit/>
          </a:bodyPr>
          <a:lstStyle/>
          <a:p>
            <a:pPr algn="ctr"/>
            <a:r>
              <a:rPr sz="1400" b="0" i="0">
                <a:solidFill>
                  <a:srgbClr val="FFFFFF"/>
                </a:solidFill>
                <a:latin typeface="Calibri"/>
              </a:rPr>
              <a:t>grounded</a:t>
            </a:r>
            <a:br>
              <a:rPr sz="2400"/>
            </a:br>
            <a:r>
              <a:rPr sz="1400" b="0" i="0">
                <a:solidFill>
                  <a:srgbClr val="FFFFFF"/>
                </a:solidFill>
                <a:latin typeface="Calibri"/>
              </a:rPr>
              <a:t>response</a:t>
            </a:r>
          </a:p>
        </p:txBody>
      </p:sp>
      <p:sp>
        <p:nvSpPr>
          <p:cNvPr id="23" name="Rounded Rectangle 22"/>
          <p:cNvSpPr/>
          <p:nvPr/>
        </p:nvSpPr>
        <p:spPr>
          <a:xfrm>
            <a:off x="1051560" y="3809864"/>
            <a:ext cx="10058400" cy="1173615"/>
          </a:xfrm>
          <a:prstGeom prst="roundRect">
            <a:avLst/>
          </a:prstGeom>
          <a:solidFill>
            <a:srgbClr val="FFFFFF"/>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61288" y="3898527"/>
            <a:ext cx="9838944" cy="292608"/>
          </a:xfrm>
          <a:prstGeom prst="rect">
            <a:avLst/>
          </a:prstGeom>
          <a:noFill/>
        </p:spPr>
        <p:txBody>
          <a:bodyPr wrap="square" lIns="18288" tIns="18288" rIns="18288" bIns="18288" anchor="t">
            <a:noAutofit/>
          </a:bodyPr>
          <a:lstStyle/>
          <a:p>
            <a:pPr algn="l"/>
            <a:r>
              <a:rPr sz="1800" b="1" i="0">
                <a:solidFill>
                  <a:srgbClr val="161A3E"/>
                </a:solidFill>
                <a:latin typeface="Calibri"/>
              </a:rPr>
              <a:t>Today’s boundary</a:t>
            </a:r>
          </a:p>
        </p:txBody>
      </p:sp>
      <p:sp>
        <p:nvSpPr>
          <p:cNvPr id="25" name="TextBox 24"/>
          <p:cNvSpPr txBox="1"/>
          <p:nvPr/>
        </p:nvSpPr>
        <p:spPr>
          <a:xfrm>
            <a:off x="1161288" y="4279798"/>
            <a:ext cx="9838944" cy="630530"/>
          </a:xfrm>
          <a:prstGeom prst="rect">
            <a:avLst/>
          </a:prstGeom>
          <a:noFill/>
        </p:spPr>
        <p:txBody>
          <a:bodyPr wrap="square" lIns="18288" tIns="18288" rIns="18288" bIns="18288" anchor="t">
            <a:noAutofit/>
          </a:bodyPr>
          <a:lstStyle/>
          <a:p>
            <a:pPr algn="l"/>
            <a:r>
              <a:rPr sz="1600" b="0" i="0" dirty="0">
                <a:solidFill>
                  <a:srgbClr val="44546A"/>
                </a:solidFill>
                <a:latin typeface="Calibri"/>
              </a:rPr>
              <a:t>We focus on the middle of the pipeline: how text becomes vectors, how similarity is computed, and how FAISS retrieves the nearest items. The full RAG chain comes later.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dirty="0">
                <a:solidFill>
                  <a:srgbClr val="161A3E"/>
                </a:solidFill>
                <a:latin typeface="Calibri"/>
              </a:rPr>
              <a:t>The search problem: </a:t>
            </a:r>
            <a:r>
              <a:rPr sz="2400" b="1" i="0" dirty="0">
                <a:solidFill>
                  <a:srgbClr val="161A3E"/>
                </a:solidFill>
                <a:latin typeface="Calibri"/>
              </a:rPr>
              <a:t>words can differ while meaning stays the same</a:t>
            </a:r>
            <a:endParaRPr sz="3200" b="1" i="0" dirty="0">
              <a:solidFill>
                <a:srgbClr val="161A3E"/>
              </a:solidFill>
              <a:latin typeface="Calibri"/>
            </a:endParaRP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783080"/>
            <a:ext cx="4846320" cy="292608"/>
          </a:xfrm>
          <a:prstGeom prst="rect">
            <a:avLst/>
          </a:prstGeom>
          <a:noFill/>
        </p:spPr>
        <p:txBody>
          <a:bodyPr wrap="square" lIns="0" tIns="0" rIns="0" bIns="0" anchor="t">
            <a:noAutofit/>
          </a:bodyPr>
          <a:lstStyle/>
          <a:p>
            <a:pPr algn="ctr"/>
            <a:r>
              <a:rPr sz="1800" b="1" i="0" dirty="0">
                <a:solidFill>
                  <a:srgbClr val="4472C4"/>
                </a:solidFill>
                <a:latin typeface="Calibri"/>
              </a:rPr>
              <a:t>User query</a:t>
            </a:r>
          </a:p>
        </p:txBody>
      </p:sp>
      <p:sp>
        <p:nvSpPr>
          <p:cNvPr id="5" name="TextBox 4"/>
          <p:cNvSpPr txBox="1"/>
          <p:nvPr/>
        </p:nvSpPr>
        <p:spPr>
          <a:xfrm>
            <a:off x="6492240" y="1783080"/>
            <a:ext cx="4846320" cy="292608"/>
          </a:xfrm>
          <a:prstGeom prst="rect">
            <a:avLst/>
          </a:prstGeom>
          <a:noFill/>
        </p:spPr>
        <p:txBody>
          <a:bodyPr wrap="square" lIns="0" tIns="0" rIns="0" bIns="0" anchor="t">
            <a:noAutofit/>
          </a:bodyPr>
          <a:lstStyle/>
          <a:p>
            <a:pPr algn="ctr"/>
            <a:r>
              <a:rPr sz="1800" b="1" i="0" dirty="0">
                <a:solidFill>
                  <a:srgbClr val="4472C4"/>
                </a:solidFill>
                <a:latin typeface="Calibri"/>
              </a:rPr>
              <a:t>Knowledge-base article</a:t>
            </a:r>
          </a:p>
        </p:txBody>
      </p:sp>
      <p:sp>
        <p:nvSpPr>
          <p:cNvPr id="6" name="Rounded Rectangle 5"/>
          <p:cNvSpPr/>
          <p:nvPr/>
        </p:nvSpPr>
        <p:spPr>
          <a:xfrm>
            <a:off x="868680" y="2240280"/>
            <a:ext cx="4846320" cy="1188720"/>
          </a:xfrm>
          <a:prstGeom prst="roundRect">
            <a:avLst/>
          </a:prstGeom>
          <a:solidFill>
            <a:srgbClr val="D6E4F0"/>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78407" y="2350008"/>
            <a:ext cx="4626864" cy="292608"/>
          </a:xfrm>
          <a:prstGeom prst="rect">
            <a:avLst/>
          </a:prstGeom>
          <a:noFill/>
        </p:spPr>
        <p:txBody>
          <a:bodyPr wrap="square" lIns="18288" tIns="18288" rIns="18288" bIns="18288" anchor="t">
            <a:noAutofit/>
          </a:bodyPr>
          <a:lstStyle/>
          <a:p>
            <a:pPr algn="l"/>
            <a:r>
              <a:rPr sz="1400" b="1" i="0" dirty="0">
                <a:solidFill>
                  <a:srgbClr val="161A3E"/>
                </a:solidFill>
                <a:latin typeface="Calibri"/>
              </a:rPr>
              <a:t>“I can’t log in — how do I get back into my account?”</a:t>
            </a:r>
          </a:p>
        </p:txBody>
      </p:sp>
      <p:sp>
        <p:nvSpPr>
          <p:cNvPr id="8" name="TextBox 7"/>
          <p:cNvSpPr txBox="1"/>
          <p:nvPr/>
        </p:nvSpPr>
        <p:spPr>
          <a:xfrm>
            <a:off x="978407" y="2752344"/>
            <a:ext cx="4626864" cy="557784"/>
          </a:xfrm>
          <a:prstGeom prst="rect">
            <a:avLst/>
          </a:prstGeom>
          <a:noFill/>
        </p:spPr>
        <p:txBody>
          <a:bodyPr wrap="square" lIns="18288" tIns="18288" rIns="18288" bIns="18288" anchor="t">
            <a:noAutofit/>
          </a:bodyPr>
          <a:lstStyle/>
          <a:p>
            <a:pPr algn="l"/>
            <a:r>
              <a:rPr sz="1500" b="0" i="0" dirty="0">
                <a:solidFill>
                  <a:srgbClr val="44546A"/>
                </a:solidFill>
                <a:latin typeface="Calibri"/>
              </a:rPr>
              <a:t>No exact phrase: password reset, account recovery, login recovery</a:t>
            </a:r>
          </a:p>
        </p:txBody>
      </p:sp>
      <p:sp>
        <p:nvSpPr>
          <p:cNvPr id="9" name="Rounded Rectangle 8"/>
          <p:cNvSpPr/>
          <p:nvPr/>
        </p:nvSpPr>
        <p:spPr>
          <a:xfrm>
            <a:off x="6492240" y="2240280"/>
            <a:ext cx="4846320" cy="1188720"/>
          </a:xfrm>
          <a:prstGeom prst="roundRect">
            <a:avLst/>
          </a:prstGeom>
          <a:solidFill>
            <a:srgbClr val="D6E4F0"/>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01968" y="2350008"/>
            <a:ext cx="4626864" cy="292608"/>
          </a:xfrm>
          <a:prstGeom prst="rect">
            <a:avLst/>
          </a:prstGeom>
          <a:noFill/>
        </p:spPr>
        <p:txBody>
          <a:bodyPr wrap="square" lIns="18288" tIns="18288" rIns="18288" bIns="18288" anchor="t">
            <a:noAutofit/>
          </a:bodyPr>
          <a:lstStyle/>
          <a:p>
            <a:pPr algn="l"/>
            <a:r>
              <a:rPr sz="1400" b="1" i="0" dirty="0">
                <a:solidFill>
                  <a:srgbClr val="161A3E"/>
                </a:solidFill>
                <a:latin typeface="Calibri"/>
              </a:rPr>
              <a:t>“Steps for password recovery after failed authentication”</a:t>
            </a:r>
          </a:p>
        </p:txBody>
      </p:sp>
      <p:sp>
        <p:nvSpPr>
          <p:cNvPr id="11" name="TextBox 10"/>
          <p:cNvSpPr txBox="1"/>
          <p:nvPr/>
        </p:nvSpPr>
        <p:spPr>
          <a:xfrm>
            <a:off x="6601968" y="2752344"/>
            <a:ext cx="4626864" cy="557784"/>
          </a:xfrm>
          <a:prstGeom prst="rect">
            <a:avLst/>
          </a:prstGeom>
          <a:noFill/>
        </p:spPr>
        <p:txBody>
          <a:bodyPr wrap="square" lIns="18288" tIns="18288" rIns="18288" bIns="18288" anchor="t">
            <a:noAutofit/>
          </a:bodyPr>
          <a:lstStyle/>
          <a:p>
            <a:pPr algn="l"/>
            <a:r>
              <a:rPr sz="1500" b="0" i="0" dirty="0">
                <a:solidFill>
                  <a:srgbClr val="44546A"/>
                </a:solidFill>
                <a:latin typeface="Calibri"/>
              </a:rPr>
              <a:t>Different wording, same intent: regain account access</a:t>
            </a:r>
          </a:p>
        </p:txBody>
      </p:sp>
      <p:cxnSp>
        <p:nvCxnSpPr>
          <p:cNvPr id="12" name="Connector 11"/>
          <p:cNvCxnSpPr>
            <a:cxnSpLocks/>
            <a:stCxn id="6" idx="3"/>
            <a:endCxn id="9" idx="1"/>
          </p:cNvCxnSpPr>
          <p:nvPr/>
        </p:nvCxnSpPr>
        <p:spPr>
          <a:xfrm>
            <a:off x="5715000" y="2834640"/>
            <a:ext cx="777240" cy="0"/>
          </a:xfrm>
          <a:prstGeom prst="line">
            <a:avLst/>
          </a:prstGeom>
          <a:ln w="25400">
            <a:solidFill>
              <a:srgbClr val="44546A"/>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70059" y="3794760"/>
            <a:ext cx="3200400" cy="1188720"/>
          </a:xfrm>
          <a:prstGeom prst="roundRect">
            <a:avLst/>
          </a:prstGeom>
          <a:solidFill>
            <a:srgbClr val="FFFFFF"/>
          </a:solidFill>
          <a:ln w="12700">
            <a:solidFill>
              <a:srgbClr val="445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79787" y="3904488"/>
            <a:ext cx="2980944" cy="292608"/>
          </a:xfrm>
          <a:prstGeom prst="rect">
            <a:avLst/>
          </a:prstGeom>
          <a:noFill/>
        </p:spPr>
        <p:txBody>
          <a:bodyPr wrap="square" lIns="18288" tIns="18288" rIns="18288" bIns="18288" anchor="t">
            <a:noAutofit/>
          </a:bodyPr>
          <a:lstStyle/>
          <a:p>
            <a:pPr algn="ctr"/>
            <a:r>
              <a:rPr sz="1700" b="1" i="0">
                <a:solidFill>
                  <a:srgbClr val="161A3E"/>
                </a:solidFill>
                <a:latin typeface="Calibri"/>
              </a:rPr>
              <a:t>Keyword search asks</a:t>
            </a:r>
          </a:p>
        </p:txBody>
      </p:sp>
      <p:sp>
        <p:nvSpPr>
          <p:cNvPr id="15" name="TextBox 14"/>
          <p:cNvSpPr txBox="1"/>
          <p:nvPr/>
        </p:nvSpPr>
        <p:spPr>
          <a:xfrm>
            <a:off x="1079787" y="4306824"/>
            <a:ext cx="2980944" cy="740664"/>
          </a:xfrm>
          <a:prstGeom prst="rect">
            <a:avLst/>
          </a:prstGeom>
          <a:noFill/>
        </p:spPr>
        <p:txBody>
          <a:bodyPr wrap="square" lIns="18288" tIns="18288" rIns="18288" bIns="18288" anchor="t">
            <a:noAutofit/>
          </a:bodyPr>
          <a:lstStyle/>
          <a:p>
            <a:pPr algn="ctr"/>
            <a:r>
              <a:rPr sz="1800" b="0" i="0" dirty="0">
                <a:solidFill>
                  <a:srgbClr val="44546A"/>
                </a:solidFill>
                <a:latin typeface="Calibri"/>
              </a:rPr>
              <a:t>Do the same words appear?</a:t>
            </a:r>
          </a:p>
        </p:txBody>
      </p:sp>
      <p:sp>
        <p:nvSpPr>
          <p:cNvPr id="16" name="Rounded Rectangle 15"/>
          <p:cNvSpPr/>
          <p:nvPr/>
        </p:nvSpPr>
        <p:spPr>
          <a:xfrm>
            <a:off x="4490499" y="3794760"/>
            <a:ext cx="3200400" cy="1188720"/>
          </a:xfrm>
          <a:prstGeom prst="roundRect">
            <a:avLst/>
          </a:prstGeom>
          <a:solidFill>
            <a:srgbClr val="FFFFFF"/>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00227" y="3904488"/>
            <a:ext cx="2980944" cy="292608"/>
          </a:xfrm>
          <a:prstGeom prst="rect">
            <a:avLst/>
          </a:prstGeom>
          <a:noFill/>
        </p:spPr>
        <p:txBody>
          <a:bodyPr wrap="square" lIns="18288" tIns="18288" rIns="18288" bIns="18288" anchor="t">
            <a:noAutofit/>
          </a:bodyPr>
          <a:lstStyle/>
          <a:p>
            <a:pPr algn="ctr"/>
            <a:r>
              <a:rPr sz="1700" b="1" i="0">
                <a:solidFill>
                  <a:srgbClr val="161A3E"/>
                </a:solidFill>
                <a:latin typeface="Calibri"/>
              </a:rPr>
              <a:t>Vector search asks</a:t>
            </a:r>
          </a:p>
        </p:txBody>
      </p:sp>
      <p:sp>
        <p:nvSpPr>
          <p:cNvPr id="18" name="TextBox 17"/>
          <p:cNvSpPr txBox="1"/>
          <p:nvPr/>
        </p:nvSpPr>
        <p:spPr>
          <a:xfrm>
            <a:off x="4600227" y="4288536"/>
            <a:ext cx="2980944" cy="758952"/>
          </a:xfrm>
          <a:prstGeom prst="rect">
            <a:avLst/>
          </a:prstGeom>
          <a:noFill/>
        </p:spPr>
        <p:txBody>
          <a:bodyPr wrap="square" lIns="18288" tIns="18288" rIns="18288" bIns="18288" anchor="t">
            <a:noAutofit/>
          </a:bodyPr>
          <a:lstStyle/>
          <a:p>
            <a:pPr algn="ctr"/>
            <a:r>
              <a:rPr sz="1800" b="0" i="0">
                <a:solidFill>
                  <a:srgbClr val="44546A"/>
                </a:solidFill>
                <a:latin typeface="Calibri"/>
              </a:rPr>
              <a:t>Is the meaning close?</a:t>
            </a:r>
          </a:p>
        </p:txBody>
      </p:sp>
      <p:sp>
        <p:nvSpPr>
          <p:cNvPr id="19" name="Rounded Rectangle 18"/>
          <p:cNvSpPr/>
          <p:nvPr/>
        </p:nvSpPr>
        <p:spPr>
          <a:xfrm>
            <a:off x="8010939" y="3794760"/>
            <a:ext cx="3200400" cy="1188720"/>
          </a:xfrm>
          <a:prstGeom prst="roundRect">
            <a:avLst/>
          </a:prstGeom>
          <a:solidFill>
            <a:srgbClr val="FFFFFF"/>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20666" y="3904488"/>
            <a:ext cx="2980944" cy="292608"/>
          </a:xfrm>
          <a:prstGeom prst="rect">
            <a:avLst/>
          </a:prstGeom>
          <a:noFill/>
        </p:spPr>
        <p:txBody>
          <a:bodyPr wrap="square" lIns="18288" tIns="18288" rIns="18288" bIns="18288" anchor="t">
            <a:noAutofit/>
          </a:bodyPr>
          <a:lstStyle/>
          <a:p>
            <a:pPr algn="ctr"/>
            <a:r>
              <a:rPr sz="1700" b="1" i="0">
                <a:solidFill>
                  <a:srgbClr val="161A3E"/>
                </a:solidFill>
                <a:latin typeface="Calibri"/>
              </a:rPr>
              <a:t>Production search asks</a:t>
            </a:r>
          </a:p>
        </p:txBody>
      </p:sp>
      <p:sp>
        <p:nvSpPr>
          <p:cNvPr id="21" name="TextBox 20"/>
          <p:cNvSpPr txBox="1"/>
          <p:nvPr/>
        </p:nvSpPr>
        <p:spPr>
          <a:xfrm>
            <a:off x="8120666" y="4288536"/>
            <a:ext cx="2980944" cy="758952"/>
          </a:xfrm>
          <a:prstGeom prst="rect">
            <a:avLst/>
          </a:prstGeom>
          <a:noFill/>
        </p:spPr>
        <p:txBody>
          <a:bodyPr wrap="square" lIns="18288" tIns="18288" rIns="18288" bIns="18288" anchor="t">
            <a:noAutofit/>
          </a:bodyPr>
          <a:lstStyle/>
          <a:p>
            <a:pPr algn="ctr"/>
            <a:r>
              <a:rPr sz="1800" b="0" i="0">
                <a:solidFill>
                  <a:srgbClr val="44546A"/>
                </a:solidFill>
                <a:latin typeface="Calibri"/>
              </a:rPr>
              <a:t>Can both signals help?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a:solidFill>
                  <a:srgbClr val="161A3E"/>
                </a:solidFill>
                <a:latin typeface="Calibri"/>
              </a:rPr>
              <a:t>By the end, you can build a meaning-based search engine</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81984" y="2329731"/>
            <a:ext cx="1508760" cy="1097280"/>
          </a:xfrm>
          <a:prstGeom prst="roundRect">
            <a:avLst/>
          </a:prstGeom>
          <a:solidFill>
            <a:srgbClr val="D6E4F0"/>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5136" y="2458542"/>
            <a:ext cx="1362456" cy="237744"/>
          </a:xfrm>
          <a:prstGeom prst="rect">
            <a:avLst/>
          </a:prstGeom>
          <a:noFill/>
        </p:spPr>
        <p:txBody>
          <a:bodyPr wrap="square" lIns="0" tIns="0" rIns="0" bIns="0" anchor="t">
            <a:noAutofit/>
          </a:bodyPr>
          <a:lstStyle/>
          <a:p>
            <a:pPr algn="ctr"/>
            <a:r>
              <a:rPr sz="1600" b="1" i="0" dirty="0">
                <a:solidFill>
                  <a:srgbClr val="161A3E"/>
                </a:solidFill>
                <a:latin typeface="Calibri"/>
              </a:rPr>
              <a:t>Corpus</a:t>
            </a:r>
          </a:p>
        </p:txBody>
      </p:sp>
      <p:sp>
        <p:nvSpPr>
          <p:cNvPr id="6" name="TextBox 5"/>
          <p:cNvSpPr txBox="1"/>
          <p:nvPr/>
        </p:nvSpPr>
        <p:spPr>
          <a:xfrm>
            <a:off x="1055136" y="2905404"/>
            <a:ext cx="1362456" cy="274320"/>
          </a:xfrm>
          <a:prstGeom prst="rect">
            <a:avLst/>
          </a:prstGeom>
          <a:noFill/>
        </p:spPr>
        <p:txBody>
          <a:bodyPr wrap="square" lIns="0" tIns="0" rIns="0" bIns="0" anchor="t">
            <a:noAutofit/>
          </a:bodyPr>
          <a:lstStyle/>
          <a:p>
            <a:pPr algn="ctr"/>
            <a:r>
              <a:rPr sz="1200" b="0" i="0">
                <a:solidFill>
                  <a:srgbClr val="161A3E"/>
                </a:solidFill>
                <a:latin typeface="Calibri"/>
              </a:rPr>
              <a:t>Support articles</a:t>
            </a:r>
          </a:p>
        </p:txBody>
      </p:sp>
      <p:cxnSp>
        <p:nvCxnSpPr>
          <p:cNvPr id="7" name="Connector 6"/>
          <p:cNvCxnSpPr>
            <a:cxnSpLocks/>
            <a:stCxn id="4" idx="3"/>
            <a:endCxn id="8" idx="1"/>
          </p:cNvCxnSpPr>
          <p:nvPr/>
        </p:nvCxnSpPr>
        <p:spPr>
          <a:xfrm>
            <a:off x="2490744" y="2878371"/>
            <a:ext cx="667512" cy="0"/>
          </a:xfrm>
          <a:prstGeom prst="line">
            <a:avLst/>
          </a:prstGeom>
          <a:ln w="25400">
            <a:solidFill>
              <a:srgbClr val="5B9BD5"/>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158256" y="2329731"/>
            <a:ext cx="1508760" cy="1097280"/>
          </a:xfrm>
          <a:prstGeom prst="roundRect">
            <a:avLst/>
          </a:prstGeom>
          <a:solidFill>
            <a:srgbClr val="4472C4"/>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31408" y="2458542"/>
            <a:ext cx="1362456" cy="237744"/>
          </a:xfrm>
          <a:prstGeom prst="rect">
            <a:avLst/>
          </a:prstGeom>
          <a:noFill/>
        </p:spPr>
        <p:txBody>
          <a:bodyPr wrap="square" lIns="0" tIns="0" rIns="0" bIns="0" anchor="t">
            <a:noAutofit/>
          </a:bodyPr>
          <a:lstStyle/>
          <a:p>
            <a:pPr algn="ctr"/>
            <a:r>
              <a:rPr sz="1600" b="1" i="0">
                <a:solidFill>
                  <a:srgbClr val="FFFFFF"/>
                </a:solidFill>
                <a:latin typeface="Calibri"/>
              </a:rPr>
              <a:t>Embed</a:t>
            </a:r>
          </a:p>
        </p:txBody>
      </p:sp>
      <p:sp>
        <p:nvSpPr>
          <p:cNvPr id="10" name="TextBox 9"/>
          <p:cNvSpPr txBox="1"/>
          <p:nvPr/>
        </p:nvSpPr>
        <p:spPr>
          <a:xfrm>
            <a:off x="3231408" y="2905404"/>
            <a:ext cx="1362456" cy="274320"/>
          </a:xfrm>
          <a:prstGeom prst="rect">
            <a:avLst/>
          </a:prstGeom>
          <a:noFill/>
        </p:spPr>
        <p:txBody>
          <a:bodyPr wrap="square" lIns="0" tIns="0" rIns="0" bIns="0" anchor="t">
            <a:noAutofit/>
          </a:bodyPr>
          <a:lstStyle/>
          <a:p>
            <a:pPr algn="ctr"/>
            <a:r>
              <a:rPr sz="1200" b="0" i="0">
                <a:solidFill>
                  <a:srgbClr val="FFFFFF"/>
                </a:solidFill>
                <a:latin typeface="Calibri"/>
              </a:rPr>
              <a:t>MiniLM vectors</a:t>
            </a:r>
          </a:p>
        </p:txBody>
      </p:sp>
      <p:cxnSp>
        <p:nvCxnSpPr>
          <p:cNvPr id="11" name="Connector 10"/>
          <p:cNvCxnSpPr>
            <a:cxnSpLocks/>
            <a:stCxn id="8" idx="3"/>
            <a:endCxn id="12" idx="1"/>
          </p:cNvCxnSpPr>
          <p:nvPr/>
        </p:nvCxnSpPr>
        <p:spPr>
          <a:xfrm>
            <a:off x="4667016" y="2878371"/>
            <a:ext cx="667512" cy="0"/>
          </a:xfrm>
          <a:prstGeom prst="line">
            <a:avLst/>
          </a:prstGeom>
          <a:ln w="25400">
            <a:solidFill>
              <a:srgbClr val="5B9BD5"/>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334528" y="2329731"/>
            <a:ext cx="1508760" cy="1097280"/>
          </a:xfrm>
          <a:prstGeom prst="roundRect">
            <a:avLst/>
          </a:prstGeom>
          <a:solidFill>
            <a:srgbClr val="161A3E"/>
          </a:solidFill>
          <a:ln w="12700">
            <a:solidFill>
              <a:srgbClr val="161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07680" y="2458542"/>
            <a:ext cx="1362456" cy="237744"/>
          </a:xfrm>
          <a:prstGeom prst="rect">
            <a:avLst/>
          </a:prstGeom>
          <a:noFill/>
        </p:spPr>
        <p:txBody>
          <a:bodyPr wrap="square" lIns="0" tIns="0" rIns="0" bIns="0" anchor="t">
            <a:noAutofit/>
          </a:bodyPr>
          <a:lstStyle/>
          <a:p>
            <a:pPr algn="ctr"/>
            <a:r>
              <a:rPr sz="1600" b="1" i="0">
                <a:solidFill>
                  <a:srgbClr val="FFFFFF"/>
                </a:solidFill>
                <a:latin typeface="Calibri"/>
              </a:rPr>
              <a:t>Index</a:t>
            </a:r>
          </a:p>
        </p:txBody>
      </p:sp>
      <p:sp>
        <p:nvSpPr>
          <p:cNvPr id="14" name="TextBox 13"/>
          <p:cNvSpPr txBox="1"/>
          <p:nvPr/>
        </p:nvSpPr>
        <p:spPr>
          <a:xfrm>
            <a:off x="5407680" y="2905404"/>
            <a:ext cx="1362456" cy="274320"/>
          </a:xfrm>
          <a:prstGeom prst="rect">
            <a:avLst/>
          </a:prstGeom>
          <a:noFill/>
        </p:spPr>
        <p:txBody>
          <a:bodyPr wrap="square" lIns="0" tIns="0" rIns="0" bIns="0" anchor="t">
            <a:noAutofit/>
          </a:bodyPr>
          <a:lstStyle/>
          <a:p>
            <a:pPr algn="ctr"/>
            <a:r>
              <a:rPr sz="1200" b="0" i="0">
                <a:solidFill>
                  <a:srgbClr val="FFFFFF"/>
                </a:solidFill>
                <a:latin typeface="Calibri"/>
              </a:rPr>
              <a:t>FAISS</a:t>
            </a:r>
          </a:p>
        </p:txBody>
      </p:sp>
      <p:cxnSp>
        <p:nvCxnSpPr>
          <p:cNvPr id="15" name="Connector 14"/>
          <p:cNvCxnSpPr>
            <a:cxnSpLocks/>
            <a:stCxn id="12" idx="3"/>
            <a:endCxn id="16" idx="1"/>
          </p:cNvCxnSpPr>
          <p:nvPr/>
        </p:nvCxnSpPr>
        <p:spPr>
          <a:xfrm>
            <a:off x="6843288" y="2878371"/>
            <a:ext cx="667511" cy="0"/>
          </a:xfrm>
          <a:prstGeom prst="line">
            <a:avLst/>
          </a:prstGeom>
          <a:ln w="25400">
            <a:solidFill>
              <a:srgbClr val="5B9BD5"/>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510799" y="2329731"/>
            <a:ext cx="1508760" cy="1097280"/>
          </a:xfrm>
          <a:prstGeom prst="roundRect">
            <a:avLst/>
          </a:prstGeom>
          <a:solidFill>
            <a:srgbClr val="4472C4"/>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83951" y="2458542"/>
            <a:ext cx="1362456" cy="237744"/>
          </a:xfrm>
          <a:prstGeom prst="rect">
            <a:avLst/>
          </a:prstGeom>
          <a:noFill/>
        </p:spPr>
        <p:txBody>
          <a:bodyPr wrap="square" lIns="0" tIns="0" rIns="0" bIns="0" anchor="t">
            <a:noAutofit/>
          </a:bodyPr>
          <a:lstStyle/>
          <a:p>
            <a:pPr algn="ctr"/>
            <a:r>
              <a:rPr sz="1600" b="1" i="0">
                <a:solidFill>
                  <a:srgbClr val="FFFFFF"/>
                </a:solidFill>
                <a:latin typeface="Calibri"/>
              </a:rPr>
              <a:t>Query</a:t>
            </a:r>
          </a:p>
        </p:txBody>
      </p:sp>
      <p:sp>
        <p:nvSpPr>
          <p:cNvPr id="18" name="TextBox 17"/>
          <p:cNvSpPr txBox="1"/>
          <p:nvPr/>
        </p:nvSpPr>
        <p:spPr>
          <a:xfrm>
            <a:off x="7583951" y="2905404"/>
            <a:ext cx="1362456" cy="274320"/>
          </a:xfrm>
          <a:prstGeom prst="rect">
            <a:avLst/>
          </a:prstGeom>
          <a:noFill/>
        </p:spPr>
        <p:txBody>
          <a:bodyPr wrap="square" lIns="0" tIns="0" rIns="0" bIns="0" anchor="t">
            <a:noAutofit/>
          </a:bodyPr>
          <a:lstStyle/>
          <a:p>
            <a:pPr algn="ctr"/>
            <a:r>
              <a:rPr sz="1200" b="0" i="0">
                <a:solidFill>
                  <a:srgbClr val="FFFFFF"/>
                </a:solidFill>
                <a:latin typeface="Calibri"/>
              </a:rPr>
              <a:t>Vectorize question</a:t>
            </a:r>
          </a:p>
        </p:txBody>
      </p:sp>
      <p:cxnSp>
        <p:nvCxnSpPr>
          <p:cNvPr id="19" name="Connector 18"/>
          <p:cNvCxnSpPr>
            <a:cxnSpLocks/>
            <a:stCxn id="16" idx="3"/>
            <a:endCxn id="20" idx="1"/>
          </p:cNvCxnSpPr>
          <p:nvPr/>
        </p:nvCxnSpPr>
        <p:spPr>
          <a:xfrm>
            <a:off x="9019559" y="2878371"/>
            <a:ext cx="667512" cy="0"/>
          </a:xfrm>
          <a:prstGeom prst="line">
            <a:avLst/>
          </a:prstGeom>
          <a:ln w="25400">
            <a:solidFill>
              <a:srgbClr val="5B9BD5"/>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687071" y="2329731"/>
            <a:ext cx="1508760" cy="1097280"/>
          </a:xfrm>
          <a:prstGeom prst="roundRect">
            <a:avLst/>
          </a:prstGeom>
          <a:solidFill>
            <a:srgbClr val="D6E4F0"/>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760223" y="2458542"/>
            <a:ext cx="1362456" cy="237744"/>
          </a:xfrm>
          <a:prstGeom prst="rect">
            <a:avLst/>
          </a:prstGeom>
          <a:noFill/>
        </p:spPr>
        <p:txBody>
          <a:bodyPr wrap="square" lIns="0" tIns="0" rIns="0" bIns="0" anchor="t">
            <a:noAutofit/>
          </a:bodyPr>
          <a:lstStyle/>
          <a:p>
            <a:pPr algn="ctr"/>
            <a:r>
              <a:rPr sz="1600" b="1" i="0">
                <a:solidFill>
                  <a:srgbClr val="161A3E"/>
                </a:solidFill>
                <a:latin typeface="Calibri"/>
              </a:rPr>
              <a:t>Rank</a:t>
            </a:r>
          </a:p>
        </p:txBody>
      </p:sp>
      <p:sp>
        <p:nvSpPr>
          <p:cNvPr id="22" name="TextBox 21"/>
          <p:cNvSpPr txBox="1"/>
          <p:nvPr/>
        </p:nvSpPr>
        <p:spPr>
          <a:xfrm>
            <a:off x="9760223" y="2905404"/>
            <a:ext cx="1362456" cy="274320"/>
          </a:xfrm>
          <a:prstGeom prst="rect">
            <a:avLst/>
          </a:prstGeom>
          <a:noFill/>
        </p:spPr>
        <p:txBody>
          <a:bodyPr wrap="square" lIns="0" tIns="0" rIns="0" bIns="0" anchor="t">
            <a:noAutofit/>
          </a:bodyPr>
          <a:lstStyle/>
          <a:p>
            <a:pPr algn="ctr"/>
            <a:r>
              <a:rPr sz="1200" b="0" i="0">
                <a:solidFill>
                  <a:srgbClr val="161A3E"/>
                </a:solidFill>
                <a:latin typeface="Calibri"/>
              </a:rPr>
              <a:t>Top-k results</a:t>
            </a:r>
          </a:p>
        </p:txBody>
      </p:sp>
      <p:sp>
        <p:nvSpPr>
          <p:cNvPr id="23" name="TextBox 22"/>
          <p:cNvSpPr txBox="1"/>
          <p:nvPr/>
        </p:nvSpPr>
        <p:spPr>
          <a:xfrm>
            <a:off x="960120" y="3977639"/>
            <a:ext cx="228600" cy="256032"/>
          </a:xfrm>
          <a:prstGeom prst="rect">
            <a:avLst/>
          </a:prstGeom>
          <a:noFill/>
        </p:spPr>
        <p:txBody>
          <a:bodyPr wrap="square" lIns="0" tIns="0" rIns="0" bIns="0" anchor="t">
            <a:noAutofit/>
          </a:bodyPr>
          <a:lstStyle/>
          <a:p>
            <a:pPr algn="ctr"/>
            <a:r>
              <a:rPr sz="2000" b="1" i="0">
                <a:solidFill>
                  <a:srgbClr val="4472C4"/>
                </a:solidFill>
                <a:latin typeface="Calibri"/>
              </a:rPr>
              <a:t>•</a:t>
            </a:r>
          </a:p>
        </p:txBody>
      </p:sp>
      <p:sp>
        <p:nvSpPr>
          <p:cNvPr id="24" name="TextBox 23"/>
          <p:cNvSpPr txBox="1"/>
          <p:nvPr/>
        </p:nvSpPr>
        <p:spPr>
          <a:xfrm>
            <a:off x="1252728" y="3977639"/>
            <a:ext cx="9582912" cy="310896"/>
          </a:xfrm>
          <a:prstGeom prst="rect">
            <a:avLst/>
          </a:prstGeom>
          <a:noFill/>
        </p:spPr>
        <p:txBody>
          <a:bodyPr wrap="square" lIns="18288" tIns="18288" rIns="18288" bIns="18288" anchor="t">
            <a:noAutofit/>
          </a:bodyPr>
          <a:lstStyle/>
          <a:p>
            <a:pPr algn="l"/>
            <a:r>
              <a:rPr sz="1800" b="0" i="0">
                <a:solidFill>
                  <a:srgbClr val="161A3E"/>
                </a:solidFill>
                <a:latin typeface="Calibri"/>
              </a:rPr>
              <a:t>Explain why semantic retrieval works before connecting an LLM.</a:t>
            </a:r>
          </a:p>
        </p:txBody>
      </p:sp>
      <p:sp>
        <p:nvSpPr>
          <p:cNvPr id="25" name="TextBox 24"/>
          <p:cNvSpPr txBox="1"/>
          <p:nvPr/>
        </p:nvSpPr>
        <p:spPr>
          <a:xfrm>
            <a:off x="960120" y="4370831"/>
            <a:ext cx="228600" cy="256032"/>
          </a:xfrm>
          <a:prstGeom prst="rect">
            <a:avLst/>
          </a:prstGeom>
          <a:noFill/>
        </p:spPr>
        <p:txBody>
          <a:bodyPr wrap="square" lIns="0" tIns="0" rIns="0" bIns="0" anchor="t">
            <a:noAutofit/>
          </a:bodyPr>
          <a:lstStyle/>
          <a:p>
            <a:pPr algn="ctr"/>
            <a:r>
              <a:rPr sz="2000" b="1" i="0">
                <a:solidFill>
                  <a:srgbClr val="4472C4"/>
                </a:solidFill>
                <a:latin typeface="Calibri"/>
              </a:rPr>
              <a:t>•</a:t>
            </a:r>
          </a:p>
        </p:txBody>
      </p:sp>
      <p:sp>
        <p:nvSpPr>
          <p:cNvPr id="26" name="TextBox 25"/>
          <p:cNvSpPr txBox="1"/>
          <p:nvPr/>
        </p:nvSpPr>
        <p:spPr>
          <a:xfrm>
            <a:off x="1252728" y="4370831"/>
            <a:ext cx="9582912" cy="310896"/>
          </a:xfrm>
          <a:prstGeom prst="rect">
            <a:avLst/>
          </a:prstGeom>
          <a:noFill/>
        </p:spPr>
        <p:txBody>
          <a:bodyPr wrap="square" lIns="18288" tIns="18288" rIns="18288" bIns="18288" anchor="t">
            <a:noAutofit/>
          </a:bodyPr>
          <a:lstStyle/>
          <a:p>
            <a:pPr algn="l"/>
            <a:r>
              <a:rPr sz="1800" b="0" i="0" dirty="0">
                <a:solidFill>
                  <a:srgbClr val="161A3E"/>
                </a:solidFill>
                <a:latin typeface="Calibri"/>
              </a:rPr>
              <a:t>Choose a similarity metric and know what it is optimizing.</a:t>
            </a:r>
          </a:p>
        </p:txBody>
      </p:sp>
      <p:sp>
        <p:nvSpPr>
          <p:cNvPr id="27" name="TextBox 26"/>
          <p:cNvSpPr txBox="1"/>
          <p:nvPr/>
        </p:nvSpPr>
        <p:spPr>
          <a:xfrm>
            <a:off x="960120" y="4764023"/>
            <a:ext cx="228600" cy="256032"/>
          </a:xfrm>
          <a:prstGeom prst="rect">
            <a:avLst/>
          </a:prstGeom>
          <a:noFill/>
        </p:spPr>
        <p:txBody>
          <a:bodyPr wrap="square" lIns="0" tIns="0" rIns="0" bIns="0" anchor="t">
            <a:noAutofit/>
          </a:bodyPr>
          <a:lstStyle/>
          <a:p>
            <a:pPr algn="ctr"/>
            <a:r>
              <a:rPr sz="2000" b="1" i="0">
                <a:solidFill>
                  <a:srgbClr val="4472C4"/>
                </a:solidFill>
                <a:latin typeface="Calibri"/>
              </a:rPr>
              <a:t>•</a:t>
            </a:r>
          </a:p>
        </p:txBody>
      </p:sp>
      <p:sp>
        <p:nvSpPr>
          <p:cNvPr id="28" name="TextBox 27"/>
          <p:cNvSpPr txBox="1"/>
          <p:nvPr/>
        </p:nvSpPr>
        <p:spPr>
          <a:xfrm>
            <a:off x="1252728" y="4764023"/>
            <a:ext cx="9582912" cy="310896"/>
          </a:xfrm>
          <a:prstGeom prst="rect">
            <a:avLst/>
          </a:prstGeom>
          <a:noFill/>
        </p:spPr>
        <p:txBody>
          <a:bodyPr wrap="square" lIns="18288" tIns="18288" rIns="18288" bIns="18288" anchor="t">
            <a:noAutofit/>
          </a:bodyPr>
          <a:lstStyle/>
          <a:p>
            <a:pPr algn="l"/>
            <a:r>
              <a:rPr sz="1800" b="0" i="0">
                <a:solidFill>
                  <a:srgbClr val="161A3E"/>
                </a:solidFill>
                <a:latin typeface="Calibri"/>
              </a:rPr>
              <a:t>Debug retrieval results using top-k scores and precision@k.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51560" y="2331720"/>
            <a:ext cx="10058400" cy="347472"/>
          </a:xfrm>
          <a:prstGeom prst="rect">
            <a:avLst/>
          </a:prstGeom>
          <a:noFill/>
        </p:spPr>
        <p:txBody>
          <a:bodyPr wrap="square" lIns="0" tIns="0" rIns="0" bIns="0" anchor="t">
            <a:noAutofit/>
          </a:bodyPr>
          <a:lstStyle/>
          <a:p>
            <a:pPr algn="ctr"/>
            <a:r>
              <a:rPr sz="1500" b="1" i="0">
                <a:solidFill>
                  <a:srgbClr val="5B9BD5"/>
                </a:solidFill>
                <a:latin typeface="Calibri"/>
              </a:rPr>
              <a:t>PART 1</a:t>
            </a:r>
          </a:p>
        </p:txBody>
      </p:sp>
      <p:sp>
        <p:nvSpPr>
          <p:cNvPr id="4" name="TextBox 3"/>
          <p:cNvSpPr txBox="1"/>
          <p:nvPr/>
        </p:nvSpPr>
        <p:spPr>
          <a:xfrm>
            <a:off x="1234440" y="2743200"/>
            <a:ext cx="9738360" cy="777240"/>
          </a:xfrm>
          <a:prstGeom prst="rect">
            <a:avLst/>
          </a:prstGeom>
          <a:noFill/>
        </p:spPr>
        <p:txBody>
          <a:bodyPr wrap="square" lIns="0" tIns="0" rIns="0" bIns="0" anchor="t">
            <a:noAutofit/>
          </a:bodyPr>
          <a:lstStyle/>
          <a:p>
            <a:pPr algn="ctr"/>
            <a:r>
              <a:rPr sz="3600" b="1" i="0">
                <a:solidFill>
                  <a:srgbClr val="FFFFFF"/>
                </a:solidFill>
                <a:latin typeface="Calibri"/>
              </a:rPr>
              <a:t>Embeddings: semantic meaning as vectors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a:solidFill>
                  <a:srgbClr val="161A3E"/>
                </a:solidFill>
                <a:latin typeface="Calibri"/>
              </a:rPr>
              <a:t>Embeddings are coordinates on a learned meaning map</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783080"/>
            <a:ext cx="4663440" cy="457200"/>
          </a:xfrm>
          <a:prstGeom prst="rect">
            <a:avLst/>
          </a:prstGeom>
          <a:noFill/>
        </p:spPr>
        <p:txBody>
          <a:bodyPr wrap="square" lIns="0" tIns="0" rIns="0" bIns="0" anchor="t">
            <a:noAutofit/>
          </a:bodyPr>
          <a:lstStyle/>
          <a:p>
            <a:pPr algn="l"/>
            <a:r>
              <a:rPr sz="2400" b="1" i="0">
                <a:solidFill>
                  <a:srgbClr val="161A3E"/>
                </a:solidFill>
                <a:latin typeface="Calibri"/>
              </a:rPr>
              <a:t>Think of a city map</a:t>
            </a:r>
          </a:p>
        </p:txBody>
      </p:sp>
      <p:sp>
        <p:nvSpPr>
          <p:cNvPr id="5" name="Rounded Rectangle 4"/>
          <p:cNvSpPr/>
          <p:nvPr/>
        </p:nvSpPr>
        <p:spPr>
          <a:xfrm>
            <a:off x="868680" y="2331720"/>
            <a:ext cx="4663440" cy="987552"/>
          </a:xfrm>
          <a:prstGeom prst="roundRect">
            <a:avLst/>
          </a:prstGeom>
          <a:solidFill>
            <a:srgbClr val="FFFFFF"/>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78407" y="2441448"/>
            <a:ext cx="4443983" cy="292608"/>
          </a:xfrm>
          <a:prstGeom prst="rect">
            <a:avLst/>
          </a:prstGeom>
          <a:noFill/>
        </p:spPr>
        <p:txBody>
          <a:bodyPr wrap="square" lIns="18288" tIns="18288" rIns="18288" bIns="18288" anchor="t">
            <a:noAutofit/>
          </a:bodyPr>
          <a:lstStyle/>
          <a:p>
            <a:pPr algn="l"/>
            <a:r>
              <a:rPr sz="1600" b="1" i="0" dirty="0">
                <a:solidFill>
                  <a:srgbClr val="161A3E"/>
                </a:solidFill>
                <a:latin typeface="Calibri"/>
              </a:rPr>
              <a:t>A map does not store every detail of a place.</a:t>
            </a:r>
          </a:p>
        </p:txBody>
      </p:sp>
      <p:sp>
        <p:nvSpPr>
          <p:cNvPr id="7" name="TextBox 6"/>
          <p:cNvSpPr txBox="1"/>
          <p:nvPr/>
        </p:nvSpPr>
        <p:spPr>
          <a:xfrm>
            <a:off x="978407" y="2825496"/>
            <a:ext cx="4443983" cy="420624"/>
          </a:xfrm>
          <a:prstGeom prst="rect">
            <a:avLst/>
          </a:prstGeom>
          <a:noFill/>
        </p:spPr>
        <p:txBody>
          <a:bodyPr wrap="square" lIns="18288" tIns="18288" rIns="18288" bIns="18288" anchor="t">
            <a:noAutofit/>
          </a:bodyPr>
          <a:lstStyle/>
          <a:p>
            <a:pPr algn="l"/>
            <a:r>
              <a:rPr sz="1500" b="0" i="0" dirty="0">
                <a:solidFill>
                  <a:srgbClr val="44546A"/>
                </a:solidFill>
                <a:latin typeface="Calibri"/>
              </a:rPr>
              <a:t>It stores enough coordinates so nearby places can be compared and navigated.</a:t>
            </a:r>
          </a:p>
        </p:txBody>
      </p:sp>
      <p:sp>
        <p:nvSpPr>
          <p:cNvPr id="8" name="TextBox 7"/>
          <p:cNvSpPr txBox="1"/>
          <p:nvPr/>
        </p:nvSpPr>
        <p:spPr>
          <a:xfrm>
            <a:off x="868680" y="3703320"/>
            <a:ext cx="4663440" cy="457200"/>
          </a:xfrm>
          <a:prstGeom prst="rect">
            <a:avLst/>
          </a:prstGeom>
          <a:noFill/>
        </p:spPr>
        <p:txBody>
          <a:bodyPr wrap="square" lIns="0" tIns="0" rIns="0" bIns="0" anchor="t">
            <a:noAutofit/>
          </a:bodyPr>
          <a:lstStyle/>
          <a:p>
            <a:pPr algn="l"/>
            <a:r>
              <a:rPr sz="2000" b="1" i="0" dirty="0">
                <a:solidFill>
                  <a:srgbClr val="161A3E"/>
                </a:solidFill>
                <a:latin typeface="Calibri"/>
              </a:rPr>
              <a:t>Embeddings do the same for meaning</a:t>
            </a:r>
          </a:p>
        </p:txBody>
      </p:sp>
      <p:sp>
        <p:nvSpPr>
          <p:cNvPr id="9" name="Rounded Rectangle 8"/>
          <p:cNvSpPr/>
          <p:nvPr/>
        </p:nvSpPr>
        <p:spPr>
          <a:xfrm>
            <a:off x="868680" y="4251960"/>
            <a:ext cx="4663440" cy="987552"/>
          </a:xfrm>
          <a:prstGeom prst="roundRect">
            <a:avLst/>
          </a:prstGeom>
          <a:solidFill>
            <a:srgbClr val="FFFFFF"/>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7" y="4361688"/>
            <a:ext cx="4443983" cy="292608"/>
          </a:xfrm>
          <a:prstGeom prst="rect">
            <a:avLst/>
          </a:prstGeom>
          <a:noFill/>
        </p:spPr>
        <p:txBody>
          <a:bodyPr wrap="square" lIns="18288" tIns="18288" rIns="18288" bIns="18288" anchor="t">
            <a:noAutofit/>
          </a:bodyPr>
          <a:lstStyle/>
          <a:p>
            <a:pPr algn="l"/>
            <a:r>
              <a:rPr sz="1600" b="1" i="0" dirty="0">
                <a:solidFill>
                  <a:srgbClr val="161A3E"/>
                </a:solidFill>
                <a:latin typeface="Calibri"/>
              </a:rPr>
              <a:t>A vector does not expose human-readable columns.</a:t>
            </a:r>
          </a:p>
        </p:txBody>
      </p:sp>
      <p:sp>
        <p:nvSpPr>
          <p:cNvPr id="11" name="TextBox 10"/>
          <p:cNvSpPr txBox="1"/>
          <p:nvPr/>
        </p:nvSpPr>
        <p:spPr>
          <a:xfrm>
            <a:off x="978407" y="4745736"/>
            <a:ext cx="4443983" cy="420624"/>
          </a:xfrm>
          <a:prstGeom prst="rect">
            <a:avLst/>
          </a:prstGeom>
          <a:noFill/>
        </p:spPr>
        <p:txBody>
          <a:bodyPr wrap="square" lIns="18288" tIns="18288" rIns="18288" bIns="18288" anchor="t">
            <a:noAutofit/>
          </a:bodyPr>
          <a:lstStyle/>
          <a:p>
            <a:pPr algn="l"/>
            <a:r>
              <a:rPr sz="1500" b="0" i="0">
                <a:solidFill>
                  <a:srgbClr val="44546A"/>
                </a:solidFill>
                <a:latin typeface="Calibri"/>
              </a:rPr>
              <a:t>It stores learned coordinates so related text lands close together.</a:t>
            </a:r>
          </a:p>
        </p:txBody>
      </p:sp>
      <p:sp>
        <p:nvSpPr>
          <p:cNvPr id="12" name="Rectangle 11"/>
          <p:cNvSpPr/>
          <p:nvPr/>
        </p:nvSpPr>
        <p:spPr>
          <a:xfrm>
            <a:off x="6172200" y="1874519"/>
            <a:ext cx="4983480" cy="3566160"/>
          </a:xfrm>
          <a:prstGeom prst="rect">
            <a:avLst/>
          </a:prstGeom>
          <a:solidFill>
            <a:srgbClr val="F2F2F2"/>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1993392"/>
            <a:ext cx="4526280" cy="228600"/>
          </a:xfrm>
          <a:prstGeom prst="rect">
            <a:avLst/>
          </a:prstGeom>
          <a:noFill/>
        </p:spPr>
        <p:txBody>
          <a:bodyPr wrap="square" lIns="0" tIns="0" rIns="0" bIns="0" anchor="t">
            <a:noAutofit/>
          </a:bodyPr>
          <a:lstStyle/>
          <a:p>
            <a:pPr algn="ctr"/>
            <a:r>
              <a:rPr sz="1400" b="0" i="0">
                <a:solidFill>
                  <a:srgbClr val="44546A"/>
                </a:solidFill>
                <a:latin typeface="Calibri"/>
              </a:rPr>
              <a:t>Simplified 2-D projection of meaning space</a:t>
            </a:r>
          </a:p>
        </p:txBody>
      </p:sp>
      <p:sp>
        <p:nvSpPr>
          <p:cNvPr id="14" name="Oval 13"/>
          <p:cNvSpPr/>
          <p:nvPr/>
        </p:nvSpPr>
        <p:spPr>
          <a:xfrm>
            <a:off x="6812280" y="2971800"/>
            <a:ext cx="146304" cy="146304"/>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976872" y="2935224"/>
            <a:ext cx="1188720" cy="219456"/>
          </a:xfrm>
          <a:prstGeom prst="rect">
            <a:avLst/>
          </a:prstGeom>
          <a:noFill/>
        </p:spPr>
        <p:txBody>
          <a:bodyPr wrap="square" lIns="0" tIns="0" rIns="0" bIns="0" anchor="t">
            <a:noAutofit/>
          </a:bodyPr>
          <a:lstStyle/>
          <a:p>
            <a:pPr algn="l"/>
            <a:r>
              <a:rPr sz="1050" b="0" i="0">
                <a:solidFill>
                  <a:srgbClr val="161A3E"/>
                </a:solidFill>
                <a:latin typeface="Calibri"/>
              </a:rPr>
              <a:t>password reset</a:t>
            </a:r>
          </a:p>
        </p:txBody>
      </p:sp>
      <p:sp>
        <p:nvSpPr>
          <p:cNvPr id="16" name="Oval 15"/>
          <p:cNvSpPr/>
          <p:nvPr/>
        </p:nvSpPr>
        <p:spPr>
          <a:xfrm>
            <a:off x="7132320" y="3246120"/>
            <a:ext cx="146304" cy="146304"/>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96912" y="3209544"/>
            <a:ext cx="1188720" cy="219456"/>
          </a:xfrm>
          <a:prstGeom prst="rect">
            <a:avLst/>
          </a:prstGeom>
          <a:noFill/>
        </p:spPr>
        <p:txBody>
          <a:bodyPr wrap="square" lIns="0" tIns="0" rIns="0" bIns="0" anchor="t">
            <a:noAutofit/>
          </a:bodyPr>
          <a:lstStyle/>
          <a:p>
            <a:pPr algn="l"/>
            <a:r>
              <a:rPr sz="1050" b="0" i="0">
                <a:solidFill>
                  <a:srgbClr val="161A3E"/>
                </a:solidFill>
                <a:latin typeface="Calibri"/>
              </a:rPr>
              <a:t>account recovery</a:t>
            </a:r>
          </a:p>
        </p:txBody>
      </p:sp>
      <p:sp>
        <p:nvSpPr>
          <p:cNvPr id="18" name="Oval 17"/>
          <p:cNvSpPr/>
          <p:nvPr/>
        </p:nvSpPr>
        <p:spPr>
          <a:xfrm>
            <a:off x="6720840" y="3474720"/>
            <a:ext cx="146304" cy="146304"/>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85431" y="3438144"/>
            <a:ext cx="1188720" cy="219456"/>
          </a:xfrm>
          <a:prstGeom prst="rect">
            <a:avLst/>
          </a:prstGeom>
          <a:noFill/>
        </p:spPr>
        <p:txBody>
          <a:bodyPr wrap="square" lIns="0" tIns="0" rIns="0" bIns="0" anchor="t">
            <a:noAutofit/>
          </a:bodyPr>
          <a:lstStyle/>
          <a:p>
            <a:pPr algn="l"/>
            <a:r>
              <a:rPr sz="1050" b="0" i="0">
                <a:solidFill>
                  <a:srgbClr val="161A3E"/>
                </a:solidFill>
                <a:latin typeface="Calibri"/>
              </a:rPr>
              <a:t>login help</a:t>
            </a:r>
          </a:p>
        </p:txBody>
      </p:sp>
      <p:sp>
        <p:nvSpPr>
          <p:cNvPr id="20" name="Oval 19"/>
          <p:cNvSpPr/>
          <p:nvPr/>
        </p:nvSpPr>
        <p:spPr>
          <a:xfrm>
            <a:off x="8833899" y="2852529"/>
            <a:ext cx="146304" cy="146304"/>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998491" y="2815953"/>
            <a:ext cx="1188720" cy="219456"/>
          </a:xfrm>
          <a:prstGeom prst="rect">
            <a:avLst/>
          </a:prstGeom>
          <a:noFill/>
        </p:spPr>
        <p:txBody>
          <a:bodyPr wrap="square" lIns="0" tIns="0" rIns="0" bIns="0" anchor="t">
            <a:noAutofit/>
          </a:bodyPr>
          <a:lstStyle/>
          <a:p>
            <a:pPr algn="l"/>
            <a:r>
              <a:rPr sz="1050" b="0" i="0">
                <a:solidFill>
                  <a:srgbClr val="161A3E"/>
                </a:solidFill>
                <a:latin typeface="Calibri"/>
              </a:rPr>
              <a:t>refund policy</a:t>
            </a:r>
          </a:p>
        </p:txBody>
      </p:sp>
      <p:sp>
        <p:nvSpPr>
          <p:cNvPr id="22" name="Oval 21"/>
          <p:cNvSpPr/>
          <p:nvPr/>
        </p:nvSpPr>
        <p:spPr>
          <a:xfrm>
            <a:off x="9098280" y="3063240"/>
            <a:ext cx="146304" cy="146304"/>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262872" y="3026664"/>
            <a:ext cx="1188720" cy="219456"/>
          </a:xfrm>
          <a:prstGeom prst="rect">
            <a:avLst/>
          </a:prstGeom>
          <a:noFill/>
        </p:spPr>
        <p:txBody>
          <a:bodyPr wrap="square" lIns="0" tIns="0" rIns="0" bIns="0" anchor="t">
            <a:noAutofit/>
          </a:bodyPr>
          <a:lstStyle/>
          <a:p>
            <a:pPr algn="l"/>
            <a:r>
              <a:rPr sz="1050" b="0" i="0">
                <a:solidFill>
                  <a:srgbClr val="161A3E"/>
                </a:solidFill>
                <a:latin typeface="Calibri"/>
              </a:rPr>
              <a:t>return item</a:t>
            </a:r>
          </a:p>
        </p:txBody>
      </p:sp>
      <p:sp>
        <p:nvSpPr>
          <p:cNvPr id="24" name="Oval 23"/>
          <p:cNvSpPr/>
          <p:nvPr/>
        </p:nvSpPr>
        <p:spPr>
          <a:xfrm>
            <a:off x="9189720" y="3365391"/>
            <a:ext cx="146304" cy="146304"/>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54312" y="3328815"/>
            <a:ext cx="1188720" cy="219456"/>
          </a:xfrm>
          <a:prstGeom prst="rect">
            <a:avLst/>
          </a:prstGeom>
          <a:noFill/>
        </p:spPr>
        <p:txBody>
          <a:bodyPr wrap="square" lIns="0" tIns="0" rIns="0" bIns="0" anchor="t">
            <a:noAutofit/>
          </a:bodyPr>
          <a:lstStyle/>
          <a:p>
            <a:pPr algn="l"/>
            <a:r>
              <a:rPr sz="1050" b="0" i="0">
                <a:solidFill>
                  <a:srgbClr val="161A3E"/>
                </a:solidFill>
                <a:latin typeface="Calibri"/>
              </a:rPr>
              <a:t>payment reversal</a:t>
            </a:r>
          </a:p>
        </p:txBody>
      </p:sp>
      <p:sp>
        <p:nvSpPr>
          <p:cNvPr id="26" name="Oval 25"/>
          <p:cNvSpPr/>
          <p:nvPr/>
        </p:nvSpPr>
        <p:spPr>
          <a:xfrm>
            <a:off x="8138160" y="4480560"/>
            <a:ext cx="146304" cy="146304"/>
          </a:xfrm>
          <a:prstGeom prst="ellipse">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02752" y="4443984"/>
            <a:ext cx="1188720" cy="219456"/>
          </a:xfrm>
          <a:prstGeom prst="rect">
            <a:avLst/>
          </a:prstGeom>
          <a:noFill/>
        </p:spPr>
        <p:txBody>
          <a:bodyPr wrap="square" lIns="0" tIns="0" rIns="0" bIns="0" anchor="t">
            <a:noAutofit/>
          </a:bodyPr>
          <a:lstStyle/>
          <a:p>
            <a:pPr algn="l"/>
            <a:r>
              <a:rPr sz="1050" b="0" i="0">
                <a:solidFill>
                  <a:srgbClr val="161A3E"/>
                </a:solidFill>
                <a:latin typeface="Calibri"/>
              </a:rPr>
              <a:t>network outage</a:t>
            </a:r>
          </a:p>
        </p:txBody>
      </p:sp>
      <p:sp>
        <p:nvSpPr>
          <p:cNvPr id="28" name="Oval 27"/>
          <p:cNvSpPr/>
          <p:nvPr/>
        </p:nvSpPr>
        <p:spPr>
          <a:xfrm>
            <a:off x="8382663" y="4731027"/>
            <a:ext cx="146304" cy="146304"/>
          </a:xfrm>
          <a:prstGeom prst="ellipse">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547255" y="4694451"/>
            <a:ext cx="1188720" cy="219456"/>
          </a:xfrm>
          <a:prstGeom prst="rect">
            <a:avLst/>
          </a:prstGeom>
          <a:noFill/>
        </p:spPr>
        <p:txBody>
          <a:bodyPr wrap="square" lIns="0" tIns="0" rIns="0" bIns="0" anchor="t">
            <a:noAutofit/>
          </a:bodyPr>
          <a:lstStyle/>
          <a:p>
            <a:pPr algn="l"/>
            <a:r>
              <a:rPr sz="1050" b="0" i="0">
                <a:solidFill>
                  <a:srgbClr val="161A3E"/>
                </a:solidFill>
                <a:latin typeface="Calibri"/>
              </a:rPr>
              <a:t>dropped calls</a:t>
            </a:r>
          </a:p>
        </p:txBody>
      </p:sp>
      <p:cxnSp>
        <p:nvCxnSpPr>
          <p:cNvPr id="33" name="Straight Arrow Connector 32">
            <a:extLst>
              <a:ext uri="{FF2B5EF4-FFF2-40B4-BE49-F238E27FC236}">
                <a16:creationId xmlns:a16="http://schemas.microsoft.com/office/drawing/2014/main" id="{A0D9040F-538C-EDA8-4A73-018587BDB114}"/>
              </a:ext>
            </a:extLst>
          </p:cNvPr>
          <p:cNvCxnSpPr>
            <a:cxnSpLocks/>
          </p:cNvCxnSpPr>
          <p:nvPr/>
        </p:nvCxnSpPr>
        <p:spPr>
          <a:xfrm flipV="1">
            <a:off x="6470375" y="1874519"/>
            <a:ext cx="0" cy="3566160"/>
          </a:xfrm>
          <a:prstGeom prst="straightConnector1">
            <a:avLst/>
          </a:prstGeom>
          <a:ln w="19050" cap="flat" cmpd="sng" algn="ctr">
            <a:solidFill>
              <a:schemeClr val="accent5"/>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34" name="Straight Arrow Connector 33">
            <a:extLst>
              <a:ext uri="{FF2B5EF4-FFF2-40B4-BE49-F238E27FC236}">
                <a16:creationId xmlns:a16="http://schemas.microsoft.com/office/drawing/2014/main" id="{908AB49B-848D-521A-0407-758FE0399F62}"/>
              </a:ext>
            </a:extLst>
          </p:cNvPr>
          <p:cNvCxnSpPr>
            <a:cxnSpLocks/>
          </p:cNvCxnSpPr>
          <p:nvPr/>
        </p:nvCxnSpPr>
        <p:spPr>
          <a:xfrm>
            <a:off x="6169815" y="5196177"/>
            <a:ext cx="4985865" cy="0"/>
          </a:xfrm>
          <a:prstGeom prst="straightConnector1">
            <a:avLst/>
          </a:prstGeom>
          <a:ln w="19050" cap="flat" cmpd="sng" algn="ctr">
            <a:solidFill>
              <a:schemeClr val="accent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38" name="TextBox 37">
            <a:extLst>
              <a:ext uri="{FF2B5EF4-FFF2-40B4-BE49-F238E27FC236}">
                <a16:creationId xmlns:a16="http://schemas.microsoft.com/office/drawing/2014/main" id="{5E163EE1-27FD-D19C-526F-758B4C2CBDA5}"/>
              </a:ext>
            </a:extLst>
          </p:cNvPr>
          <p:cNvSpPr txBox="1"/>
          <p:nvPr/>
        </p:nvSpPr>
        <p:spPr>
          <a:xfrm>
            <a:off x="6874899" y="5220030"/>
            <a:ext cx="777238" cy="172545"/>
          </a:xfrm>
          <a:prstGeom prst="rect">
            <a:avLst/>
          </a:prstGeom>
          <a:noFill/>
        </p:spPr>
        <p:txBody>
          <a:bodyPr wrap="square" lIns="18288" tIns="18288" rIns="18288" bIns="18288" anchor="t">
            <a:noAutofit/>
          </a:bodyPr>
          <a:lstStyle/>
          <a:p>
            <a:pPr algn="l"/>
            <a:r>
              <a:rPr lang="en-US" sz="1050" b="1" i="0" dirty="0">
                <a:solidFill>
                  <a:srgbClr val="161A3E"/>
                </a:solidFill>
                <a:latin typeface="Calibri"/>
              </a:rPr>
              <a:t>Dimension 2</a:t>
            </a:r>
            <a:endParaRPr sz="1050" b="1" i="0" dirty="0">
              <a:solidFill>
                <a:srgbClr val="161A3E"/>
              </a:solidFill>
              <a:latin typeface="Calibri"/>
            </a:endParaRPr>
          </a:p>
        </p:txBody>
      </p:sp>
      <p:sp>
        <p:nvSpPr>
          <p:cNvPr id="39" name="TextBox 38">
            <a:extLst>
              <a:ext uri="{FF2B5EF4-FFF2-40B4-BE49-F238E27FC236}">
                <a16:creationId xmlns:a16="http://schemas.microsoft.com/office/drawing/2014/main" id="{FC62CD34-69D1-6657-CC2D-AB113783388F}"/>
              </a:ext>
            </a:extLst>
          </p:cNvPr>
          <p:cNvSpPr txBox="1"/>
          <p:nvPr/>
        </p:nvSpPr>
        <p:spPr>
          <a:xfrm rot="16200000">
            <a:off x="5937836" y="4394287"/>
            <a:ext cx="777238" cy="172545"/>
          </a:xfrm>
          <a:prstGeom prst="rect">
            <a:avLst/>
          </a:prstGeom>
          <a:noFill/>
        </p:spPr>
        <p:txBody>
          <a:bodyPr wrap="square" lIns="18288" tIns="18288" rIns="18288" bIns="18288" anchor="t">
            <a:noAutofit/>
          </a:bodyPr>
          <a:lstStyle/>
          <a:p>
            <a:pPr algn="l"/>
            <a:r>
              <a:rPr lang="en-US" sz="1050" b="1" i="0" dirty="0">
                <a:solidFill>
                  <a:srgbClr val="161A3E"/>
                </a:solidFill>
                <a:latin typeface="Calibri"/>
              </a:rPr>
              <a:t>Dimension 1</a:t>
            </a:r>
            <a:endParaRPr sz="1050" b="1" i="0" dirty="0">
              <a:solidFill>
                <a:srgbClr val="161A3E"/>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a:solidFill>
                  <a:srgbClr val="161A3E"/>
                </a:solidFill>
                <a:latin typeface="Calibri"/>
              </a:rPr>
              <a:t>From sentence to vector: what actually happens</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 name="Connector 3"/>
          <p:cNvCxnSpPr>
            <a:cxnSpLocks/>
            <a:stCxn id="7" idx="3"/>
            <a:endCxn id="9" idx="1"/>
          </p:cNvCxnSpPr>
          <p:nvPr/>
        </p:nvCxnSpPr>
        <p:spPr>
          <a:xfrm>
            <a:off x="2693506" y="2824701"/>
            <a:ext cx="731520" cy="0"/>
          </a:xfrm>
          <a:prstGeom prst="line">
            <a:avLst/>
          </a:prstGeom>
          <a:ln w="25400">
            <a:solidFill>
              <a:srgbClr val="5B9BD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a:cxnSpLocks/>
            <a:stCxn id="9" idx="3"/>
            <a:endCxn id="11" idx="1"/>
          </p:cNvCxnSpPr>
          <p:nvPr/>
        </p:nvCxnSpPr>
        <p:spPr>
          <a:xfrm>
            <a:off x="5208106" y="2824701"/>
            <a:ext cx="777240" cy="0"/>
          </a:xfrm>
          <a:prstGeom prst="line">
            <a:avLst/>
          </a:prstGeom>
          <a:ln w="25400">
            <a:solidFill>
              <a:srgbClr val="5B9BD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a:cxnSpLocks/>
            <a:stCxn id="11" idx="3"/>
            <a:endCxn id="14" idx="1"/>
          </p:cNvCxnSpPr>
          <p:nvPr/>
        </p:nvCxnSpPr>
        <p:spPr>
          <a:xfrm flipV="1">
            <a:off x="7768426" y="2824700"/>
            <a:ext cx="832104" cy="1"/>
          </a:xfrm>
          <a:prstGeom prst="line">
            <a:avLst/>
          </a:prstGeom>
          <a:ln w="25400">
            <a:solidFill>
              <a:srgbClr val="5B9BD5"/>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276186" y="2321781"/>
            <a:ext cx="1417320" cy="1005840"/>
          </a:xfrm>
          <a:prstGeom prst="roundRect">
            <a:avLst/>
          </a:prstGeom>
          <a:solidFill>
            <a:srgbClr val="D6E4F0"/>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31050" y="2422364"/>
            <a:ext cx="1307592" cy="804672"/>
          </a:xfrm>
          <a:prstGeom prst="rect">
            <a:avLst/>
          </a:prstGeom>
          <a:noFill/>
        </p:spPr>
        <p:txBody>
          <a:bodyPr wrap="square" lIns="18288" tIns="18288" rIns="18288" bIns="18288" anchor="ctr">
            <a:noAutofit/>
          </a:bodyPr>
          <a:lstStyle/>
          <a:p>
            <a:pPr algn="ctr"/>
            <a:r>
              <a:rPr sz="1600" b="1" i="0">
                <a:solidFill>
                  <a:srgbClr val="161A3E"/>
                </a:solidFill>
                <a:latin typeface="Calibri"/>
              </a:rPr>
              <a:t>Text</a:t>
            </a:r>
          </a:p>
        </p:txBody>
      </p:sp>
      <p:sp>
        <p:nvSpPr>
          <p:cNvPr id="9" name="Rounded Rectangle 8"/>
          <p:cNvSpPr/>
          <p:nvPr/>
        </p:nvSpPr>
        <p:spPr>
          <a:xfrm>
            <a:off x="3425026" y="2321781"/>
            <a:ext cx="1783080" cy="1005840"/>
          </a:xfrm>
          <a:prstGeom prst="roundRect">
            <a:avLst/>
          </a:prstGeom>
          <a:solidFill>
            <a:srgbClr val="5B9BD5"/>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9890" y="2422364"/>
            <a:ext cx="1673352" cy="804672"/>
          </a:xfrm>
          <a:prstGeom prst="rect">
            <a:avLst/>
          </a:prstGeom>
          <a:noFill/>
        </p:spPr>
        <p:txBody>
          <a:bodyPr wrap="square" lIns="18288" tIns="18288" rIns="18288" bIns="18288" anchor="ctr">
            <a:noAutofit/>
          </a:bodyPr>
          <a:lstStyle/>
          <a:p>
            <a:pPr algn="ctr"/>
            <a:r>
              <a:rPr sz="1600" b="1" i="0">
                <a:solidFill>
                  <a:srgbClr val="FFFFFF"/>
                </a:solidFill>
                <a:latin typeface="Calibri"/>
              </a:rPr>
              <a:t>Tokenizer</a:t>
            </a:r>
          </a:p>
        </p:txBody>
      </p:sp>
      <p:sp>
        <p:nvSpPr>
          <p:cNvPr id="11" name="Rounded Rectangle 10"/>
          <p:cNvSpPr/>
          <p:nvPr/>
        </p:nvSpPr>
        <p:spPr>
          <a:xfrm>
            <a:off x="5985346" y="2321781"/>
            <a:ext cx="1783080" cy="1005840"/>
          </a:xfrm>
          <a:prstGeom prst="roundRect">
            <a:avLst/>
          </a:prstGeom>
          <a:solidFill>
            <a:srgbClr val="4472C4"/>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40209" y="2422364"/>
            <a:ext cx="1673352" cy="804672"/>
          </a:xfrm>
          <a:prstGeom prst="rect">
            <a:avLst/>
          </a:prstGeom>
          <a:noFill/>
        </p:spPr>
        <p:txBody>
          <a:bodyPr wrap="square" lIns="18288" tIns="18288" rIns="18288" bIns="18288" anchor="ctr">
            <a:noAutofit/>
          </a:bodyPr>
          <a:lstStyle/>
          <a:p>
            <a:pPr algn="ctr"/>
            <a:r>
              <a:rPr sz="1600" b="1" i="0">
                <a:solidFill>
                  <a:srgbClr val="FFFFFF"/>
                </a:solidFill>
                <a:latin typeface="Calibri"/>
              </a:rPr>
              <a:t>Embedding model</a:t>
            </a:r>
          </a:p>
        </p:txBody>
      </p:sp>
      <p:sp>
        <p:nvSpPr>
          <p:cNvPr id="13" name="Rounded Rectangle 12"/>
          <p:cNvSpPr/>
          <p:nvPr/>
        </p:nvSpPr>
        <p:spPr>
          <a:xfrm>
            <a:off x="8545666" y="2321781"/>
            <a:ext cx="2514600" cy="1005840"/>
          </a:xfrm>
          <a:prstGeom prst="roundRect">
            <a:avLst/>
          </a:prstGeom>
          <a:solidFill>
            <a:srgbClr val="161A3E"/>
          </a:solidFill>
          <a:ln w="12700">
            <a:solidFill>
              <a:srgbClr val="161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00530" y="2422364"/>
            <a:ext cx="2404872" cy="804672"/>
          </a:xfrm>
          <a:prstGeom prst="rect">
            <a:avLst/>
          </a:prstGeom>
          <a:noFill/>
        </p:spPr>
        <p:txBody>
          <a:bodyPr wrap="square" lIns="18288" tIns="18288" rIns="18288" bIns="18288" anchor="ctr">
            <a:noAutofit/>
          </a:bodyPr>
          <a:lstStyle/>
          <a:p>
            <a:pPr algn="ctr"/>
            <a:r>
              <a:rPr sz="1600" b="1" i="0">
                <a:solidFill>
                  <a:srgbClr val="FFFFFF"/>
                </a:solidFill>
                <a:latin typeface="Calibri"/>
              </a:rPr>
              <a:t>[0.12, -0.34, …]</a:t>
            </a:r>
          </a:p>
        </p:txBody>
      </p:sp>
      <p:sp>
        <p:nvSpPr>
          <p:cNvPr id="15" name="TextBox 14"/>
          <p:cNvSpPr txBox="1"/>
          <p:nvPr/>
        </p:nvSpPr>
        <p:spPr>
          <a:xfrm>
            <a:off x="955746" y="3657600"/>
            <a:ext cx="10287000" cy="320040"/>
          </a:xfrm>
          <a:prstGeom prst="rect">
            <a:avLst/>
          </a:prstGeom>
          <a:noFill/>
        </p:spPr>
        <p:txBody>
          <a:bodyPr wrap="square" lIns="0" tIns="0" rIns="0" bIns="0" anchor="t">
            <a:noAutofit/>
          </a:bodyPr>
          <a:lstStyle/>
          <a:p>
            <a:pPr algn="ctr"/>
            <a:r>
              <a:rPr sz="2000" b="1" i="0" dirty="0">
                <a:solidFill>
                  <a:srgbClr val="161A3E"/>
                </a:solidFill>
                <a:latin typeface="Calibri"/>
              </a:rPr>
              <a:t>Key idea: the same model must embed both documents and queries, otherwise their coordinates are not comparable.</a:t>
            </a:r>
          </a:p>
        </p:txBody>
      </p:sp>
      <p:sp>
        <p:nvSpPr>
          <p:cNvPr id="16" name="Rounded Rectangle 15"/>
          <p:cNvSpPr/>
          <p:nvPr/>
        </p:nvSpPr>
        <p:spPr>
          <a:xfrm>
            <a:off x="979998" y="4373217"/>
            <a:ext cx="3108960" cy="1005840"/>
          </a:xfrm>
          <a:prstGeom prst="roundRect">
            <a:avLst/>
          </a:prstGeom>
          <a:solidFill>
            <a:srgbClr val="FFFFFF"/>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89726" y="4482945"/>
            <a:ext cx="2889504" cy="292608"/>
          </a:xfrm>
          <a:prstGeom prst="rect">
            <a:avLst/>
          </a:prstGeom>
          <a:noFill/>
        </p:spPr>
        <p:txBody>
          <a:bodyPr wrap="square" lIns="18288" tIns="18288" rIns="18288" bIns="18288" anchor="t">
            <a:noAutofit/>
          </a:bodyPr>
          <a:lstStyle/>
          <a:p>
            <a:pPr algn="ctr"/>
            <a:r>
              <a:rPr sz="1600" b="1" i="0">
                <a:solidFill>
                  <a:srgbClr val="161A3E"/>
                </a:solidFill>
                <a:latin typeface="Calibri"/>
              </a:rPr>
              <a:t>Tokenization</a:t>
            </a:r>
          </a:p>
        </p:txBody>
      </p:sp>
      <p:sp>
        <p:nvSpPr>
          <p:cNvPr id="18" name="TextBox 17"/>
          <p:cNvSpPr txBox="1"/>
          <p:nvPr/>
        </p:nvSpPr>
        <p:spPr>
          <a:xfrm>
            <a:off x="1089726" y="4866993"/>
            <a:ext cx="2889504" cy="438912"/>
          </a:xfrm>
          <a:prstGeom prst="rect">
            <a:avLst/>
          </a:prstGeom>
          <a:noFill/>
        </p:spPr>
        <p:txBody>
          <a:bodyPr wrap="square" lIns="18288" tIns="18288" rIns="18288" bIns="18288" anchor="t">
            <a:noAutofit/>
          </a:bodyPr>
          <a:lstStyle/>
          <a:p>
            <a:pPr algn="ctr"/>
            <a:r>
              <a:rPr sz="1400" b="0" i="0">
                <a:solidFill>
                  <a:srgbClr val="44546A"/>
                </a:solidFill>
                <a:latin typeface="Calibri"/>
              </a:rPr>
              <a:t>Text is split into model-readable pieces.</a:t>
            </a:r>
          </a:p>
        </p:txBody>
      </p:sp>
      <p:sp>
        <p:nvSpPr>
          <p:cNvPr id="19" name="Rounded Rectangle 18"/>
          <p:cNvSpPr/>
          <p:nvPr/>
        </p:nvSpPr>
        <p:spPr>
          <a:xfrm>
            <a:off x="4546158" y="4373217"/>
            <a:ext cx="3108960" cy="1005840"/>
          </a:xfrm>
          <a:prstGeom prst="roundRect">
            <a:avLst/>
          </a:prstGeom>
          <a:solidFill>
            <a:srgbClr val="FFFFFF"/>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655886" y="4482945"/>
            <a:ext cx="2889504" cy="292608"/>
          </a:xfrm>
          <a:prstGeom prst="rect">
            <a:avLst/>
          </a:prstGeom>
          <a:noFill/>
        </p:spPr>
        <p:txBody>
          <a:bodyPr wrap="square" lIns="18288" tIns="18288" rIns="18288" bIns="18288" anchor="t">
            <a:noAutofit/>
          </a:bodyPr>
          <a:lstStyle/>
          <a:p>
            <a:pPr algn="ctr"/>
            <a:r>
              <a:rPr sz="1600" b="1" i="0">
                <a:solidFill>
                  <a:srgbClr val="161A3E"/>
                </a:solidFill>
                <a:latin typeface="Calibri"/>
              </a:rPr>
              <a:t>Forward pass</a:t>
            </a:r>
          </a:p>
        </p:txBody>
      </p:sp>
      <p:sp>
        <p:nvSpPr>
          <p:cNvPr id="21" name="TextBox 20"/>
          <p:cNvSpPr txBox="1"/>
          <p:nvPr/>
        </p:nvSpPr>
        <p:spPr>
          <a:xfrm>
            <a:off x="4655886" y="4866993"/>
            <a:ext cx="2889504" cy="438912"/>
          </a:xfrm>
          <a:prstGeom prst="rect">
            <a:avLst/>
          </a:prstGeom>
          <a:noFill/>
        </p:spPr>
        <p:txBody>
          <a:bodyPr wrap="square" lIns="18288" tIns="18288" rIns="18288" bIns="18288" anchor="t">
            <a:noAutofit/>
          </a:bodyPr>
          <a:lstStyle/>
          <a:p>
            <a:pPr algn="ctr"/>
            <a:r>
              <a:rPr sz="1400" b="0" i="0">
                <a:solidFill>
                  <a:srgbClr val="44546A"/>
                </a:solidFill>
                <a:latin typeface="Calibri"/>
              </a:rPr>
              <a:t>The model compresses meaning into numbers.</a:t>
            </a:r>
          </a:p>
        </p:txBody>
      </p:sp>
      <p:sp>
        <p:nvSpPr>
          <p:cNvPr id="22" name="Rounded Rectangle 21"/>
          <p:cNvSpPr/>
          <p:nvPr/>
        </p:nvSpPr>
        <p:spPr>
          <a:xfrm>
            <a:off x="8112318" y="4373217"/>
            <a:ext cx="3108960" cy="1005840"/>
          </a:xfrm>
          <a:prstGeom prst="roundRect">
            <a:avLst/>
          </a:prstGeom>
          <a:solidFill>
            <a:srgbClr val="FFFFFF"/>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2045" y="4482945"/>
            <a:ext cx="2889504" cy="292608"/>
          </a:xfrm>
          <a:prstGeom prst="rect">
            <a:avLst/>
          </a:prstGeom>
          <a:noFill/>
        </p:spPr>
        <p:txBody>
          <a:bodyPr wrap="square" lIns="18288" tIns="18288" rIns="18288" bIns="18288" anchor="t">
            <a:noAutofit/>
          </a:bodyPr>
          <a:lstStyle/>
          <a:p>
            <a:pPr algn="ctr"/>
            <a:r>
              <a:rPr sz="1600" b="1" i="0">
                <a:solidFill>
                  <a:srgbClr val="161A3E"/>
                </a:solidFill>
                <a:latin typeface="Calibri"/>
              </a:rPr>
              <a:t>Vector output</a:t>
            </a:r>
          </a:p>
        </p:txBody>
      </p:sp>
      <p:sp>
        <p:nvSpPr>
          <p:cNvPr id="24" name="TextBox 23"/>
          <p:cNvSpPr txBox="1"/>
          <p:nvPr/>
        </p:nvSpPr>
        <p:spPr>
          <a:xfrm>
            <a:off x="8222045" y="4866993"/>
            <a:ext cx="2889504" cy="438912"/>
          </a:xfrm>
          <a:prstGeom prst="rect">
            <a:avLst/>
          </a:prstGeom>
          <a:noFill/>
        </p:spPr>
        <p:txBody>
          <a:bodyPr wrap="square" lIns="18288" tIns="18288" rIns="18288" bIns="18288" anchor="t">
            <a:noAutofit/>
          </a:bodyPr>
          <a:lstStyle/>
          <a:p>
            <a:pPr algn="ctr"/>
            <a:r>
              <a:rPr sz="1400" b="0" i="0">
                <a:solidFill>
                  <a:srgbClr val="44546A"/>
                </a:solidFill>
                <a:latin typeface="Calibri"/>
              </a:rPr>
              <a:t>Similarity search compares those numbers.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a:solidFill>
                  <a:srgbClr val="161A3E"/>
                </a:solidFill>
                <a:latin typeface="Calibri"/>
              </a:rPr>
              <a:t>Similar sentences cluster even when wording changes</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8070" y="1783080"/>
            <a:ext cx="10241280" cy="320040"/>
          </a:xfrm>
          <a:prstGeom prst="rect">
            <a:avLst/>
          </a:prstGeom>
          <a:noFill/>
        </p:spPr>
        <p:txBody>
          <a:bodyPr wrap="square" lIns="0" tIns="0" rIns="0" bIns="0" anchor="t">
            <a:noAutofit/>
          </a:bodyPr>
          <a:lstStyle/>
          <a:p>
            <a:pPr algn="l"/>
            <a:r>
              <a:rPr sz="2000" b="1" i="0" dirty="0">
                <a:solidFill>
                  <a:srgbClr val="161A3E"/>
                </a:solidFill>
                <a:latin typeface="Calibri"/>
              </a:rPr>
              <a:t>This is the behavior we want from a semantic search system:</a:t>
            </a:r>
          </a:p>
        </p:txBody>
      </p:sp>
      <p:sp>
        <p:nvSpPr>
          <p:cNvPr id="5" name="Rounded Rectangle 4"/>
          <p:cNvSpPr/>
          <p:nvPr/>
        </p:nvSpPr>
        <p:spPr>
          <a:xfrm>
            <a:off x="868680" y="2421171"/>
            <a:ext cx="3246120" cy="1828800"/>
          </a:xfrm>
          <a:prstGeom prst="roundRect">
            <a:avLst/>
          </a:prstGeom>
          <a:solidFill>
            <a:srgbClr val="FFFFFF"/>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68680" y="2421171"/>
            <a:ext cx="3246120" cy="420624"/>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41832" y="2494323"/>
            <a:ext cx="3099815" cy="256032"/>
          </a:xfrm>
          <a:prstGeom prst="rect">
            <a:avLst/>
          </a:prstGeom>
          <a:noFill/>
        </p:spPr>
        <p:txBody>
          <a:bodyPr wrap="square" lIns="0" tIns="0" rIns="0" bIns="0" anchor="t">
            <a:noAutofit/>
          </a:bodyPr>
          <a:lstStyle/>
          <a:p>
            <a:pPr algn="l"/>
            <a:r>
              <a:rPr sz="1600" b="1" i="0">
                <a:solidFill>
                  <a:srgbClr val="FFFFFF"/>
                </a:solidFill>
                <a:latin typeface="Calibri"/>
              </a:rPr>
              <a:t>Login cluster</a:t>
            </a:r>
          </a:p>
        </p:txBody>
      </p:sp>
      <p:sp>
        <p:nvSpPr>
          <p:cNvPr id="8" name="TextBox 7"/>
          <p:cNvSpPr txBox="1"/>
          <p:nvPr/>
        </p:nvSpPr>
        <p:spPr>
          <a:xfrm>
            <a:off x="978407" y="2933235"/>
            <a:ext cx="3026663" cy="1261872"/>
          </a:xfrm>
          <a:prstGeom prst="rect">
            <a:avLst/>
          </a:prstGeom>
          <a:noFill/>
        </p:spPr>
        <p:txBody>
          <a:bodyPr wrap="square" lIns="18288" tIns="18288" rIns="18288" bIns="18288" anchor="t">
            <a:noAutofit/>
          </a:bodyPr>
          <a:lstStyle/>
          <a:p>
            <a:pPr algn="l"/>
            <a:r>
              <a:rPr sz="1700" b="0" i="0">
                <a:solidFill>
                  <a:srgbClr val="44546A"/>
                </a:solidFill>
                <a:latin typeface="Calibri"/>
              </a:rPr>
              <a:t>“reset my password”</a:t>
            </a:r>
            <a:br/>
            <a:r>
              <a:rPr sz="1700" b="0" i="0">
                <a:solidFill>
                  <a:srgbClr val="44546A"/>
                </a:solidFill>
                <a:latin typeface="Calibri"/>
              </a:rPr>
              <a:t>“recover my account”</a:t>
            </a:r>
            <a:br/>
            <a:r>
              <a:rPr sz="1700" b="0" i="0">
                <a:solidFill>
                  <a:srgbClr val="44546A"/>
                </a:solidFill>
                <a:latin typeface="Calibri"/>
              </a:rPr>
              <a:t>“can’t sign in”</a:t>
            </a:r>
          </a:p>
        </p:txBody>
      </p:sp>
      <p:sp>
        <p:nvSpPr>
          <p:cNvPr id="9" name="Rounded Rectangle 8"/>
          <p:cNvSpPr/>
          <p:nvPr/>
        </p:nvSpPr>
        <p:spPr>
          <a:xfrm>
            <a:off x="4526280" y="2421171"/>
            <a:ext cx="3246120" cy="1828800"/>
          </a:xfrm>
          <a:prstGeom prst="roundRect">
            <a:avLst/>
          </a:prstGeom>
          <a:solidFill>
            <a:srgbClr val="FFFFFF"/>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526280" y="2421171"/>
            <a:ext cx="3246120" cy="420624"/>
          </a:xfrm>
          <a:prstGeom prst="round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99432" y="2494323"/>
            <a:ext cx="3099815" cy="256032"/>
          </a:xfrm>
          <a:prstGeom prst="rect">
            <a:avLst/>
          </a:prstGeom>
          <a:noFill/>
        </p:spPr>
        <p:txBody>
          <a:bodyPr wrap="square" lIns="0" tIns="0" rIns="0" bIns="0" anchor="t">
            <a:noAutofit/>
          </a:bodyPr>
          <a:lstStyle/>
          <a:p>
            <a:pPr algn="l"/>
            <a:r>
              <a:rPr sz="1600" b="1" i="0">
                <a:solidFill>
                  <a:srgbClr val="FFFFFF"/>
                </a:solidFill>
                <a:latin typeface="Calibri"/>
              </a:rPr>
              <a:t>Billing cluster</a:t>
            </a:r>
          </a:p>
        </p:txBody>
      </p:sp>
      <p:sp>
        <p:nvSpPr>
          <p:cNvPr id="12" name="TextBox 11"/>
          <p:cNvSpPr txBox="1"/>
          <p:nvPr/>
        </p:nvSpPr>
        <p:spPr>
          <a:xfrm>
            <a:off x="4636008" y="2933235"/>
            <a:ext cx="3026663" cy="1261872"/>
          </a:xfrm>
          <a:prstGeom prst="rect">
            <a:avLst/>
          </a:prstGeom>
          <a:noFill/>
        </p:spPr>
        <p:txBody>
          <a:bodyPr wrap="square" lIns="18288" tIns="18288" rIns="18288" bIns="18288" anchor="t">
            <a:noAutofit/>
          </a:bodyPr>
          <a:lstStyle/>
          <a:p>
            <a:pPr algn="l"/>
            <a:r>
              <a:rPr sz="1700" b="0" i="0">
                <a:solidFill>
                  <a:srgbClr val="44546A"/>
                </a:solidFill>
                <a:latin typeface="Calibri"/>
              </a:rPr>
              <a:t>“invoice is wrong”</a:t>
            </a:r>
            <a:br/>
            <a:r>
              <a:rPr sz="1700" b="0" i="0">
                <a:solidFill>
                  <a:srgbClr val="44546A"/>
                </a:solidFill>
                <a:latin typeface="Calibri"/>
              </a:rPr>
              <a:t>“charged twice”</a:t>
            </a:r>
            <a:br/>
            <a:r>
              <a:rPr sz="1700" b="0" i="0">
                <a:solidFill>
                  <a:srgbClr val="44546A"/>
                </a:solidFill>
                <a:latin typeface="Calibri"/>
              </a:rPr>
              <a:t>“payment reversal”</a:t>
            </a:r>
          </a:p>
        </p:txBody>
      </p:sp>
      <p:sp>
        <p:nvSpPr>
          <p:cNvPr id="13" name="Rounded Rectangle 12"/>
          <p:cNvSpPr/>
          <p:nvPr/>
        </p:nvSpPr>
        <p:spPr>
          <a:xfrm>
            <a:off x="8183879" y="2421171"/>
            <a:ext cx="3246120" cy="1828800"/>
          </a:xfrm>
          <a:prstGeom prst="roundRect">
            <a:avLst/>
          </a:prstGeom>
          <a:solidFill>
            <a:srgbClr val="FFFFFF"/>
          </a:solidFill>
          <a:ln w="12700">
            <a:solidFill>
              <a:srgbClr val="161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183879" y="2421171"/>
            <a:ext cx="3246120" cy="420624"/>
          </a:xfrm>
          <a:prstGeom prst="round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57031" y="2494323"/>
            <a:ext cx="3099815" cy="256032"/>
          </a:xfrm>
          <a:prstGeom prst="rect">
            <a:avLst/>
          </a:prstGeom>
          <a:noFill/>
        </p:spPr>
        <p:txBody>
          <a:bodyPr wrap="square" lIns="0" tIns="0" rIns="0" bIns="0" anchor="t">
            <a:noAutofit/>
          </a:bodyPr>
          <a:lstStyle/>
          <a:p>
            <a:pPr algn="l"/>
            <a:r>
              <a:rPr sz="1600" b="1" i="0">
                <a:solidFill>
                  <a:srgbClr val="FFFFFF"/>
                </a:solidFill>
                <a:latin typeface="Calibri"/>
              </a:rPr>
              <a:t>Device cluster</a:t>
            </a:r>
          </a:p>
        </p:txBody>
      </p:sp>
      <p:sp>
        <p:nvSpPr>
          <p:cNvPr id="16" name="TextBox 15"/>
          <p:cNvSpPr txBox="1"/>
          <p:nvPr/>
        </p:nvSpPr>
        <p:spPr>
          <a:xfrm>
            <a:off x="8293607" y="2933235"/>
            <a:ext cx="3026663" cy="1261872"/>
          </a:xfrm>
          <a:prstGeom prst="rect">
            <a:avLst/>
          </a:prstGeom>
          <a:noFill/>
        </p:spPr>
        <p:txBody>
          <a:bodyPr wrap="square" lIns="18288" tIns="18288" rIns="18288" bIns="18288" anchor="t">
            <a:noAutofit/>
          </a:bodyPr>
          <a:lstStyle/>
          <a:p>
            <a:pPr algn="l"/>
            <a:r>
              <a:rPr sz="1700" b="0" i="0">
                <a:solidFill>
                  <a:srgbClr val="44546A"/>
                </a:solidFill>
                <a:latin typeface="Calibri"/>
              </a:rPr>
              <a:t>“router keeps dropping”</a:t>
            </a:r>
            <a:br/>
            <a:r>
              <a:rPr sz="1700" b="0" i="0">
                <a:solidFill>
                  <a:srgbClr val="44546A"/>
                </a:solidFill>
                <a:latin typeface="Calibri"/>
              </a:rPr>
              <a:t>“network outage”</a:t>
            </a:r>
            <a:br/>
            <a:r>
              <a:rPr sz="1700" b="0" i="0">
                <a:solidFill>
                  <a:srgbClr val="44546A"/>
                </a:solidFill>
                <a:latin typeface="Calibri"/>
              </a:rPr>
              <a:t>“no internet signal”</a:t>
            </a:r>
          </a:p>
        </p:txBody>
      </p:sp>
      <p:sp>
        <p:nvSpPr>
          <p:cNvPr id="17" name="TextBox 16"/>
          <p:cNvSpPr txBox="1"/>
          <p:nvPr/>
        </p:nvSpPr>
        <p:spPr>
          <a:xfrm>
            <a:off x="1097280" y="4800600"/>
            <a:ext cx="9875520" cy="566928"/>
          </a:xfrm>
          <a:prstGeom prst="rect">
            <a:avLst/>
          </a:prstGeom>
          <a:noFill/>
        </p:spPr>
        <p:txBody>
          <a:bodyPr wrap="square" lIns="0" tIns="0" rIns="0" bIns="0" anchor="t">
            <a:noAutofit/>
          </a:bodyPr>
          <a:lstStyle/>
          <a:p>
            <a:pPr algn="ctr"/>
            <a:r>
              <a:rPr sz="2100" b="1" i="0">
                <a:solidFill>
                  <a:srgbClr val="161A3E"/>
                </a:solidFill>
                <a:latin typeface="Calibri"/>
              </a:rPr>
              <a:t>Embedding quality shows up as retrieval quality: the nearest neighbors should match the user’s intent, not just the user’s words.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a:solidFill>
                  <a:srgbClr val="161A3E"/>
                </a:solidFill>
                <a:latin typeface="Calibri"/>
              </a:rPr>
              <a:t>Embedding dimensions are useful, but not directly interpretable</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783080"/>
            <a:ext cx="5074920" cy="365760"/>
          </a:xfrm>
          <a:prstGeom prst="rect">
            <a:avLst/>
          </a:prstGeom>
          <a:noFill/>
        </p:spPr>
        <p:txBody>
          <a:bodyPr wrap="square" lIns="0" tIns="0" rIns="0" bIns="0" anchor="t">
            <a:noAutofit/>
          </a:bodyPr>
          <a:lstStyle/>
          <a:p>
            <a:pPr algn="l"/>
            <a:r>
              <a:rPr sz="2200" b="1" i="0">
                <a:solidFill>
                  <a:srgbClr val="161A3E"/>
                </a:solidFill>
                <a:latin typeface="Calibri"/>
              </a:rPr>
              <a:t>What a vector looks like</a:t>
            </a:r>
          </a:p>
        </p:txBody>
      </p:sp>
      <p:sp>
        <p:nvSpPr>
          <p:cNvPr id="5" name="Rounded Rectangle 4"/>
          <p:cNvSpPr/>
          <p:nvPr/>
        </p:nvSpPr>
        <p:spPr>
          <a:xfrm>
            <a:off x="868680" y="2331720"/>
            <a:ext cx="5074920" cy="960120"/>
          </a:xfrm>
          <a:prstGeom prst="roundRect">
            <a:avLst/>
          </a:prstGeom>
          <a:solidFill>
            <a:srgbClr val="161A3E"/>
          </a:solidFill>
          <a:ln w="12700">
            <a:solidFill>
              <a:srgbClr val="161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2615184"/>
            <a:ext cx="4800600" cy="256032"/>
          </a:xfrm>
          <a:prstGeom prst="rect">
            <a:avLst/>
          </a:prstGeom>
          <a:noFill/>
        </p:spPr>
        <p:txBody>
          <a:bodyPr wrap="square" lIns="0" tIns="0" rIns="0" bIns="0" anchor="t">
            <a:noAutofit/>
          </a:bodyPr>
          <a:lstStyle/>
          <a:p>
            <a:pPr algn="ctr"/>
            <a:r>
              <a:rPr sz="1900" b="1" i="0" dirty="0">
                <a:solidFill>
                  <a:srgbClr val="FFFFFF"/>
                </a:solidFill>
                <a:latin typeface="Consolas"/>
              </a:rPr>
              <a:t>[ 0.12, -0.34, 0.88, …, -0.07 ]</a:t>
            </a:r>
          </a:p>
        </p:txBody>
      </p:sp>
      <p:sp>
        <p:nvSpPr>
          <p:cNvPr id="7" name="Rounded Rectangle 6"/>
          <p:cNvSpPr/>
          <p:nvPr/>
        </p:nvSpPr>
        <p:spPr>
          <a:xfrm>
            <a:off x="868680" y="3766929"/>
            <a:ext cx="2331720" cy="1344168"/>
          </a:xfrm>
          <a:prstGeom prst="roundRect">
            <a:avLst/>
          </a:prstGeom>
          <a:solidFill>
            <a:srgbClr val="FFFFFF"/>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8407" y="3926352"/>
            <a:ext cx="2112263" cy="292608"/>
          </a:xfrm>
          <a:prstGeom prst="rect">
            <a:avLst/>
          </a:prstGeom>
          <a:noFill/>
        </p:spPr>
        <p:txBody>
          <a:bodyPr wrap="square" lIns="18288" tIns="18288" rIns="18288" bIns="18288" anchor="t">
            <a:noAutofit/>
          </a:bodyPr>
          <a:lstStyle/>
          <a:p>
            <a:pPr algn="l"/>
            <a:r>
              <a:rPr sz="1400" b="1" i="0" dirty="0">
                <a:solidFill>
                  <a:srgbClr val="161A3E"/>
                </a:solidFill>
                <a:latin typeface="Calibri"/>
              </a:rPr>
              <a:t>Not a manual feature list</a:t>
            </a:r>
          </a:p>
        </p:txBody>
      </p:sp>
      <p:sp>
        <p:nvSpPr>
          <p:cNvPr id="9" name="TextBox 8"/>
          <p:cNvSpPr txBox="1"/>
          <p:nvPr/>
        </p:nvSpPr>
        <p:spPr>
          <a:xfrm>
            <a:off x="978407" y="4353339"/>
            <a:ext cx="2112263" cy="757758"/>
          </a:xfrm>
          <a:prstGeom prst="rect">
            <a:avLst/>
          </a:prstGeom>
          <a:noFill/>
        </p:spPr>
        <p:txBody>
          <a:bodyPr wrap="square" lIns="18288" tIns="18288" rIns="18288" bIns="18288" anchor="t">
            <a:noAutofit/>
          </a:bodyPr>
          <a:lstStyle/>
          <a:p>
            <a:pPr algn="l"/>
            <a:r>
              <a:rPr sz="1400" b="0" i="0" dirty="0">
                <a:solidFill>
                  <a:srgbClr val="44546A"/>
                </a:solidFill>
                <a:latin typeface="Calibri"/>
              </a:rPr>
              <a:t>Dimension 17 is not simply “billing” or “refund”.</a:t>
            </a:r>
          </a:p>
        </p:txBody>
      </p:sp>
      <p:sp>
        <p:nvSpPr>
          <p:cNvPr id="10" name="Rounded Rectangle 9"/>
          <p:cNvSpPr/>
          <p:nvPr/>
        </p:nvSpPr>
        <p:spPr>
          <a:xfrm>
            <a:off x="3429000" y="3766929"/>
            <a:ext cx="2514600" cy="1344168"/>
          </a:xfrm>
          <a:prstGeom prst="roundRect">
            <a:avLst/>
          </a:prstGeom>
          <a:solidFill>
            <a:srgbClr val="FFFFFF"/>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538728" y="3926352"/>
            <a:ext cx="2295144" cy="292608"/>
          </a:xfrm>
          <a:prstGeom prst="rect">
            <a:avLst/>
          </a:prstGeom>
          <a:noFill/>
        </p:spPr>
        <p:txBody>
          <a:bodyPr wrap="square" lIns="18288" tIns="18288" rIns="18288" bIns="18288" anchor="t">
            <a:noAutofit/>
          </a:bodyPr>
          <a:lstStyle/>
          <a:p>
            <a:pPr algn="l"/>
            <a:r>
              <a:rPr sz="1400" b="1" i="0">
                <a:solidFill>
                  <a:srgbClr val="161A3E"/>
                </a:solidFill>
                <a:latin typeface="Calibri"/>
              </a:rPr>
              <a:t>A learned coordinate system</a:t>
            </a:r>
          </a:p>
        </p:txBody>
      </p:sp>
      <p:sp>
        <p:nvSpPr>
          <p:cNvPr id="12" name="TextBox 11"/>
          <p:cNvSpPr txBox="1"/>
          <p:nvPr/>
        </p:nvSpPr>
        <p:spPr>
          <a:xfrm>
            <a:off x="3538728" y="4353338"/>
            <a:ext cx="2295144" cy="757759"/>
          </a:xfrm>
          <a:prstGeom prst="rect">
            <a:avLst/>
          </a:prstGeom>
          <a:noFill/>
        </p:spPr>
        <p:txBody>
          <a:bodyPr wrap="square" lIns="18288" tIns="18288" rIns="18288" bIns="18288" anchor="t">
            <a:noAutofit/>
          </a:bodyPr>
          <a:lstStyle/>
          <a:p>
            <a:pPr algn="l"/>
            <a:r>
              <a:rPr sz="1400" b="0" i="0" dirty="0">
                <a:solidFill>
                  <a:srgbClr val="44546A"/>
                </a:solidFill>
                <a:latin typeface="Calibri"/>
              </a:rPr>
              <a:t>The model learns useful directions from data.</a:t>
            </a:r>
          </a:p>
        </p:txBody>
      </p:sp>
      <p:sp>
        <p:nvSpPr>
          <p:cNvPr id="13" name="TextBox 12"/>
          <p:cNvSpPr txBox="1"/>
          <p:nvPr/>
        </p:nvSpPr>
        <p:spPr>
          <a:xfrm>
            <a:off x="6400800" y="1783080"/>
            <a:ext cx="4663440" cy="365760"/>
          </a:xfrm>
          <a:prstGeom prst="rect">
            <a:avLst/>
          </a:prstGeom>
          <a:noFill/>
        </p:spPr>
        <p:txBody>
          <a:bodyPr wrap="square" lIns="0" tIns="0" rIns="0" bIns="0" anchor="t">
            <a:noAutofit/>
          </a:bodyPr>
          <a:lstStyle/>
          <a:p>
            <a:pPr algn="l"/>
            <a:r>
              <a:rPr sz="2200" b="1" i="0">
                <a:solidFill>
                  <a:srgbClr val="161A3E"/>
                </a:solidFill>
                <a:latin typeface="Calibri"/>
              </a:rPr>
              <a:t>What matters operationally</a:t>
            </a:r>
          </a:p>
        </p:txBody>
      </p:sp>
      <p:sp>
        <p:nvSpPr>
          <p:cNvPr id="14" name="TextBox 13"/>
          <p:cNvSpPr txBox="1"/>
          <p:nvPr/>
        </p:nvSpPr>
        <p:spPr>
          <a:xfrm>
            <a:off x="6446520" y="2377440"/>
            <a:ext cx="228600" cy="256032"/>
          </a:xfrm>
          <a:prstGeom prst="rect">
            <a:avLst/>
          </a:prstGeom>
          <a:noFill/>
        </p:spPr>
        <p:txBody>
          <a:bodyPr wrap="square" lIns="0" tIns="0" rIns="0" bIns="0" anchor="t">
            <a:noAutofit/>
          </a:bodyPr>
          <a:lstStyle/>
          <a:p>
            <a:pPr algn="ctr"/>
            <a:r>
              <a:rPr sz="1900" b="1" i="0">
                <a:solidFill>
                  <a:srgbClr val="4472C4"/>
                </a:solidFill>
                <a:latin typeface="Calibri"/>
              </a:rPr>
              <a:t>•</a:t>
            </a:r>
          </a:p>
        </p:txBody>
      </p:sp>
      <p:sp>
        <p:nvSpPr>
          <p:cNvPr id="15" name="TextBox 14"/>
          <p:cNvSpPr txBox="1"/>
          <p:nvPr/>
        </p:nvSpPr>
        <p:spPr>
          <a:xfrm>
            <a:off x="6739128" y="2377440"/>
            <a:ext cx="4279392" cy="310896"/>
          </a:xfrm>
          <a:prstGeom prst="rect">
            <a:avLst/>
          </a:prstGeom>
          <a:noFill/>
        </p:spPr>
        <p:txBody>
          <a:bodyPr wrap="square" lIns="18288" tIns="18288" rIns="18288" bIns="18288" anchor="t">
            <a:noAutofit/>
          </a:bodyPr>
          <a:lstStyle/>
          <a:p>
            <a:pPr algn="l"/>
            <a:r>
              <a:rPr sz="1700" b="0" i="0">
                <a:solidFill>
                  <a:srgbClr val="161A3E"/>
                </a:solidFill>
                <a:latin typeface="Calibri"/>
              </a:rPr>
              <a:t>Vectors from different models are not interchangeable.</a:t>
            </a:r>
          </a:p>
        </p:txBody>
      </p:sp>
      <p:sp>
        <p:nvSpPr>
          <p:cNvPr id="16" name="TextBox 15"/>
          <p:cNvSpPr txBox="1"/>
          <p:nvPr/>
        </p:nvSpPr>
        <p:spPr>
          <a:xfrm>
            <a:off x="6446520" y="2907792"/>
            <a:ext cx="228600" cy="256032"/>
          </a:xfrm>
          <a:prstGeom prst="rect">
            <a:avLst/>
          </a:prstGeom>
          <a:noFill/>
        </p:spPr>
        <p:txBody>
          <a:bodyPr wrap="square" lIns="0" tIns="0" rIns="0" bIns="0" anchor="t">
            <a:noAutofit/>
          </a:bodyPr>
          <a:lstStyle/>
          <a:p>
            <a:pPr algn="ctr"/>
            <a:r>
              <a:rPr sz="1900" b="1" i="0">
                <a:solidFill>
                  <a:srgbClr val="4472C4"/>
                </a:solidFill>
                <a:latin typeface="Calibri"/>
              </a:rPr>
              <a:t>•</a:t>
            </a:r>
          </a:p>
        </p:txBody>
      </p:sp>
      <p:sp>
        <p:nvSpPr>
          <p:cNvPr id="17" name="TextBox 16"/>
          <p:cNvSpPr txBox="1"/>
          <p:nvPr/>
        </p:nvSpPr>
        <p:spPr>
          <a:xfrm>
            <a:off x="6739128" y="2907792"/>
            <a:ext cx="4279392" cy="310896"/>
          </a:xfrm>
          <a:prstGeom prst="rect">
            <a:avLst/>
          </a:prstGeom>
          <a:noFill/>
        </p:spPr>
        <p:txBody>
          <a:bodyPr wrap="square" lIns="18288" tIns="18288" rIns="18288" bIns="18288" anchor="t">
            <a:noAutofit/>
          </a:bodyPr>
          <a:lstStyle/>
          <a:p>
            <a:pPr algn="l"/>
            <a:r>
              <a:rPr sz="1700" b="0" i="0">
                <a:solidFill>
                  <a:srgbClr val="161A3E"/>
                </a:solidFill>
                <a:latin typeface="Calibri"/>
              </a:rPr>
              <a:t>Higher dimension can store more signal, but also costs more storage.</a:t>
            </a:r>
          </a:p>
        </p:txBody>
      </p:sp>
      <p:sp>
        <p:nvSpPr>
          <p:cNvPr id="18" name="TextBox 17"/>
          <p:cNvSpPr txBox="1"/>
          <p:nvPr/>
        </p:nvSpPr>
        <p:spPr>
          <a:xfrm>
            <a:off x="6446520" y="3438144"/>
            <a:ext cx="228600" cy="256032"/>
          </a:xfrm>
          <a:prstGeom prst="rect">
            <a:avLst/>
          </a:prstGeom>
          <a:noFill/>
        </p:spPr>
        <p:txBody>
          <a:bodyPr wrap="square" lIns="0" tIns="0" rIns="0" bIns="0" anchor="t">
            <a:noAutofit/>
          </a:bodyPr>
          <a:lstStyle/>
          <a:p>
            <a:pPr algn="ctr"/>
            <a:r>
              <a:rPr sz="1900" b="1" i="0">
                <a:solidFill>
                  <a:srgbClr val="4472C4"/>
                </a:solidFill>
                <a:latin typeface="Calibri"/>
              </a:rPr>
              <a:t>•</a:t>
            </a:r>
          </a:p>
        </p:txBody>
      </p:sp>
      <p:sp>
        <p:nvSpPr>
          <p:cNvPr id="19" name="TextBox 18"/>
          <p:cNvSpPr txBox="1"/>
          <p:nvPr/>
        </p:nvSpPr>
        <p:spPr>
          <a:xfrm>
            <a:off x="6739128" y="3438144"/>
            <a:ext cx="4279392" cy="310896"/>
          </a:xfrm>
          <a:prstGeom prst="rect">
            <a:avLst/>
          </a:prstGeom>
          <a:noFill/>
        </p:spPr>
        <p:txBody>
          <a:bodyPr wrap="square" lIns="18288" tIns="18288" rIns="18288" bIns="18288" anchor="t">
            <a:noAutofit/>
          </a:bodyPr>
          <a:lstStyle/>
          <a:p>
            <a:pPr algn="l"/>
            <a:r>
              <a:rPr sz="1700" b="0" i="0">
                <a:solidFill>
                  <a:srgbClr val="161A3E"/>
                </a:solidFill>
                <a:latin typeface="Calibri"/>
              </a:rPr>
              <a:t>The only real test is retrieval quality on your actual corpus.</a:t>
            </a:r>
          </a:p>
        </p:txBody>
      </p:sp>
      <p:sp>
        <p:nvSpPr>
          <p:cNvPr id="20" name="Rounded Rectangle 19"/>
          <p:cNvSpPr/>
          <p:nvPr/>
        </p:nvSpPr>
        <p:spPr>
          <a:xfrm>
            <a:off x="6446520" y="4480562"/>
            <a:ext cx="4526280" cy="995901"/>
          </a:xfrm>
          <a:prstGeom prst="roundRect">
            <a:avLst/>
          </a:prstGeom>
          <a:solidFill>
            <a:srgbClr val="D6E4F0"/>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56248" y="4590291"/>
            <a:ext cx="4306824" cy="292608"/>
          </a:xfrm>
          <a:prstGeom prst="rect">
            <a:avLst/>
          </a:prstGeom>
          <a:noFill/>
        </p:spPr>
        <p:txBody>
          <a:bodyPr wrap="square" lIns="18288" tIns="18288" rIns="18288" bIns="18288" anchor="t">
            <a:noAutofit/>
          </a:bodyPr>
          <a:lstStyle/>
          <a:p>
            <a:pPr algn="l"/>
            <a:r>
              <a:rPr sz="1500" b="1" i="0">
                <a:solidFill>
                  <a:srgbClr val="161A3E"/>
                </a:solidFill>
                <a:latin typeface="Calibri"/>
              </a:rPr>
              <a:t>MiniLM example</a:t>
            </a:r>
          </a:p>
        </p:txBody>
      </p:sp>
      <p:sp>
        <p:nvSpPr>
          <p:cNvPr id="22" name="TextBox 21"/>
          <p:cNvSpPr txBox="1"/>
          <p:nvPr/>
        </p:nvSpPr>
        <p:spPr>
          <a:xfrm>
            <a:off x="6556248" y="4974339"/>
            <a:ext cx="4306824" cy="182879"/>
          </a:xfrm>
          <a:prstGeom prst="rect">
            <a:avLst/>
          </a:prstGeom>
          <a:noFill/>
        </p:spPr>
        <p:txBody>
          <a:bodyPr wrap="square" lIns="18288" tIns="18288" rIns="18288" bIns="18288" anchor="t">
            <a:noAutofit/>
          </a:bodyPr>
          <a:lstStyle/>
          <a:p>
            <a:pPr algn="l"/>
            <a:r>
              <a:rPr sz="1300" b="0" i="0">
                <a:solidFill>
                  <a:srgbClr val="44546A"/>
                </a:solidFill>
                <a:latin typeface="Calibri"/>
              </a:rPr>
              <a:t>all-MiniLM-L6-v2 maps text into 384-dimensional dense vectors for semantic search.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a:solidFill>
                  <a:srgbClr val="161A3E"/>
                </a:solidFill>
                <a:latin typeface="Calibri"/>
              </a:rPr>
              <a:t>Three rules of the vector space</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28924" y="1965960"/>
            <a:ext cx="3246120" cy="2834640"/>
          </a:xfrm>
          <a:prstGeom prst="roundRect">
            <a:avLst/>
          </a:prstGeom>
          <a:solidFill>
            <a:srgbClr val="FFFFFF"/>
          </a:solidFill>
          <a:ln w="12700">
            <a:solidFill>
              <a:srgbClr val="161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28924" y="1965960"/>
            <a:ext cx="3246120" cy="420624"/>
          </a:xfrm>
          <a:prstGeom prst="round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02076" y="2039112"/>
            <a:ext cx="3099815" cy="256032"/>
          </a:xfrm>
          <a:prstGeom prst="rect">
            <a:avLst/>
          </a:prstGeom>
          <a:noFill/>
        </p:spPr>
        <p:txBody>
          <a:bodyPr wrap="square" lIns="0" tIns="0" rIns="0" bIns="0" anchor="t">
            <a:noAutofit/>
          </a:bodyPr>
          <a:lstStyle/>
          <a:p>
            <a:pPr algn="l"/>
            <a:r>
              <a:rPr sz="1600" b="1" i="0">
                <a:solidFill>
                  <a:srgbClr val="FFFFFF"/>
                </a:solidFill>
                <a:latin typeface="Calibri"/>
              </a:rPr>
              <a:t>Rule 1</a:t>
            </a:r>
          </a:p>
        </p:txBody>
      </p:sp>
      <p:sp>
        <p:nvSpPr>
          <p:cNvPr id="7" name="TextBox 6"/>
          <p:cNvSpPr txBox="1"/>
          <p:nvPr/>
        </p:nvSpPr>
        <p:spPr>
          <a:xfrm>
            <a:off x="938651" y="2544416"/>
            <a:ext cx="3026663" cy="2201319"/>
          </a:xfrm>
          <a:prstGeom prst="rect">
            <a:avLst/>
          </a:prstGeom>
          <a:noFill/>
        </p:spPr>
        <p:txBody>
          <a:bodyPr wrap="square" lIns="18288" tIns="18288" rIns="18288" bIns="18288" anchor="t">
            <a:noAutofit/>
          </a:bodyPr>
          <a:lstStyle/>
          <a:p>
            <a:pPr algn="l"/>
            <a:r>
              <a:rPr sz="1600" b="1" i="0" dirty="0">
                <a:solidFill>
                  <a:srgbClr val="44546A"/>
                </a:solidFill>
                <a:latin typeface="Calibri"/>
              </a:rPr>
              <a:t>Same model for documents and queries</a:t>
            </a:r>
            <a:br>
              <a:rPr dirty="0"/>
            </a:br>
            <a:br>
              <a:rPr dirty="0"/>
            </a:br>
            <a:r>
              <a:rPr sz="1600" b="0" i="0" dirty="0">
                <a:solidFill>
                  <a:srgbClr val="44546A"/>
                </a:solidFill>
                <a:latin typeface="Calibri"/>
              </a:rPr>
              <a:t>Mixing models is like measuring one map in kilometers and another in miles.</a:t>
            </a:r>
          </a:p>
        </p:txBody>
      </p:sp>
      <p:sp>
        <p:nvSpPr>
          <p:cNvPr id="8" name="Rounded Rectangle 7"/>
          <p:cNvSpPr/>
          <p:nvPr/>
        </p:nvSpPr>
        <p:spPr>
          <a:xfrm>
            <a:off x="4486524" y="1965960"/>
            <a:ext cx="3246120" cy="2834640"/>
          </a:xfrm>
          <a:prstGeom prst="roundRect">
            <a:avLst/>
          </a:prstGeom>
          <a:solidFill>
            <a:srgbClr val="FFFFFF"/>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486524" y="1965960"/>
            <a:ext cx="3246120" cy="420624"/>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59676" y="2039112"/>
            <a:ext cx="3099815" cy="256032"/>
          </a:xfrm>
          <a:prstGeom prst="rect">
            <a:avLst/>
          </a:prstGeom>
          <a:noFill/>
        </p:spPr>
        <p:txBody>
          <a:bodyPr wrap="square" lIns="0" tIns="0" rIns="0" bIns="0" anchor="t">
            <a:noAutofit/>
          </a:bodyPr>
          <a:lstStyle/>
          <a:p>
            <a:pPr algn="l"/>
            <a:r>
              <a:rPr sz="1600" b="1" i="0">
                <a:solidFill>
                  <a:srgbClr val="FFFFFF"/>
                </a:solidFill>
                <a:latin typeface="Calibri"/>
              </a:rPr>
              <a:t>Rule 2</a:t>
            </a:r>
          </a:p>
        </p:txBody>
      </p:sp>
      <p:sp>
        <p:nvSpPr>
          <p:cNvPr id="11" name="TextBox 10"/>
          <p:cNvSpPr txBox="1"/>
          <p:nvPr/>
        </p:nvSpPr>
        <p:spPr>
          <a:xfrm>
            <a:off x="4596252" y="2544416"/>
            <a:ext cx="3026663" cy="2201319"/>
          </a:xfrm>
          <a:prstGeom prst="rect">
            <a:avLst/>
          </a:prstGeom>
          <a:noFill/>
        </p:spPr>
        <p:txBody>
          <a:bodyPr wrap="square" lIns="18288" tIns="18288" rIns="18288" bIns="18288" anchor="t">
            <a:noAutofit/>
          </a:bodyPr>
          <a:lstStyle/>
          <a:p>
            <a:pPr algn="l"/>
            <a:r>
              <a:rPr sz="1600" b="1" i="0" dirty="0">
                <a:solidFill>
                  <a:srgbClr val="44546A"/>
                </a:solidFill>
                <a:latin typeface="Calibri"/>
              </a:rPr>
              <a:t>Same preprocessing strategy</a:t>
            </a:r>
            <a:br>
              <a:rPr dirty="0"/>
            </a:br>
            <a:br>
              <a:rPr dirty="0"/>
            </a:br>
            <a:r>
              <a:rPr sz="1600" b="0" i="0" dirty="0">
                <a:solidFill>
                  <a:srgbClr val="44546A"/>
                </a:solidFill>
                <a:latin typeface="Calibri"/>
              </a:rPr>
              <a:t>Chunking, casing, cleaning and metadata choices change what gets embedded.</a:t>
            </a:r>
          </a:p>
        </p:txBody>
      </p:sp>
      <p:sp>
        <p:nvSpPr>
          <p:cNvPr id="12" name="Rounded Rectangle 11"/>
          <p:cNvSpPr/>
          <p:nvPr/>
        </p:nvSpPr>
        <p:spPr>
          <a:xfrm>
            <a:off x="8144123" y="1965960"/>
            <a:ext cx="3246120" cy="2834640"/>
          </a:xfrm>
          <a:prstGeom prst="roundRect">
            <a:avLst/>
          </a:prstGeom>
          <a:solidFill>
            <a:srgbClr val="FFFFFF"/>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144123" y="1965960"/>
            <a:ext cx="3246120" cy="420624"/>
          </a:xfrm>
          <a:prstGeom prst="round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17275" y="2039112"/>
            <a:ext cx="3099815" cy="256032"/>
          </a:xfrm>
          <a:prstGeom prst="rect">
            <a:avLst/>
          </a:prstGeom>
          <a:noFill/>
        </p:spPr>
        <p:txBody>
          <a:bodyPr wrap="square" lIns="0" tIns="0" rIns="0" bIns="0" anchor="t">
            <a:noAutofit/>
          </a:bodyPr>
          <a:lstStyle/>
          <a:p>
            <a:pPr algn="l"/>
            <a:r>
              <a:rPr sz="1600" b="1" i="0">
                <a:solidFill>
                  <a:srgbClr val="FFFFFF"/>
                </a:solidFill>
                <a:latin typeface="Calibri"/>
              </a:rPr>
              <a:t>Rule 3</a:t>
            </a:r>
          </a:p>
        </p:txBody>
      </p:sp>
      <p:sp>
        <p:nvSpPr>
          <p:cNvPr id="15" name="TextBox 14"/>
          <p:cNvSpPr txBox="1"/>
          <p:nvPr/>
        </p:nvSpPr>
        <p:spPr>
          <a:xfrm>
            <a:off x="8253851" y="2544416"/>
            <a:ext cx="3026663" cy="2201319"/>
          </a:xfrm>
          <a:prstGeom prst="rect">
            <a:avLst/>
          </a:prstGeom>
          <a:noFill/>
        </p:spPr>
        <p:txBody>
          <a:bodyPr wrap="square" lIns="18288" tIns="18288" rIns="18288" bIns="18288" anchor="t">
            <a:noAutofit/>
          </a:bodyPr>
          <a:lstStyle/>
          <a:p>
            <a:pPr algn="l"/>
            <a:r>
              <a:rPr sz="1600" b="1" i="0" dirty="0">
                <a:solidFill>
                  <a:srgbClr val="44546A"/>
                </a:solidFill>
                <a:latin typeface="Calibri"/>
              </a:rPr>
              <a:t>Same domain expectation</a:t>
            </a:r>
            <a:br>
              <a:rPr dirty="0"/>
            </a:br>
            <a:br>
              <a:rPr dirty="0"/>
            </a:br>
            <a:r>
              <a:rPr sz="1600" b="0" i="0" dirty="0">
                <a:solidFill>
                  <a:srgbClr val="44546A"/>
                </a:solidFill>
                <a:latin typeface="Calibri"/>
              </a:rPr>
              <a:t>General embeddings can struggle with legal, medical, product-code or company-specific terms.</a:t>
            </a:r>
          </a:p>
        </p:txBody>
      </p:sp>
      <p:sp>
        <p:nvSpPr>
          <p:cNvPr id="16" name="TextBox 15"/>
          <p:cNvSpPr txBox="1"/>
          <p:nvPr/>
        </p:nvSpPr>
        <p:spPr>
          <a:xfrm>
            <a:off x="1181100" y="5157216"/>
            <a:ext cx="9829800" cy="411480"/>
          </a:xfrm>
          <a:prstGeom prst="rect">
            <a:avLst/>
          </a:prstGeom>
          <a:noFill/>
        </p:spPr>
        <p:txBody>
          <a:bodyPr wrap="square" lIns="0" tIns="0" rIns="0" bIns="0" anchor="t">
            <a:noAutofit/>
          </a:bodyPr>
          <a:lstStyle/>
          <a:p>
            <a:pPr algn="ctr"/>
            <a:r>
              <a:rPr b="1" i="0" dirty="0">
                <a:solidFill>
                  <a:srgbClr val="161A3E"/>
                </a:solidFill>
                <a:latin typeface="Calibri"/>
              </a:rPr>
              <a:t>Embedding systems fail quietly: the code may run perfectly while the nearest neighbors are wrong.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61499" y="2331720"/>
            <a:ext cx="10058400" cy="347472"/>
          </a:xfrm>
          <a:prstGeom prst="rect">
            <a:avLst/>
          </a:prstGeom>
          <a:noFill/>
        </p:spPr>
        <p:txBody>
          <a:bodyPr wrap="square" lIns="0" tIns="0" rIns="0" bIns="0" anchor="t">
            <a:noAutofit/>
          </a:bodyPr>
          <a:lstStyle/>
          <a:p>
            <a:pPr algn="ctr"/>
            <a:r>
              <a:rPr sz="1500" b="1" i="0" dirty="0">
                <a:solidFill>
                  <a:srgbClr val="5B9BD5"/>
                </a:solidFill>
                <a:latin typeface="Calibri"/>
              </a:rPr>
              <a:t>PART 2</a:t>
            </a:r>
          </a:p>
        </p:txBody>
      </p:sp>
      <p:sp>
        <p:nvSpPr>
          <p:cNvPr id="4" name="TextBox 3"/>
          <p:cNvSpPr txBox="1"/>
          <p:nvPr/>
        </p:nvSpPr>
        <p:spPr>
          <a:xfrm>
            <a:off x="1224501" y="2743200"/>
            <a:ext cx="9738360" cy="777240"/>
          </a:xfrm>
          <a:prstGeom prst="rect">
            <a:avLst/>
          </a:prstGeom>
          <a:noFill/>
        </p:spPr>
        <p:txBody>
          <a:bodyPr wrap="square" lIns="0" tIns="0" rIns="0" bIns="0" anchor="t">
            <a:noAutofit/>
          </a:bodyPr>
          <a:lstStyle/>
          <a:p>
            <a:pPr algn="ctr"/>
            <a:r>
              <a:rPr sz="3600" b="1" i="0" dirty="0">
                <a:solidFill>
                  <a:srgbClr val="FFFFFF"/>
                </a:solidFill>
                <a:latin typeface="Calibri"/>
              </a:rPr>
              <a:t>Similarity metrics: how “near” is calculated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a:solidFill>
                  <a:srgbClr val="161A3E"/>
                </a:solidFill>
                <a:latin typeface="Calibri"/>
              </a:rPr>
              <a:t>Similarity is a ranking signal, not a truth label</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828800"/>
            <a:ext cx="4800600" cy="365760"/>
          </a:xfrm>
          <a:prstGeom prst="rect">
            <a:avLst/>
          </a:prstGeom>
          <a:noFill/>
        </p:spPr>
        <p:txBody>
          <a:bodyPr wrap="square" lIns="0" tIns="0" rIns="0" bIns="0" anchor="t">
            <a:noAutofit/>
          </a:bodyPr>
          <a:lstStyle/>
          <a:p>
            <a:pPr algn="l"/>
            <a:r>
              <a:rPr sz="2000" b="1" i="0">
                <a:solidFill>
                  <a:srgbClr val="4472C4"/>
                </a:solidFill>
                <a:latin typeface="Calibri"/>
              </a:rPr>
              <a:t>Query</a:t>
            </a:r>
          </a:p>
        </p:txBody>
      </p:sp>
      <p:sp>
        <p:nvSpPr>
          <p:cNvPr id="5" name="Rounded Rectangle 4"/>
          <p:cNvSpPr/>
          <p:nvPr/>
        </p:nvSpPr>
        <p:spPr>
          <a:xfrm>
            <a:off x="868680" y="2331720"/>
            <a:ext cx="4800600" cy="777240"/>
          </a:xfrm>
          <a:prstGeom prst="roundRect">
            <a:avLst/>
          </a:prstGeom>
          <a:solidFill>
            <a:srgbClr val="D6E4F0"/>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2578608"/>
            <a:ext cx="4434840" cy="210312"/>
          </a:xfrm>
          <a:prstGeom prst="rect">
            <a:avLst/>
          </a:prstGeom>
          <a:noFill/>
        </p:spPr>
        <p:txBody>
          <a:bodyPr wrap="square" lIns="0" tIns="0" rIns="0" bIns="0" anchor="t">
            <a:noAutofit/>
          </a:bodyPr>
          <a:lstStyle/>
          <a:p>
            <a:pPr algn="ctr"/>
            <a:r>
              <a:rPr sz="1700" b="1" i="0">
                <a:solidFill>
                  <a:srgbClr val="161A3E"/>
                </a:solidFill>
                <a:latin typeface="Calibri"/>
              </a:rPr>
              <a:t>“How do I get back into my locked account?”</a:t>
            </a:r>
          </a:p>
        </p:txBody>
      </p:sp>
      <p:sp>
        <p:nvSpPr>
          <p:cNvPr id="7" name="TextBox 6"/>
          <p:cNvSpPr txBox="1"/>
          <p:nvPr/>
        </p:nvSpPr>
        <p:spPr>
          <a:xfrm>
            <a:off x="6400800" y="1828800"/>
            <a:ext cx="4572000" cy="365760"/>
          </a:xfrm>
          <a:prstGeom prst="rect">
            <a:avLst/>
          </a:prstGeom>
          <a:noFill/>
        </p:spPr>
        <p:txBody>
          <a:bodyPr wrap="square" lIns="0" tIns="0" rIns="0" bIns="0" anchor="t">
            <a:noAutofit/>
          </a:bodyPr>
          <a:lstStyle/>
          <a:p>
            <a:pPr algn="l"/>
            <a:r>
              <a:rPr sz="2000" b="1" i="0">
                <a:solidFill>
                  <a:srgbClr val="4472C4"/>
                </a:solidFill>
                <a:latin typeface="Calibri"/>
              </a:rPr>
              <a:t>Ranked nearest neighbors</a:t>
            </a:r>
          </a:p>
        </p:txBody>
      </p:sp>
      <p:sp>
        <p:nvSpPr>
          <p:cNvPr id="8" name="TextBox 7"/>
          <p:cNvSpPr txBox="1"/>
          <p:nvPr/>
        </p:nvSpPr>
        <p:spPr>
          <a:xfrm>
            <a:off x="6400800" y="2395728"/>
            <a:ext cx="320040" cy="228600"/>
          </a:xfrm>
          <a:prstGeom prst="rect">
            <a:avLst/>
          </a:prstGeom>
          <a:noFill/>
        </p:spPr>
        <p:txBody>
          <a:bodyPr wrap="square" lIns="0" tIns="0" rIns="0" bIns="0" anchor="t">
            <a:noAutofit/>
          </a:bodyPr>
          <a:lstStyle/>
          <a:p>
            <a:pPr algn="ctr"/>
            <a:r>
              <a:rPr sz="1500" b="1" i="0">
                <a:solidFill>
                  <a:srgbClr val="FFFFFF"/>
                </a:solidFill>
                <a:latin typeface="Calibri"/>
              </a:rPr>
              <a:t>1</a:t>
            </a:r>
          </a:p>
        </p:txBody>
      </p:sp>
      <p:sp>
        <p:nvSpPr>
          <p:cNvPr id="9" name="Rounded Rectangle 8"/>
          <p:cNvSpPr/>
          <p:nvPr/>
        </p:nvSpPr>
        <p:spPr>
          <a:xfrm>
            <a:off x="6400800" y="2286000"/>
            <a:ext cx="4663440" cy="530352"/>
          </a:xfrm>
          <a:prstGeom prst="roundRect">
            <a:avLst/>
          </a:prstGeom>
          <a:solidFill>
            <a:srgbClr val="FFFFFF"/>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73952" y="2633472"/>
            <a:ext cx="2841955" cy="73152"/>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65392" y="2368296"/>
            <a:ext cx="3520440" cy="182880"/>
          </a:xfrm>
          <a:prstGeom prst="rect">
            <a:avLst/>
          </a:prstGeom>
          <a:noFill/>
        </p:spPr>
        <p:txBody>
          <a:bodyPr wrap="square" lIns="0" tIns="0" rIns="0" bIns="0" anchor="t">
            <a:noAutofit/>
          </a:bodyPr>
          <a:lstStyle/>
          <a:p>
            <a:pPr algn="l"/>
            <a:r>
              <a:rPr sz="1400" b="1" i="0">
                <a:solidFill>
                  <a:srgbClr val="161A3E"/>
                </a:solidFill>
                <a:latin typeface="Calibri"/>
              </a:rPr>
              <a:t>Account recovery after failed login</a:t>
            </a:r>
          </a:p>
        </p:txBody>
      </p:sp>
      <p:sp>
        <p:nvSpPr>
          <p:cNvPr id="12" name="TextBox 11"/>
          <p:cNvSpPr txBox="1"/>
          <p:nvPr/>
        </p:nvSpPr>
        <p:spPr>
          <a:xfrm>
            <a:off x="10287000" y="2368296"/>
            <a:ext cx="594360" cy="182880"/>
          </a:xfrm>
          <a:prstGeom prst="rect">
            <a:avLst/>
          </a:prstGeom>
          <a:noFill/>
        </p:spPr>
        <p:txBody>
          <a:bodyPr wrap="square" lIns="0" tIns="0" rIns="0" bIns="0" anchor="t">
            <a:noAutofit/>
          </a:bodyPr>
          <a:lstStyle/>
          <a:p>
            <a:pPr algn="r"/>
            <a:r>
              <a:rPr sz="1400" b="0" i="0">
                <a:solidFill>
                  <a:srgbClr val="44546A"/>
                </a:solidFill>
                <a:latin typeface="Calibri"/>
              </a:rPr>
              <a:t>0.84</a:t>
            </a:r>
          </a:p>
        </p:txBody>
      </p:sp>
      <p:sp>
        <p:nvSpPr>
          <p:cNvPr id="13" name="TextBox 12"/>
          <p:cNvSpPr txBox="1"/>
          <p:nvPr/>
        </p:nvSpPr>
        <p:spPr>
          <a:xfrm>
            <a:off x="6400800" y="3145536"/>
            <a:ext cx="320040" cy="228600"/>
          </a:xfrm>
          <a:prstGeom prst="rect">
            <a:avLst/>
          </a:prstGeom>
          <a:noFill/>
        </p:spPr>
        <p:txBody>
          <a:bodyPr wrap="square" lIns="0" tIns="0" rIns="0" bIns="0" anchor="t">
            <a:noAutofit/>
          </a:bodyPr>
          <a:lstStyle/>
          <a:p>
            <a:pPr algn="ctr"/>
            <a:r>
              <a:rPr sz="1500" b="1" i="0">
                <a:solidFill>
                  <a:srgbClr val="FFFFFF"/>
                </a:solidFill>
                <a:latin typeface="Calibri"/>
              </a:rPr>
              <a:t>2</a:t>
            </a:r>
          </a:p>
        </p:txBody>
      </p:sp>
      <p:sp>
        <p:nvSpPr>
          <p:cNvPr id="14" name="Rounded Rectangle 13"/>
          <p:cNvSpPr/>
          <p:nvPr/>
        </p:nvSpPr>
        <p:spPr>
          <a:xfrm>
            <a:off x="6400800" y="3035808"/>
            <a:ext cx="4663440" cy="530352"/>
          </a:xfrm>
          <a:prstGeom prst="roundRect">
            <a:avLst/>
          </a:prstGeom>
          <a:solidFill>
            <a:srgbClr val="FFFFFF"/>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73952" y="3383279"/>
            <a:ext cx="2740456" cy="73152"/>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65392" y="3118103"/>
            <a:ext cx="3520440" cy="182880"/>
          </a:xfrm>
          <a:prstGeom prst="rect">
            <a:avLst/>
          </a:prstGeom>
          <a:noFill/>
        </p:spPr>
        <p:txBody>
          <a:bodyPr wrap="square" lIns="0" tIns="0" rIns="0" bIns="0" anchor="t">
            <a:noAutofit/>
          </a:bodyPr>
          <a:lstStyle/>
          <a:p>
            <a:pPr algn="l"/>
            <a:r>
              <a:rPr sz="1400" b="1" i="0">
                <a:solidFill>
                  <a:srgbClr val="161A3E"/>
                </a:solidFill>
                <a:latin typeface="Calibri"/>
              </a:rPr>
              <a:t>Reset password using verified email</a:t>
            </a:r>
          </a:p>
        </p:txBody>
      </p:sp>
      <p:sp>
        <p:nvSpPr>
          <p:cNvPr id="17" name="TextBox 16"/>
          <p:cNvSpPr txBox="1"/>
          <p:nvPr/>
        </p:nvSpPr>
        <p:spPr>
          <a:xfrm>
            <a:off x="10287000" y="3118103"/>
            <a:ext cx="594360" cy="182880"/>
          </a:xfrm>
          <a:prstGeom prst="rect">
            <a:avLst/>
          </a:prstGeom>
          <a:noFill/>
        </p:spPr>
        <p:txBody>
          <a:bodyPr wrap="square" lIns="0" tIns="0" rIns="0" bIns="0" anchor="t">
            <a:noAutofit/>
          </a:bodyPr>
          <a:lstStyle/>
          <a:p>
            <a:pPr algn="r"/>
            <a:r>
              <a:rPr sz="1400" b="0" i="0">
                <a:solidFill>
                  <a:srgbClr val="44546A"/>
                </a:solidFill>
                <a:latin typeface="Calibri"/>
              </a:rPr>
              <a:t>0.81</a:t>
            </a:r>
          </a:p>
        </p:txBody>
      </p:sp>
      <p:sp>
        <p:nvSpPr>
          <p:cNvPr id="18" name="TextBox 17"/>
          <p:cNvSpPr txBox="1"/>
          <p:nvPr/>
        </p:nvSpPr>
        <p:spPr>
          <a:xfrm>
            <a:off x="6400800" y="3895344"/>
            <a:ext cx="320040" cy="228600"/>
          </a:xfrm>
          <a:prstGeom prst="rect">
            <a:avLst/>
          </a:prstGeom>
          <a:noFill/>
        </p:spPr>
        <p:txBody>
          <a:bodyPr wrap="square" lIns="0" tIns="0" rIns="0" bIns="0" anchor="t">
            <a:noAutofit/>
          </a:bodyPr>
          <a:lstStyle/>
          <a:p>
            <a:pPr algn="ctr"/>
            <a:r>
              <a:rPr sz="1500" b="1" i="0">
                <a:solidFill>
                  <a:srgbClr val="FFFFFF"/>
                </a:solidFill>
                <a:latin typeface="Calibri"/>
              </a:rPr>
              <a:t>3</a:t>
            </a:r>
          </a:p>
        </p:txBody>
      </p:sp>
      <p:sp>
        <p:nvSpPr>
          <p:cNvPr id="19" name="Rounded Rectangle 18"/>
          <p:cNvSpPr/>
          <p:nvPr/>
        </p:nvSpPr>
        <p:spPr>
          <a:xfrm>
            <a:off x="6400800" y="3785615"/>
            <a:ext cx="4663440" cy="530352"/>
          </a:xfrm>
          <a:prstGeom prst="roundRect">
            <a:avLst/>
          </a:prstGeom>
          <a:solidFill>
            <a:srgbClr val="FFFFFF"/>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473952" y="4133087"/>
            <a:ext cx="2131466" cy="73152"/>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65392" y="3867911"/>
            <a:ext cx="3520440" cy="182880"/>
          </a:xfrm>
          <a:prstGeom prst="rect">
            <a:avLst/>
          </a:prstGeom>
          <a:noFill/>
        </p:spPr>
        <p:txBody>
          <a:bodyPr wrap="square" lIns="0" tIns="0" rIns="0" bIns="0" anchor="t">
            <a:noAutofit/>
          </a:bodyPr>
          <a:lstStyle/>
          <a:p>
            <a:pPr algn="l"/>
            <a:r>
              <a:rPr sz="1400" b="1" i="0">
                <a:solidFill>
                  <a:srgbClr val="161A3E"/>
                </a:solidFill>
                <a:latin typeface="Calibri"/>
              </a:rPr>
              <a:t>Recover deleted user profile</a:t>
            </a:r>
          </a:p>
        </p:txBody>
      </p:sp>
      <p:sp>
        <p:nvSpPr>
          <p:cNvPr id="22" name="TextBox 21"/>
          <p:cNvSpPr txBox="1"/>
          <p:nvPr/>
        </p:nvSpPr>
        <p:spPr>
          <a:xfrm>
            <a:off x="10287000" y="3867911"/>
            <a:ext cx="594360" cy="182880"/>
          </a:xfrm>
          <a:prstGeom prst="rect">
            <a:avLst/>
          </a:prstGeom>
          <a:noFill/>
        </p:spPr>
        <p:txBody>
          <a:bodyPr wrap="square" lIns="0" tIns="0" rIns="0" bIns="0" anchor="t">
            <a:noAutofit/>
          </a:bodyPr>
          <a:lstStyle/>
          <a:p>
            <a:pPr algn="r"/>
            <a:r>
              <a:rPr sz="1400" b="0" i="0">
                <a:solidFill>
                  <a:srgbClr val="44546A"/>
                </a:solidFill>
                <a:latin typeface="Calibri"/>
              </a:rPr>
              <a:t>0.63</a:t>
            </a:r>
          </a:p>
        </p:txBody>
      </p:sp>
      <p:sp>
        <p:nvSpPr>
          <p:cNvPr id="23" name="Rounded Rectangle 22"/>
          <p:cNvSpPr/>
          <p:nvPr/>
        </p:nvSpPr>
        <p:spPr>
          <a:xfrm>
            <a:off x="868680" y="3927944"/>
            <a:ext cx="4800600" cy="1143000"/>
          </a:xfrm>
          <a:prstGeom prst="roundRect">
            <a:avLst/>
          </a:prstGeom>
          <a:solidFill>
            <a:srgbClr val="FFFFFF"/>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8407" y="4037673"/>
            <a:ext cx="4581144" cy="292608"/>
          </a:xfrm>
          <a:prstGeom prst="rect">
            <a:avLst/>
          </a:prstGeom>
          <a:noFill/>
        </p:spPr>
        <p:txBody>
          <a:bodyPr wrap="square" lIns="18288" tIns="18288" rIns="18288" bIns="18288" anchor="t">
            <a:noAutofit/>
          </a:bodyPr>
          <a:lstStyle/>
          <a:p>
            <a:pPr algn="l"/>
            <a:r>
              <a:rPr sz="1700" b="1" i="0" dirty="0">
                <a:solidFill>
                  <a:srgbClr val="161A3E"/>
                </a:solidFill>
                <a:latin typeface="Calibri"/>
              </a:rPr>
              <a:t>Interpretation</a:t>
            </a:r>
          </a:p>
        </p:txBody>
      </p:sp>
      <p:sp>
        <p:nvSpPr>
          <p:cNvPr id="25" name="TextBox 24"/>
          <p:cNvSpPr txBox="1"/>
          <p:nvPr/>
        </p:nvSpPr>
        <p:spPr>
          <a:xfrm>
            <a:off x="978407" y="4421721"/>
            <a:ext cx="4581144" cy="576072"/>
          </a:xfrm>
          <a:prstGeom prst="rect">
            <a:avLst/>
          </a:prstGeom>
          <a:noFill/>
        </p:spPr>
        <p:txBody>
          <a:bodyPr wrap="square" lIns="18288" tIns="18288" rIns="18288" bIns="18288" anchor="t">
            <a:noAutofit/>
          </a:bodyPr>
          <a:lstStyle/>
          <a:p>
            <a:pPr algn="l"/>
            <a:r>
              <a:rPr sz="1600" b="0" i="0">
                <a:solidFill>
                  <a:srgbClr val="44546A"/>
                </a:solidFill>
                <a:latin typeface="Calibri"/>
              </a:rPr>
              <a:t>A high score means “close under this model and metric.” It does not guarantee factual relevance.</a:t>
            </a:r>
          </a:p>
        </p:txBody>
      </p:sp>
      <p:sp>
        <p:nvSpPr>
          <p:cNvPr id="26" name="Rounded Rectangle 25"/>
          <p:cNvSpPr/>
          <p:nvPr/>
        </p:nvSpPr>
        <p:spPr>
          <a:xfrm>
            <a:off x="6400800" y="4709159"/>
            <a:ext cx="4663440" cy="856753"/>
          </a:xfrm>
          <a:prstGeom prst="roundRect">
            <a:avLst/>
          </a:prstGeom>
          <a:solidFill>
            <a:srgbClr val="D6E4F0"/>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10528" y="4818888"/>
            <a:ext cx="4443983" cy="292608"/>
          </a:xfrm>
          <a:prstGeom prst="rect">
            <a:avLst/>
          </a:prstGeom>
          <a:noFill/>
        </p:spPr>
        <p:txBody>
          <a:bodyPr wrap="square" lIns="18288" tIns="18288" rIns="18288" bIns="18288" anchor="t">
            <a:noAutofit/>
          </a:bodyPr>
          <a:lstStyle/>
          <a:p>
            <a:pPr algn="l"/>
            <a:r>
              <a:rPr sz="1400" b="1" i="0">
                <a:solidFill>
                  <a:srgbClr val="161A3E"/>
                </a:solidFill>
                <a:latin typeface="Calibri"/>
              </a:rPr>
              <a:t>Trainer cue</a:t>
            </a:r>
          </a:p>
        </p:txBody>
      </p:sp>
      <p:sp>
        <p:nvSpPr>
          <p:cNvPr id="28" name="TextBox 27"/>
          <p:cNvSpPr txBox="1"/>
          <p:nvPr/>
        </p:nvSpPr>
        <p:spPr>
          <a:xfrm>
            <a:off x="6510528" y="5202936"/>
            <a:ext cx="4443983" cy="0"/>
          </a:xfrm>
          <a:prstGeom prst="rect">
            <a:avLst/>
          </a:prstGeom>
          <a:noFill/>
        </p:spPr>
        <p:txBody>
          <a:bodyPr wrap="square" lIns="18288" tIns="18288" rIns="18288" bIns="18288" anchor="t">
            <a:noAutofit/>
          </a:bodyPr>
          <a:lstStyle/>
          <a:p>
            <a:pPr algn="l"/>
            <a:r>
              <a:rPr sz="1200" b="0" i="0">
                <a:solidFill>
                  <a:srgbClr val="44546A"/>
                </a:solidFill>
                <a:latin typeface="Calibri"/>
              </a:rPr>
              <a:t>Ask: is result #3 useful, or just superficially related?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dirty="0">
                <a:solidFill>
                  <a:srgbClr val="161A3E"/>
                </a:solidFill>
                <a:latin typeface="Calibri"/>
              </a:rPr>
              <a:t>Cosine similarity: compare direction more than length</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09360" y="1982258"/>
            <a:ext cx="4617720" cy="406314"/>
          </a:xfrm>
          <a:prstGeom prst="rect">
            <a:avLst/>
          </a:prstGeom>
          <a:noFill/>
        </p:spPr>
        <p:txBody>
          <a:bodyPr wrap="square" lIns="0" tIns="0" rIns="0" bIns="0" anchor="t">
            <a:noAutofit/>
          </a:bodyPr>
          <a:lstStyle/>
          <a:p>
            <a:r>
              <a:rPr sz="1600" b="1" i="0" dirty="0">
                <a:solidFill>
                  <a:srgbClr val="161A3E"/>
                </a:solidFill>
                <a:latin typeface="Consolas"/>
              </a:rPr>
              <a:t>cosine(A, B) = </a:t>
            </a:r>
            <a:r>
              <a:rPr sz="1600" b="1" i="1" dirty="0">
                <a:solidFill>
                  <a:srgbClr val="161A3E"/>
                </a:solidFill>
                <a:latin typeface="Consolas"/>
              </a:rPr>
              <a:t>(A · B) / (</a:t>
            </a:r>
            <a:r>
              <a:rPr sz="1600" i="1" dirty="0">
                <a:solidFill>
                  <a:srgbClr val="161A3E"/>
                </a:solidFill>
                <a:latin typeface="Consolas"/>
              </a:rPr>
              <a:t>||</a:t>
            </a:r>
            <a:r>
              <a:rPr sz="1600" b="1" i="1" dirty="0">
                <a:solidFill>
                  <a:srgbClr val="161A3E"/>
                </a:solidFill>
                <a:latin typeface="Consolas"/>
              </a:rPr>
              <a:t>A</a:t>
            </a:r>
            <a:r>
              <a:rPr sz="1600" i="1" dirty="0">
                <a:solidFill>
                  <a:srgbClr val="161A3E"/>
                </a:solidFill>
                <a:latin typeface="Consolas"/>
              </a:rPr>
              <a:t>||</a:t>
            </a:r>
            <a:r>
              <a:rPr lang="en-US" sz="1600" i="1" dirty="0">
                <a:solidFill>
                  <a:srgbClr val="161A3E"/>
                </a:solidFill>
                <a:latin typeface="Consolas"/>
              </a:rPr>
              <a:t> </a:t>
            </a:r>
            <a:r>
              <a:rPr lang="en-US" sz="1600" b="1" i="1" dirty="0">
                <a:solidFill>
                  <a:srgbClr val="161A3E"/>
                </a:solidFill>
                <a:latin typeface="Consolas"/>
              </a:rPr>
              <a:t>x</a:t>
            </a:r>
            <a:r>
              <a:rPr sz="1600" b="1" i="1" dirty="0">
                <a:solidFill>
                  <a:srgbClr val="161A3E"/>
                </a:solidFill>
                <a:latin typeface="Consolas"/>
              </a:rPr>
              <a:t> </a:t>
            </a:r>
            <a:r>
              <a:rPr sz="1600" i="1" dirty="0">
                <a:solidFill>
                  <a:srgbClr val="161A3E"/>
                </a:solidFill>
                <a:latin typeface="Consolas"/>
              </a:rPr>
              <a:t>||</a:t>
            </a:r>
            <a:r>
              <a:rPr sz="1600" b="1" i="1" dirty="0">
                <a:solidFill>
                  <a:srgbClr val="161A3E"/>
                </a:solidFill>
                <a:latin typeface="Consolas"/>
              </a:rPr>
              <a:t>B</a:t>
            </a:r>
            <a:r>
              <a:rPr sz="1600" i="1" dirty="0">
                <a:solidFill>
                  <a:srgbClr val="161A3E"/>
                </a:solidFill>
                <a:latin typeface="Consolas"/>
              </a:rPr>
              <a:t>||</a:t>
            </a:r>
            <a:r>
              <a:rPr sz="1600" b="1" i="1" dirty="0">
                <a:solidFill>
                  <a:srgbClr val="161A3E"/>
                </a:solidFill>
                <a:latin typeface="Consolas"/>
              </a:rPr>
              <a:t>)</a:t>
            </a:r>
          </a:p>
        </p:txBody>
      </p:sp>
      <p:sp>
        <p:nvSpPr>
          <p:cNvPr id="14" name="TextBox 13"/>
          <p:cNvSpPr txBox="1"/>
          <p:nvPr/>
        </p:nvSpPr>
        <p:spPr>
          <a:xfrm>
            <a:off x="6309360" y="2743200"/>
            <a:ext cx="228600" cy="256032"/>
          </a:xfrm>
          <a:prstGeom prst="rect">
            <a:avLst/>
          </a:prstGeom>
          <a:noFill/>
        </p:spPr>
        <p:txBody>
          <a:bodyPr wrap="square" lIns="0" tIns="0" rIns="0" bIns="0" anchor="t">
            <a:noAutofit/>
          </a:bodyPr>
          <a:lstStyle/>
          <a:p>
            <a:pPr algn="ctr"/>
            <a:r>
              <a:rPr sz="2000" b="1" i="0">
                <a:solidFill>
                  <a:srgbClr val="4472C4"/>
                </a:solidFill>
                <a:latin typeface="Calibri"/>
              </a:rPr>
              <a:t>•</a:t>
            </a:r>
          </a:p>
        </p:txBody>
      </p:sp>
      <p:sp>
        <p:nvSpPr>
          <p:cNvPr id="15" name="TextBox 14"/>
          <p:cNvSpPr txBox="1"/>
          <p:nvPr/>
        </p:nvSpPr>
        <p:spPr>
          <a:xfrm>
            <a:off x="6601968" y="2743200"/>
            <a:ext cx="4279392" cy="310896"/>
          </a:xfrm>
          <a:prstGeom prst="rect">
            <a:avLst/>
          </a:prstGeom>
          <a:noFill/>
        </p:spPr>
        <p:txBody>
          <a:bodyPr wrap="square" lIns="18288" tIns="18288" rIns="18288" bIns="18288" anchor="t">
            <a:noAutofit/>
          </a:bodyPr>
          <a:lstStyle/>
          <a:p>
            <a:pPr algn="l"/>
            <a:r>
              <a:rPr sz="1800" b="0" i="0">
                <a:solidFill>
                  <a:srgbClr val="161A3E"/>
                </a:solidFill>
                <a:latin typeface="Calibri"/>
              </a:rPr>
              <a:t>1.0 means same direction.</a:t>
            </a:r>
          </a:p>
        </p:txBody>
      </p:sp>
      <p:sp>
        <p:nvSpPr>
          <p:cNvPr id="16" name="TextBox 15"/>
          <p:cNvSpPr txBox="1"/>
          <p:nvPr/>
        </p:nvSpPr>
        <p:spPr>
          <a:xfrm>
            <a:off x="6309360" y="3163824"/>
            <a:ext cx="228600" cy="256032"/>
          </a:xfrm>
          <a:prstGeom prst="rect">
            <a:avLst/>
          </a:prstGeom>
          <a:noFill/>
        </p:spPr>
        <p:txBody>
          <a:bodyPr wrap="square" lIns="0" tIns="0" rIns="0" bIns="0" anchor="t">
            <a:noAutofit/>
          </a:bodyPr>
          <a:lstStyle/>
          <a:p>
            <a:pPr algn="ctr"/>
            <a:r>
              <a:rPr sz="2000" b="1" i="0">
                <a:solidFill>
                  <a:srgbClr val="4472C4"/>
                </a:solidFill>
                <a:latin typeface="Calibri"/>
              </a:rPr>
              <a:t>•</a:t>
            </a:r>
          </a:p>
        </p:txBody>
      </p:sp>
      <p:sp>
        <p:nvSpPr>
          <p:cNvPr id="17" name="TextBox 16"/>
          <p:cNvSpPr txBox="1"/>
          <p:nvPr/>
        </p:nvSpPr>
        <p:spPr>
          <a:xfrm>
            <a:off x="6601968" y="3163824"/>
            <a:ext cx="4279392" cy="310896"/>
          </a:xfrm>
          <a:prstGeom prst="rect">
            <a:avLst/>
          </a:prstGeom>
          <a:noFill/>
        </p:spPr>
        <p:txBody>
          <a:bodyPr wrap="square" lIns="18288" tIns="18288" rIns="18288" bIns="18288" anchor="t">
            <a:noAutofit/>
          </a:bodyPr>
          <a:lstStyle/>
          <a:p>
            <a:pPr algn="l"/>
            <a:r>
              <a:rPr sz="1800" b="0" i="0">
                <a:solidFill>
                  <a:srgbClr val="161A3E"/>
                </a:solidFill>
                <a:latin typeface="Calibri"/>
              </a:rPr>
              <a:t>0 means unrelated direction.</a:t>
            </a:r>
          </a:p>
        </p:txBody>
      </p:sp>
      <p:sp>
        <p:nvSpPr>
          <p:cNvPr id="18" name="TextBox 17"/>
          <p:cNvSpPr txBox="1"/>
          <p:nvPr/>
        </p:nvSpPr>
        <p:spPr>
          <a:xfrm>
            <a:off x="6309360" y="3584448"/>
            <a:ext cx="228600" cy="256032"/>
          </a:xfrm>
          <a:prstGeom prst="rect">
            <a:avLst/>
          </a:prstGeom>
          <a:noFill/>
        </p:spPr>
        <p:txBody>
          <a:bodyPr wrap="square" lIns="0" tIns="0" rIns="0" bIns="0" anchor="t">
            <a:noAutofit/>
          </a:bodyPr>
          <a:lstStyle/>
          <a:p>
            <a:pPr algn="ctr"/>
            <a:r>
              <a:rPr sz="2000" b="1" i="0">
                <a:solidFill>
                  <a:srgbClr val="4472C4"/>
                </a:solidFill>
                <a:latin typeface="Calibri"/>
              </a:rPr>
              <a:t>•</a:t>
            </a:r>
          </a:p>
        </p:txBody>
      </p:sp>
      <p:sp>
        <p:nvSpPr>
          <p:cNvPr id="19" name="TextBox 18"/>
          <p:cNvSpPr txBox="1"/>
          <p:nvPr/>
        </p:nvSpPr>
        <p:spPr>
          <a:xfrm>
            <a:off x="6601968" y="3584448"/>
            <a:ext cx="4279392" cy="310896"/>
          </a:xfrm>
          <a:prstGeom prst="rect">
            <a:avLst/>
          </a:prstGeom>
          <a:noFill/>
        </p:spPr>
        <p:txBody>
          <a:bodyPr wrap="square" lIns="18288" tIns="18288" rIns="18288" bIns="18288" anchor="t">
            <a:noAutofit/>
          </a:bodyPr>
          <a:lstStyle/>
          <a:p>
            <a:pPr algn="l"/>
            <a:r>
              <a:rPr sz="1800" b="0" i="0">
                <a:solidFill>
                  <a:srgbClr val="161A3E"/>
                </a:solidFill>
                <a:latin typeface="Calibri"/>
              </a:rPr>
              <a:t>−1 means opposite direction.</a:t>
            </a:r>
          </a:p>
        </p:txBody>
      </p:sp>
      <p:sp>
        <p:nvSpPr>
          <p:cNvPr id="20" name="TextBox 19"/>
          <p:cNvSpPr txBox="1"/>
          <p:nvPr/>
        </p:nvSpPr>
        <p:spPr>
          <a:xfrm>
            <a:off x="6309360" y="4005072"/>
            <a:ext cx="228600" cy="256032"/>
          </a:xfrm>
          <a:prstGeom prst="rect">
            <a:avLst/>
          </a:prstGeom>
          <a:noFill/>
        </p:spPr>
        <p:txBody>
          <a:bodyPr wrap="square" lIns="0" tIns="0" rIns="0" bIns="0" anchor="t">
            <a:noAutofit/>
          </a:bodyPr>
          <a:lstStyle/>
          <a:p>
            <a:pPr algn="ctr"/>
            <a:r>
              <a:rPr sz="2000" b="1" i="0">
                <a:solidFill>
                  <a:srgbClr val="4472C4"/>
                </a:solidFill>
                <a:latin typeface="Calibri"/>
              </a:rPr>
              <a:t>•</a:t>
            </a:r>
          </a:p>
        </p:txBody>
      </p:sp>
      <p:sp>
        <p:nvSpPr>
          <p:cNvPr id="21" name="TextBox 20"/>
          <p:cNvSpPr txBox="1"/>
          <p:nvPr/>
        </p:nvSpPr>
        <p:spPr>
          <a:xfrm>
            <a:off x="6601968" y="4005072"/>
            <a:ext cx="4279392" cy="310896"/>
          </a:xfrm>
          <a:prstGeom prst="rect">
            <a:avLst/>
          </a:prstGeom>
          <a:noFill/>
        </p:spPr>
        <p:txBody>
          <a:bodyPr wrap="square" lIns="18288" tIns="18288" rIns="18288" bIns="18288" anchor="t">
            <a:noAutofit/>
          </a:bodyPr>
          <a:lstStyle/>
          <a:p>
            <a:pPr algn="l"/>
            <a:r>
              <a:rPr sz="1800" b="0" i="0">
                <a:solidFill>
                  <a:srgbClr val="161A3E"/>
                </a:solidFill>
                <a:latin typeface="Calibri"/>
              </a:rPr>
              <a:t>Common default for semantic similarity.</a:t>
            </a:r>
          </a:p>
        </p:txBody>
      </p:sp>
      <p:sp>
        <p:nvSpPr>
          <p:cNvPr id="22" name="Rounded Rectangle 21"/>
          <p:cNvSpPr/>
          <p:nvPr/>
        </p:nvSpPr>
        <p:spPr>
          <a:xfrm>
            <a:off x="6263640" y="4709160"/>
            <a:ext cx="4663440" cy="956144"/>
          </a:xfrm>
          <a:prstGeom prst="roundRect">
            <a:avLst/>
          </a:prstGeom>
          <a:solidFill>
            <a:srgbClr val="D6E4F0"/>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73368" y="4818888"/>
            <a:ext cx="4443983" cy="292608"/>
          </a:xfrm>
          <a:prstGeom prst="rect">
            <a:avLst/>
          </a:prstGeom>
          <a:noFill/>
        </p:spPr>
        <p:txBody>
          <a:bodyPr wrap="square" lIns="18288" tIns="18288" rIns="18288" bIns="18288" anchor="t">
            <a:noAutofit/>
          </a:bodyPr>
          <a:lstStyle/>
          <a:p>
            <a:pPr algn="l"/>
            <a:r>
              <a:rPr sz="1400" b="1" i="0">
                <a:solidFill>
                  <a:srgbClr val="161A3E"/>
                </a:solidFill>
                <a:latin typeface="Calibri"/>
              </a:rPr>
              <a:t>Why it is popular</a:t>
            </a:r>
          </a:p>
        </p:txBody>
      </p:sp>
      <p:sp>
        <p:nvSpPr>
          <p:cNvPr id="24" name="TextBox 23"/>
          <p:cNvSpPr txBox="1"/>
          <p:nvPr/>
        </p:nvSpPr>
        <p:spPr>
          <a:xfrm>
            <a:off x="6373368" y="5202936"/>
            <a:ext cx="4443983" cy="0"/>
          </a:xfrm>
          <a:prstGeom prst="rect">
            <a:avLst/>
          </a:prstGeom>
          <a:noFill/>
        </p:spPr>
        <p:txBody>
          <a:bodyPr wrap="square" lIns="18288" tIns="18288" rIns="18288" bIns="18288" anchor="t">
            <a:noAutofit/>
          </a:bodyPr>
          <a:lstStyle/>
          <a:p>
            <a:pPr algn="l"/>
            <a:r>
              <a:rPr sz="1200" b="0" i="0" dirty="0">
                <a:solidFill>
                  <a:srgbClr val="44546A"/>
                </a:solidFill>
                <a:latin typeface="Calibri"/>
              </a:rPr>
              <a:t>It reduces the effect of vector length and focuses on orientation in meaning space.</a:t>
            </a:r>
          </a:p>
        </p:txBody>
      </p:sp>
      <p:pic>
        <p:nvPicPr>
          <p:cNvPr id="5" name="Picture 4">
            <a:extLst>
              <a:ext uri="{FF2B5EF4-FFF2-40B4-BE49-F238E27FC236}">
                <a16:creationId xmlns:a16="http://schemas.microsoft.com/office/drawing/2014/main" id="{9A070492-0A6C-3078-E2AF-2C46BBB03F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7025" y="1956098"/>
            <a:ext cx="5812606" cy="360072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a:solidFill>
                  <a:srgbClr val="161A3E"/>
                </a:solidFill>
                <a:latin typeface="Calibri"/>
              </a:rPr>
              <a:t>Dot product: fast ranking when vectors are normalized</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a:extLst>
              <a:ext uri="{FF2B5EF4-FFF2-40B4-BE49-F238E27FC236}">
                <a16:creationId xmlns:a16="http://schemas.microsoft.com/office/drawing/2014/main" id="{A65ED3D5-CB7A-53B9-3087-A7A4B003282B}"/>
              </a:ext>
            </a:extLst>
          </p:cNvPr>
          <p:cNvPicPr>
            <a:picLocks noChangeAspect="1"/>
          </p:cNvPicPr>
          <p:nvPr/>
        </p:nvPicPr>
        <p:blipFill>
          <a:blip r:embed="rId3">
            <a:extLst>
              <a:ext uri="{28A0092B-C50C-407E-A947-70E740481C1C}">
                <a14:useLocalDpi xmlns:a14="http://schemas.microsoft.com/office/drawing/2010/main" val="0"/>
              </a:ext>
            </a:extLst>
          </a:blip>
          <a:srcRect b="58533"/>
          <a:stretch>
            <a:fillRect/>
          </a:stretch>
        </p:blipFill>
        <p:spPr>
          <a:xfrm>
            <a:off x="489283" y="2133681"/>
            <a:ext cx="5793354" cy="3001817"/>
          </a:xfrm>
          <a:prstGeom prst="rect">
            <a:avLst/>
          </a:prstGeom>
        </p:spPr>
      </p:pic>
      <p:pic>
        <p:nvPicPr>
          <p:cNvPr id="26" name="Picture 25">
            <a:extLst>
              <a:ext uri="{FF2B5EF4-FFF2-40B4-BE49-F238E27FC236}">
                <a16:creationId xmlns:a16="http://schemas.microsoft.com/office/drawing/2014/main" id="{13880205-75CA-2AD0-6914-692484820E8F}"/>
              </a:ext>
            </a:extLst>
          </p:cNvPr>
          <p:cNvPicPr>
            <a:picLocks noChangeAspect="1"/>
          </p:cNvPicPr>
          <p:nvPr/>
        </p:nvPicPr>
        <p:blipFill>
          <a:blip r:embed="rId3">
            <a:extLst>
              <a:ext uri="{28A0092B-C50C-407E-A947-70E740481C1C}">
                <a14:useLocalDpi xmlns:a14="http://schemas.microsoft.com/office/drawing/2010/main" val="0"/>
              </a:ext>
            </a:extLst>
          </a:blip>
          <a:srcRect t="50230"/>
          <a:stretch>
            <a:fillRect/>
          </a:stretch>
        </p:blipFill>
        <p:spPr>
          <a:xfrm>
            <a:off x="6282637" y="2193316"/>
            <a:ext cx="5829731" cy="3625498"/>
          </a:xfrm>
          <a:prstGeom prst="rect">
            <a:avLst/>
          </a:prstGeom>
        </p:spPr>
      </p:pic>
      <p:pic>
        <p:nvPicPr>
          <p:cNvPr id="27" name="Picture 26">
            <a:extLst>
              <a:ext uri="{FF2B5EF4-FFF2-40B4-BE49-F238E27FC236}">
                <a16:creationId xmlns:a16="http://schemas.microsoft.com/office/drawing/2014/main" id="{07423F8E-4BD2-FC64-2B19-81240D831ADA}"/>
              </a:ext>
            </a:extLst>
          </p:cNvPr>
          <p:cNvPicPr>
            <a:picLocks noChangeAspect="1"/>
          </p:cNvPicPr>
          <p:nvPr/>
        </p:nvPicPr>
        <p:blipFill>
          <a:blip r:embed="rId3">
            <a:extLst>
              <a:ext uri="{28A0092B-C50C-407E-A947-70E740481C1C}">
                <a14:useLocalDpi xmlns:a14="http://schemas.microsoft.com/office/drawing/2010/main" val="0"/>
              </a:ext>
            </a:extLst>
          </a:blip>
          <a:srcRect l="36138" t="44219" r="26013" b="50621"/>
          <a:stretch>
            <a:fillRect/>
          </a:stretch>
        </p:blipFill>
        <p:spPr>
          <a:xfrm>
            <a:off x="4753306" y="1732332"/>
            <a:ext cx="2682340" cy="457024"/>
          </a:xfrm>
          <a:prstGeom prst="rect">
            <a:avLst/>
          </a:prstGeom>
        </p:spPr>
      </p:pic>
      <p:sp>
        <p:nvSpPr>
          <p:cNvPr id="28" name="Arrow: Right 27">
            <a:extLst>
              <a:ext uri="{FF2B5EF4-FFF2-40B4-BE49-F238E27FC236}">
                <a16:creationId xmlns:a16="http://schemas.microsoft.com/office/drawing/2014/main" id="{FE6F6390-6E53-75C5-9729-117024DB0E6B}"/>
              </a:ext>
            </a:extLst>
          </p:cNvPr>
          <p:cNvSpPr/>
          <p:nvPr/>
        </p:nvSpPr>
        <p:spPr>
          <a:xfrm>
            <a:off x="5750893" y="2419608"/>
            <a:ext cx="447261" cy="2165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a:solidFill>
                  <a:srgbClr val="161A3E"/>
                </a:solidFill>
                <a:latin typeface="Calibri"/>
              </a:rPr>
              <a:t>Euclidean distance: straight-line distance in vector space</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828800"/>
            <a:ext cx="4800600" cy="502920"/>
          </a:xfrm>
          <a:prstGeom prst="rect">
            <a:avLst/>
          </a:prstGeom>
          <a:noFill/>
        </p:spPr>
        <p:txBody>
          <a:bodyPr wrap="square" lIns="0" tIns="0" rIns="0" bIns="0" anchor="t">
            <a:noAutofit/>
          </a:bodyPr>
          <a:lstStyle/>
          <a:p>
            <a:pPr algn="l"/>
            <a:r>
              <a:rPr sz="2100" b="1" i="0">
                <a:solidFill>
                  <a:srgbClr val="161A3E"/>
                </a:solidFill>
                <a:latin typeface="Calibri"/>
              </a:rPr>
              <a:t>What it measures</a:t>
            </a:r>
          </a:p>
        </p:txBody>
      </p:sp>
      <p:sp>
        <p:nvSpPr>
          <p:cNvPr id="5" name="Rounded Rectangle 4"/>
          <p:cNvSpPr/>
          <p:nvPr/>
        </p:nvSpPr>
        <p:spPr>
          <a:xfrm>
            <a:off x="868680" y="2468880"/>
            <a:ext cx="4800600" cy="1097280"/>
          </a:xfrm>
          <a:prstGeom prst="roundRect">
            <a:avLst/>
          </a:prstGeom>
          <a:solidFill>
            <a:srgbClr val="FFFFFF"/>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78407" y="2578608"/>
            <a:ext cx="4581144" cy="292608"/>
          </a:xfrm>
          <a:prstGeom prst="rect">
            <a:avLst/>
          </a:prstGeom>
          <a:noFill/>
        </p:spPr>
        <p:txBody>
          <a:bodyPr wrap="square" lIns="18288" tIns="18288" rIns="18288" bIns="18288" anchor="t">
            <a:noAutofit/>
          </a:bodyPr>
          <a:lstStyle/>
          <a:p>
            <a:pPr algn="l"/>
            <a:r>
              <a:rPr sz="1700" b="1" i="0">
                <a:solidFill>
                  <a:srgbClr val="161A3E"/>
                </a:solidFill>
                <a:latin typeface="Calibri"/>
              </a:rPr>
              <a:t>distance(A, B) = √Σ(ai − bi)²</a:t>
            </a:r>
          </a:p>
        </p:txBody>
      </p:sp>
      <p:sp>
        <p:nvSpPr>
          <p:cNvPr id="7" name="TextBox 6"/>
          <p:cNvSpPr txBox="1"/>
          <p:nvPr/>
        </p:nvSpPr>
        <p:spPr>
          <a:xfrm>
            <a:off x="978407" y="2962656"/>
            <a:ext cx="4581144" cy="530352"/>
          </a:xfrm>
          <a:prstGeom prst="rect">
            <a:avLst/>
          </a:prstGeom>
          <a:noFill/>
        </p:spPr>
        <p:txBody>
          <a:bodyPr wrap="square" lIns="18288" tIns="18288" rIns="18288" bIns="18288" anchor="t">
            <a:noAutofit/>
          </a:bodyPr>
          <a:lstStyle/>
          <a:p>
            <a:pPr algn="l"/>
            <a:r>
              <a:rPr sz="1800" b="0" i="0" dirty="0">
                <a:solidFill>
                  <a:srgbClr val="44546A"/>
                </a:solidFill>
                <a:latin typeface="Calibri"/>
              </a:rPr>
              <a:t>The lower the distance, the closer the vectors.</a:t>
            </a:r>
          </a:p>
        </p:txBody>
      </p:sp>
      <p:sp>
        <p:nvSpPr>
          <p:cNvPr id="8" name="Rounded Rectangle 7"/>
          <p:cNvSpPr/>
          <p:nvPr/>
        </p:nvSpPr>
        <p:spPr>
          <a:xfrm>
            <a:off x="868680" y="4069080"/>
            <a:ext cx="4800600" cy="1152144"/>
          </a:xfrm>
          <a:prstGeom prst="roundRect">
            <a:avLst/>
          </a:prstGeom>
          <a:solidFill>
            <a:srgbClr val="D6E4F0"/>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7" y="4178808"/>
            <a:ext cx="4581144" cy="292608"/>
          </a:xfrm>
          <a:prstGeom prst="rect">
            <a:avLst/>
          </a:prstGeom>
          <a:noFill/>
        </p:spPr>
        <p:txBody>
          <a:bodyPr wrap="square" lIns="18288" tIns="18288" rIns="18288" bIns="18288" anchor="t">
            <a:noAutofit/>
          </a:bodyPr>
          <a:lstStyle/>
          <a:p>
            <a:pPr algn="l"/>
            <a:r>
              <a:rPr sz="1700" b="1" i="0">
                <a:solidFill>
                  <a:srgbClr val="161A3E"/>
                </a:solidFill>
                <a:latin typeface="Calibri"/>
              </a:rPr>
              <a:t>When it is useful</a:t>
            </a:r>
          </a:p>
        </p:txBody>
      </p:sp>
      <p:sp>
        <p:nvSpPr>
          <p:cNvPr id="10" name="TextBox 9"/>
          <p:cNvSpPr txBox="1"/>
          <p:nvPr/>
        </p:nvSpPr>
        <p:spPr>
          <a:xfrm>
            <a:off x="978407" y="4562856"/>
            <a:ext cx="4581144" cy="484631"/>
          </a:xfrm>
          <a:prstGeom prst="rect">
            <a:avLst/>
          </a:prstGeom>
          <a:noFill/>
        </p:spPr>
        <p:txBody>
          <a:bodyPr wrap="square" lIns="18288" tIns="18288" rIns="18288" bIns="18288" anchor="t">
            <a:noAutofit/>
          </a:bodyPr>
          <a:lstStyle/>
          <a:p>
            <a:pPr algn="l"/>
            <a:r>
              <a:rPr sz="1500" b="0" i="0" dirty="0">
                <a:solidFill>
                  <a:srgbClr val="44546A"/>
                </a:solidFill>
                <a:latin typeface="Calibri"/>
              </a:rPr>
              <a:t>Clustering, nearest-neighbor baselines, and FAISS IndexFlatL2 examples.</a:t>
            </a:r>
          </a:p>
        </p:txBody>
      </p:sp>
      <p:sp>
        <p:nvSpPr>
          <p:cNvPr id="11" name="Rectangle 10"/>
          <p:cNvSpPr/>
          <p:nvPr/>
        </p:nvSpPr>
        <p:spPr>
          <a:xfrm>
            <a:off x="6400800" y="1874518"/>
            <a:ext cx="5111496" cy="3890177"/>
          </a:xfrm>
          <a:prstGeom prst="rect">
            <a:avLst/>
          </a:prstGeom>
          <a:solidFill>
            <a:srgbClr val="F2F2F2"/>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976079" y="5020056"/>
            <a:ext cx="201168" cy="201168"/>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147431" y="5146779"/>
            <a:ext cx="274320" cy="219456"/>
          </a:xfrm>
          <a:prstGeom prst="rect">
            <a:avLst/>
          </a:prstGeom>
          <a:noFill/>
        </p:spPr>
        <p:txBody>
          <a:bodyPr wrap="square" lIns="0" tIns="0" rIns="0" bIns="0" anchor="t">
            <a:noAutofit/>
          </a:bodyPr>
          <a:lstStyle/>
          <a:p>
            <a:pPr algn="l"/>
            <a:r>
              <a:rPr sz="1200" b="1" i="0" dirty="0">
                <a:solidFill>
                  <a:srgbClr val="161A3E"/>
                </a:solidFill>
                <a:latin typeface="Calibri"/>
              </a:rPr>
              <a:t>A</a:t>
            </a:r>
          </a:p>
        </p:txBody>
      </p:sp>
      <p:sp>
        <p:nvSpPr>
          <p:cNvPr id="14" name="Oval 13"/>
          <p:cNvSpPr/>
          <p:nvPr/>
        </p:nvSpPr>
        <p:spPr>
          <a:xfrm>
            <a:off x="10699713" y="3538408"/>
            <a:ext cx="201168" cy="201168"/>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763721" y="3354554"/>
            <a:ext cx="274320" cy="219456"/>
          </a:xfrm>
          <a:prstGeom prst="rect">
            <a:avLst/>
          </a:prstGeom>
          <a:noFill/>
        </p:spPr>
        <p:txBody>
          <a:bodyPr wrap="square" lIns="0" tIns="0" rIns="0" bIns="0" anchor="t">
            <a:noAutofit/>
          </a:bodyPr>
          <a:lstStyle/>
          <a:p>
            <a:pPr algn="l"/>
            <a:r>
              <a:rPr sz="1200" b="1" i="0" dirty="0">
                <a:solidFill>
                  <a:srgbClr val="161A3E"/>
                </a:solidFill>
                <a:latin typeface="Calibri"/>
              </a:rPr>
              <a:t>B</a:t>
            </a:r>
          </a:p>
        </p:txBody>
      </p:sp>
      <p:sp>
        <p:nvSpPr>
          <p:cNvPr id="16" name="Oval 15"/>
          <p:cNvSpPr/>
          <p:nvPr/>
        </p:nvSpPr>
        <p:spPr>
          <a:xfrm>
            <a:off x="8047555" y="3374651"/>
            <a:ext cx="201168" cy="201168"/>
          </a:xfrm>
          <a:prstGeom prst="ellipse">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81788" y="3197815"/>
            <a:ext cx="274320" cy="219456"/>
          </a:xfrm>
          <a:prstGeom prst="rect">
            <a:avLst/>
          </a:prstGeom>
          <a:noFill/>
        </p:spPr>
        <p:txBody>
          <a:bodyPr wrap="square" lIns="0" tIns="0" rIns="0" bIns="0" anchor="t">
            <a:noAutofit/>
          </a:bodyPr>
          <a:lstStyle/>
          <a:p>
            <a:pPr algn="l"/>
            <a:r>
              <a:rPr sz="1200" b="1" i="0" dirty="0">
                <a:solidFill>
                  <a:srgbClr val="161A3E"/>
                </a:solidFill>
                <a:latin typeface="Calibri"/>
              </a:rPr>
              <a:t>C</a:t>
            </a:r>
          </a:p>
        </p:txBody>
      </p:sp>
      <p:cxnSp>
        <p:nvCxnSpPr>
          <p:cNvPr id="18" name="Connector 17"/>
          <p:cNvCxnSpPr>
            <a:cxnSpLocks/>
            <a:stCxn id="12" idx="7"/>
            <a:endCxn id="14" idx="2"/>
          </p:cNvCxnSpPr>
          <p:nvPr/>
        </p:nvCxnSpPr>
        <p:spPr>
          <a:xfrm flipV="1">
            <a:off x="7147787" y="3638992"/>
            <a:ext cx="3551926" cy="1410524"/>
          </a:xfrm>
          <a:prstGeom prst="line">
            <a:avLst/>
          </a:prstGeom>
          <a:ln w="25400">
            <a:solidFill>
              <a:srgbClr val="4472C4"/>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a:cxnSpLocks/>
            <a:stCxn id="12" idx="7"/>
            <a:endCxn id="16" idx="3"/>
          </p:cNvCxnSpPr>
          <p:nvPr/>
        </p:nvCxnSpPr>
        <p:spPr>
          <a:xfrm flipV="1">
            <a:off x="7147787" y="3546359"/>
            <a:ext cx="929228" cy="1503157"/>
          </a:xfrm>
          <a:prstGeom prst="line">
            <a:avLst/>
          </a:prstGeom>
          <a:ln w="25400">
            <a:solidFill>
              <a:srgbClr val="5B9BD5"/>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373397" y="4297937"/>
            <a:ext cx="1005840" cy="228600"/>
          </a:xfrm>
          <a:prstGeom prst="rect">
            <a:avLst/>
          </a:prstGeom>
          <a:noFill/>
        </p:spPr>
        <p:txBody>
          <a:bodyPr wrap="square" lIns="0" tIns="0" rIns="0" bIns="0" anchor="t">
            <a:noAutofit/>
          </a:bodyPr>
          <a:lstStyle/>
          <a:p>
            <a:pPr algn="l"/>
            <a:r>
              <a:rPr sz="1200" b="1" i="0" dirty="0">
                <a:solidFill>
                  <a:srgbClr val="4472C4"/>
                </a:solidFill>
                <a:latin typeface="Calibri"/>
              </a:rPr>
              <a:t>longer</a:t>
            </a:r>
          </a:p>
        </p:txBody>
      </p:sp>
      <p:sp>
        <p:nvSpPr>
          <p:cNvPr id="21" name="TextBox 20"/>
          <p:cNvSpPr txBox="1"/>
          <p:nvPr/>
        </p:nvSpPr>
        <p:spPr>
          <a:xfrm>
            <a:off x="7109481" y="4057987"/>
            <a:ext cx="1005840" cy="228600"/>
          </a:xfrm>
          <a:prstGeom prst="rect">
            <a:avLst/>
          </a:prstGeom>
          <a:noFill/>
        </p:spPr>
        <p:txBody>
          <a:bodyPr wrap="square" lIns="0" tIns="0" rIns="0" bIns="0" anchor="t">
            <a:noAutofit/>
          </a:bodyPr>
          <a:lstStyle/>
          <a:p>
            <a:pPr algn="l"/>
            <a:r>
              <a:rPr sz="1200" b="1" i="0" dirty="0">
                <a:solidFill>
                  <a:srgbClr val="5B9BD5"/>
                </a:solidFill>
                <a:latin typeface="Calibri"/>
              </a:rPr>
              <a:t>shorter</a:t>
            </a:r>
          </a:p>
        </p:txBody>
      </p:sp>
      <p:cxnSp>
        <p:nvCxnSpPr>
          <p:cNvPr id="23" name="Straight Arrow Connector 22">
            <a:extLst>
              <a:ext uri="{FF2B5EF4-FFF2-40B4-BE49-F238E27FC236}">
                <a16:creationId xmlns:a16="http://schemas.microsoft.com/office/drawing/2014/main" id="{7B556EF9-1AD5-1041-9051-B4A0F2E2DD69}"/>
              </a:ext>
            </a:extLst>
          </p:cNvPr>
          <p:cNvCxnSpPr/>
          <p:nvPr/>
        </p:nvCxnSpPr>
        <p:spPr>
          <a:xfrm flipV="1">
            <a:off x="6738731" y="1874518"/>
            <a:ext cx="0" cy="3890177"/>
          </a:xfrm>
          <a:prstGeom prst="straightConnector1">
            <a:avLst/>
          </a:prstGeom>
          <a:ln w="1905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 name="Straight Arrow Connector 23">
            <a:extLst>
              <a:ext uri="{FF2B5EF4-FFF2-40B4-BE49-F238E27FC236}">
                <a16:creationId xmlns:a16="http://schemas.microsoft.com/office/drawing/2014/main" id="{AA934CE8-74C3-7B23-1CE7-AC138283021A}"/>
              </a:ext>
            </a:extLst>
          </p:cNvPr>
          <p:cNvCxnSpPr>
            <a:cxnSpLocks/>
          </p:cNvCxnSpPr>
          <p:nvPr/>
        </p:nvCxnSpPr>
        <p:spPr>
          <a:xfrm>
            <a:off x="6391258" y="5492958"/>
            <a:ext cx="5121040" cy="3"/>
          </a:xfrm>
          <a:prstGeom prst="straightConnector1">
            <a:avLst/>
          </a:prstGeom>
          <a:ln w="1905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0FA2B67C-873C-6889-B21C-5383727F9A53}"/>
              </a:ext>
            </a:extLst>
          </p:cNvPr>
          <p:cNvSpPr txBox="1"/>
          <p:nvPr/>
        </p:nvSpPr>
        <p:spPr>
          <a:xfrm>
            <a:off x="11193552" y="5492958"/>
            <a:ext cx="212497" cy="256032"/>
          </a:xfrm>
          <a:prstGeom prst="rect">
            <a:avLst/>
          </a:prstGeom>
          <a:noFill/>
        </p:spPr>
        <p:txBody>
          <a:bodyPr wrap="square" lIns="18288" tIns="18288" rIns="18288" bIns="18288" anchor="t">
            <a:noAutofit/>
          </a:bodyPr>
          <a:lstStyle/>
          <a:p>
            <a:pPr algn="l"/>
            <a:r>
              <a:rPr lang="en-US" b="1" i="1" dirty="0">
                <a:solidFill>
                  <a:srgbClr val="44546A"/>
                </a:solidFill>
                <a:latin typeface="Calibri"/>
              </a:rPr>
              <a:t>x</a:t>
            </a:r>
            <a:endParaRPr sz="1800" b="1" i="1" dirty="0">
              <a:solidFill>
                <a:srgbClr val="44546A"/>
              </a:solidFill>
              <a:latin typeface="Calibri"/>
            </a:endParaRPr>
          </a:p>
        </p:txBody>
      </p:sp>
      <p:sp>
        <p:nvSpPr>
          <p:cNvPr id="27" name="TextBox 26">
            <a:extLst>
              <a:ext uri="{FF2B5EF4-FFF2-40B4-BE49-F238E27FC236}">
                <a16:creationId xmlns:a16="http://schemas.microsoft.com/office/drawing/2014/main" id="{88C66D8F-7112-87E7-62F6-92B2DD9813CF}"/>
              </a:ext>
            </a:extLst>
          </p:cNvPr>
          <p:cNvSpPr txBox="1"/>
          <p:nvPr/>
        </p:nvSpPr>
        <p:spPr>
          <a:xfrm>
            <a:off x="6463517" y="1954230"/>
            <a:ext cx="212497" cy="256032"/>
          </a:xfrm>
          <a:prstGeom prst="rect">
            <a:avLst/>
          </a:prstGeom>
          <a:noFill/>
        </p:spPr>
        <p:txBody>
          <a:bodyPr wrap="square" lIns="18288" tIns="18288" rIns="18288" bIns="18288" anchor="t">
            <a:noAutofit/>
          </a:bodyPr>
          <a:lstStyle/>
          <a:p>
            <a:pPr algn="l"/>
            <a:r>
              <a:rPr lang="en-US" b="1" i="1" dirty="0">
                <a:solidFill>
                  <a:srgbClr val="44546A"/>
                </a:solidFill>
                <a:latin typeface="Calibri"/>
              </a:rPr>
              <a:t>y</a:t>
            </a:r>
            <a:endParaRPr sz="1800" b="1" i="1" dirty="0">
              <a:solidFill>
                <a:srgbClr val="44546A"/>
              </a:solidFill>
              <a:latin typeface="Calibri"/>
            </a:endParaRPr>
          </a:p>
        </p:txBody>
      </p:sp>
      <p:sp>
        <p:nvSpPr>
          <p:cNvPr id="28" name="TextBox 27">
            <a:extLst>
              <a:ext uri="{FF2B5EF4-FFF2-40B4-BE49-F238E27FC236}">
                <a16:creationId xmlns:a16="http://schemas.microsoft.com/office/drawing/2014/main" id="{9B58AA46-2E81-B843-6D0A-5D34FCC96ACD}"/>
              </a:ext>
            </a:extLst>
          </p:cNvPr>
          <p:cNvSpPr txBox="1"/>
          <p:nvPr/>
        </p:nvSpPr>
        <p:spPr>
          <a:xfrm>
            <a:off x="6467694" y="5492958"/>
            <a:ext cx="212497" cy="256032"/>
          </a:xfrm>
          <a:prstGeom prst="rect">
            <a:avLst/>
          </a:prstGeom>
          <a:noFill/>
        </p:spPr>
        <p:txBody>
          <a:bodyPr wrap="square" lIns="18288" tIns="18288" rIns="18288" bIns="18288" anchor="t">
            <a:noAutofit/>
          </a:bodyPr>
          <a:lstStyle/>
          <a:p>
            <a:pPr algn="l"/>
            <a:r>
              <a:rPr lang="en-US" b="1" i="1" dirty="0">
                <a:solidFill>
                  <a:srgbClr val="44546A"/>
                </a:solidFill>
                <a:latin typeface="Calibri"/>
              </a:rPr>
              <a:t>0</a:t>
            </a:r>
            <a:endParaRPr sz="1800" b="1" i="1" dirty="0">
              <a:solidFill>
                <a:srgbClr val="44546A"/>
              </a:solidFill>
              <a:latin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212F8CC5-0235-E630-6DFA-6CF4AD5F2BC8}"/>
              </a:ext>
            </a:extLst>
          </p:cNvPr>
          <p:cNvPicPr>
            <a:picLocks noChangeAspect="1"/>
          </p:cNvPicPr>
          <p:nvPr/>
        </p:nvPicPr>
        <p:blipFill>
          <a:blip r:embed="rId3"/>
          <a:srcRect l="10923" t="16855" r="64695" b="27045"/>
          <a:stretch>
            <a:fillRect/>
          </a:stretch>
        </p:blipFill>
        <p:spPr>
          <a:xfrm>
            <a:off x="8719498" y="1478323"/>
            <a:ext cx="2174880" cy="2814920"/>
          </a:xfrm>
          <a:prstGeom prst="rect">
            <a:avLst/>
          </a:prstGeom>
        </p:spPr>
      </p:pic>
      <p:pic>
        <p:nvPicPr>
          <p:cNvPr id="21" name="Picture 20">
            <a:extLst>
              <a:ext uri="{FF2B5EF4-FFF2-40B4-BE49-F238E27FC236}">
                <a16:creationId xmlns:a16="http://schemas.microsoft.com/office/drawing/2014/main" id="{D0087857-82A9-D420-E18B-C38B4576E88C}"/>
              </a:ext>
            </a:extLst>
          </p:cNvPr>
          <p:cNvPicPr>
            <a:picLocks noChangeAspect="1"/>
          </p:cNvPicPr>
          <p:nvPr/>
        </p:nvPicPr>
        <p:blipFill>
          <a:blip r:embed="rId3"/>
          <a:srcRect l="67985" t="16389" r="7595" b="28137"/>
          <a:stretch>
            <a:fillRect/>
          </a:stretch>
        </p:blipFill>
        <p:spPr>
          <a:xfrm>
            <a:off x="1404298" y="1472027"/>
            <a:ext cx="2174880" cy="2779012"/>
          </a:xfrm>
          <a:prstGeom prst="rect">
            <a:avLst/>
          </a:prstGeom>
        </p:spPr>
      </p:pic>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a:solidFill>
                  <a:srgbClr val="161A3E"/>
                </a:solidFill>
                <a:latin typeface="Calibri"/>
              </a:rPr>
              <a:t>Choosing the metric is a design decision</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68680" y="4303895"/>
            <a:ext cx="3246120" cy="891251"/>
          </a:xfrm>
          <a:prstGeom prst="roundRect">
            <a:avLst/>
          </a:prstGeom>
          <a:solidFill>
            <a:srgbClr val="FFFFFF"/>
          </a:solidFill>
          <a:ln w="12700">
            <a:solidFill>
              <a:srgbClr val="161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 name="Rounded Rectangle 4"/>
          <p:cNvSpPr/>
          <p:nvPr/>
        </p:nvSpPr>
        <p:spPr>
          <a:xfrm>
            <a:off x="868680" y="4304720"/>
            <a:ext cx="3246120" cy="357924"/>
          </a:xfrm>
          <a:prstGeom prst="round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 name="TextBox 5"/>
          <p:cNvSpPr txBox="1"/>
          <p:nvPr/>
        </p:nvSpPr>
        <p:spPr>
          <a:xfrm>
            <a:off x="941832" y="4353336"/>
            <a:ext cx="3099815" cy="217867"/>
          </a:xfrm>
          <a:prstGeom prst="rect">
            <a:avLst/>
          </a:prstGeom>
          <a:noFill/>
        </p:spPr>
        <p:txBody>
          <a:bodyPr wrap="square" lIns="0" tIns="0" rIns="0" bIns="0" anchor="t">
            <a:noAutofit/>
          </a:bodyPr>
          <a:lstStyle/>
          <a:p>
            <a:pPr algn="ctr"/>
            <a:r>
              <a:rPr sz="1600" b="1" i="0">
                <a:solidFill>
                  <a:srgbClr val="FFFFFF"/>
                </a:solidFill>
                <a:latin typeface="Calibri"/>
              </a:rPr>
              <a:t>Cosine</a:t>
            </a:r>
          </a:p>
        </p:txBody>
      </p:sp>
      <p:sp>
        <p:nvSpPr>
          <p:cNvPr id="7" name="TextBox 6"/>
          <p:cNvSpPr txBox="1"/>
          <p:nvPr/>
        </p:nvSpPr>
        <p:spPr>
          <a:xfrm>
            <a:off x="978407" y="4662644"/>
            <a:ext cx="3026663" cy="605096"/>
          </a:xfrm>
          <a:prstGeom prst="rect">
            <a:avLst/>
          </a:prstGeom>
          <a:noFill/>
        </p:spPr>
        <p:txBody>
          <a:bodyPr wrap="square" lIns="18288" tIns="18288" rIns="18288" bIns="18288" anchor="t">
            <a:noAutofit/>
          </a:bodyPr>
          <a:lstStyle/>
          <a:p>
            <a:pPr algn="ctr"/>
            <a:r>
              <a:rPr sz="1400" b="0" i="0" dirty="0">
                <a:solidFill>
                  <a:srgbClr val="44546A"/>
                </a:solidFill>
                <a:latin typeface="Calibri"/>
              </a:rPr>
              <a:t>Best default for semantic similarity.</a:t>
            </a:r>
            <a:br>
              <a:rPr sz="1600" dirty="0"/>
            </a:br>
            <a:r>
              <a:rPr sz="1400" b="0" i="0" dirty="0">
                <a:solidFill>
                  <a:srgbClr val="44546A"/>
                </a:solidFill>
                <a:latin typeface="Calibri"/>
              </a:rPr>
              <a:t>Focuses on direction.</a:t>
            </a:r>
          </a:p>
        </p:txBody>
      </p:sp>
      <p:sp>
        <p:nvSpPr>
          <p:cNvPr id="8" name="Rounded Rectangle 7"/>
          <p:cNvSpPr/>
          <p:nvPr/>
        </p:nvSpPr>
        <p:spPr>
          <a:xfrm>
            <a:off x="4526280" y="4303895"/>
            <a:ext cx="3246120" cy="891251"/>
          </a:xfrm>
          <a:prstGeom prst="roundRect">
            <a:avLst/>
          </a:prstGeom>
          <a:solidFill>
            <a:srgbClr val="FFFFFF"/>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9" name="Rounded Rectangle 8"/>
          <p:cNvSpPr/>
          <p:nvPr/>
        </p:nvSpPr>
        <p:spPr>
          <a:xfrm>
            <a:off x="4526280" y="4304720"/>
            <a:ext cx="3246120" cy="357924"/>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0" name="TextBox 9"/>
          <p:cNvSpPr txBox="1"/>
          <p:nvPr/>
        </p:nvSpPr>
        <p:spPr>
          <a:xfrm>
            <a:off x="4599432" y="4353336"/>
            <a:ext cx="3099815" cy="217867"/>
          </a:xfrm>
          <a:prstGeom prst="rect">
            <a:avLst/>
          </a:prstGeom>
          <a:noFill/>
        </p:spPr>
        <p:txBody>
          <a:bodyPr wrap="square" lIns="0" tIns="0" rIns="0" bIns="0" anchor="t">
            <a:noAutofit/>
          </a:bodyPr>
          <a:lstStyle/>
          <a:p>
            <a:pPr algn="ctr"/>
            <a:r>
              <a:rPr sz="1600" b="1" i="0" dirty="0">
                <a:solidFill>
                  <a:srgbClr val="FFFFFF"/>
                </a:solidFill>
                <a:latin typeface="Calibri"/>
              </a:rPr>
              <a:t>Dot product</a:t>
            </a:r>
          </a:p>
        </p:txBody>
      </p:sp>
      <p:sp>
        <p:nvSpPr>
          <p:cNvPr id="11" name="TextBox 10"/>
          <p:cNvSpPr txBox="1"/>
          <p:nvPr/>
        </p:nvSpPr>
        <p:spPr>
          <a:xfrm>
            <a:off x="4636008" y="4662644"/>
            <a:ext cx="3026663" cy="605096"/>
          </a:xfrm>
          <a:prstGeom prst="rect">
            <a:avLst/>
          </a:prstGeom>
          <a:noFill/>
        </p:spPr>
        <p:txBody>
          <a:bodyPr wrap="square" lIns="18288" tIns="18288" rIns="18288" bIns="18288" anchor="t">
            <a:noAutofit/>
          </a:bodyPr>
          <a:lstStyle/>
          <a:p>
            <a:pPr algn="ctr"/>
            <a:r>
              <a:rPr sz="1400" b="0" i="0" dirty="0">
                <a:solidFill>
                  <a:srgbClr val="44546A"/>
                </a:solidFill>
                <a:latin typeface="Calibri"/>
              </a:rPr>
              <a:t>Fast with normalized vectors.</a:t>
            </a:r>
            <a:br>
              <a:rPr sz="1600" dirty="0"/>
            </a:br>
            <a:r>
              <a:rPr sz="1400" b="0" i="0" dirty="0">
                <a:solidFill>
                  <a:srgbClr val="44546A"/>
                </a:solidFill>
                <a:latin typeface="Calibri"/>
              </a:rPr>
              <a:t>Common in vector search engines.</a:t>
            </a:r>
          </a:p>
        </p:txBody>
      </p:sp>
      <p:sp>
        <p:nvSpPr>
          <p:cNvPr id="12" name="Rounded Rectangle 11"/>
          <p:cNvSpPr/>
          <p:nvPr/>
        </p:nvSpPr>
        <p:spPr>
          <a:xfrm>
            <a:off x="8183879" y="4303895"/>
            <a:ext cx="3246120" cy="891251"/>
          </a:xfrm>
          <a:prstGeom prst="roundRect">
            <a:avLst/>
          </a:prstGeom>
          <a:solidFill>
            <a:srgbClr val="FFFFFF"/>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3" name="Rounded Rectangle 12"/>
          <p:cNvSpPr/>
          <p:nvPr/>
        </p:nvSpPr>
        <p:spPr>
          <a:xfrm>
            <a:off x="8183879" y="4304720"/>
            <a:ext cx="3246120" cy="357924"/>
          </a:xfrm>
          <a:prstGeom prst="round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4" name="TextBox 13"/>
          <p:cNvSpPr txBox="1"/>
          <p:nvPr/>
        </p:nvSpPr>
        <p:spPr>
          <a:xfrm>
            <a:off x="8257031" y="4353336"/>
            <a:ext cx="3099815" cy="217867"/>
          </a:xfrm>
          <a:prstGeom prst="rect">
            <a:avLst/>
          </a:prstGeom>
          <a:noFill/>
        </p:spPr>
        <p:txBody>
          <a:bodyPr wrap="square" lIns="0" tIns="0" rIns="0" bIns="0" anchor="t">
            <a:noAutofit/>
          </a:bodyPr>
          <a:lstStyle/>
          <a:p>
            <a:pPr algn="ctr"/>
            <a:r>
              <a:rPr sz="1600" b="1" i="0">
                <a:solidFill>
                  <a:srgbClr val="FFFFFF"/>
                </a:solidFill>
                <a:latin typeface="Calibri"/>
              </a:rPr>
              <a:t>Euclidean</a:t>
            </a:r>
          </a:p>
        </p:txBody>
      </p:sp>
      <p:sp>
        <p:nvSpPr>
          <p:cNvPr id="15" name="TextBox 14"/>
          <p:cNvSpPr txBox="1"/>
          <p:nvPr/>
        </p:nvSpPr>
        <p:spPr>
          <a:xfrm>
            <a:off x="8293607" y="4662644"/>
            <a:ext cx="3026663" cy="605096"/>
          </a:xfrm>
          <a:prstGeom prst="rect">
            <a:avLst/>
          </a:prstGeom>
          <a:noFill/>
        </p:spPr>
        <p:txBody>
          <a:bodyPr wrap="square" lIns="18288" tIns="18288" rIns="18288" bIns="18288" anchor="t">
            <a:noAutofit/>
          </a:bodyPr>
          <a:lstStyle/>
          <a:p>
            <a:pPr algn="ctr"/>
            <a:r>
              <a:rPr sz="1400" b="0" i="0" dirty="0">
                <a:solidFill>
                  <a:srgbClr val="44546A"/>
                </a:solidFill>
                <a:latin typeface="Calibri"/>
              </a:rPr>
              <a:t>Simple distance baseline.</a:t>
            </a:r>
            <a:br>
              <a:rPr sz="1600" dirty="0"/>
            </a:br>
            <a:r>
              <a:rPr sz="1400" b="0" i="0" dirty="0">
                <a:solidFill>
                  <a:srgbClr val="44546A"/>
                </a:solidFill>
                <a:latin typeface="Calibri"/>
              </a:rPr>
              <a:t>Useful for L2 indexes and clustering.</a:t>
            </a:r>
          </a:p>
        </p:txBody>
      </p:sp>
      <p:sp>
        <p:nvSpPr>
          <p:cNvPr id="16" name="TextBox 15"/>
          <p:cNvSpPr txBox="1"/>
          <p:nvPr/>
        </p:nvSpPr>
        <p:spPr>
          <a:xfrm>
            <a:off x="1021344" y="5359581"/>
            <a:ext cx="10149840" cy="640080"/>
          </a:xfrm>
          <a:prstGeom prst="rect">
            <a:avLst/>
          </a:prstGeom>
          <a:noFill/>
        </p:spPr>
        <p:txBody>
          <a:bodyPr wrap="square" lIns="0" tIns="0" rIns="0" bIns="0" anchor="t">
            <a:noAutofit/>
          </a:bodyPr>
          <a:lstStyle/>
          <a:p>
            <a:pPr algn="ctr"/>
            <a:r>
              <a:rPr sz="2000" b="1" i="0" dirty="0">
                <a:solidFill>
                  <a:srgbClr val="161A3E"/>
                </a:solidFill>
                <a:latin typeface="Calibri"/>
              </a:rPr>
              <a:t>Operational rule: document the metric, normalize policy, and embedding model together. Changing any one can change retrieval rankings.</a:t>
            </a:r>
          </a:p>
        </p:txBody>
      </p:sp>
      <p:pic>
        <p:nvPicPr>
          <p:cNvPr id="18" name="Picture 17">
            <a:extLst>
              <a:ext uri="{FF2B5EF4-FFF2-40B4-BE49-F238E27FC236}">
                <a16:creationId xmlns:a16="http://schemas.microsoft.com/office/drawing/2014/main" id="{5D2FEBB5-DB13-1D01-D580-B585C9E62A9A}"/>
              </a:ext>
            </a:extLst>
          </p:cNvPr>
          <p:cNvPicPr>
            <a:picLocks noChangeAspect="1"/>
          </p:cNvPicPr>
          <p:nvPr/>
        </p:nvPicPr>
        <p:blipFill>
          <a:blip r:embed="rId3"/>
          <a:srcRect l="39745" t="16836" r="35834" b="27690"/>
          <a:stretch>
            <a:fillRect/>
          </a:stretch>
        </p:blipFill>
        <p:spPr>
          <a:xfrm>
            <a:off x="5008560" y="1477934"/>
            <a:ext cx="2174880" cy="277901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51560" y="2331720"/>
            <a:ext cx="10058400" cy="347472"/>
          </a:xfrm>
          <a:prstGeom prst="rect">
            <a:avLst/>
          </a:prstGeom>
          <a:noFill/>
        </p:spPr>
        <p:txBody>
          <a:bodyPr wrap="square" lIns="0" tIns="0" rIns="0" bIns="0" anchor="t">
            <a:noAutofit/>
          </a:bodyPr>
          <a:lstStyle/>
          <a:p>
            <a:pPr algn="ctr"/>
            <a:r>
              <a:rPr sz="1500" b="1" i="0">
                <a:solidFill>
                  <a:srgbClr val="5B9BD5"/>
                </a:solidFill>
                <a:latin typeface="Calibri"/>
              </a:rPr>
              <a:t>PART 3</a:t>
            </a:r>
          </a:p>
        </p:txBody>
      </p:sp>
      <p:sp>
        <p:nvSpPr>
          <p:cNvPr id="4" name="TextBox 3"/>
          <p:cNvSpPr txBox="1"/>
          <p:nvPr/>
        </p:nvSpPr>
        <p:spPr>
          <a:xfrm>
            <a:off x="1234440" y="2743200"/>
            <a:ext cx="9738360" cy="777240"/>
          </a:xfrm>
          <a:prstGeom prst="rect">
            <a:avLst/>
          </a:prstGeom>
          <a:noFill/>
        </p:spPr>
        <p:txBody>
          <a:bodyPr wrap="square" lIns="0" tIns="0" rIns="0" bIns="0" anchor="t">
            <a:noAutofit/>
          </a:bodyPr>
          <a:lstStyle/>
          <a:p>
            <a:pPr algn="ctr"/>
            <a:r>
              <a:rPr sz="3600" b="1" i="0">
                <a:solidFill>
                  <a:srgbClr val="FFFFFF"/>
                </a:solidFill>
                <a:latin typeface="Calibri"/>
              </a:rPr>
              <a:t>Dense vs sparse retrieval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a:solidFill>
                  <a:srgbClr val="161A3E"/>
                </a:solidFill>
                <a:latin typeface="Calibri"/>
              </a:rPr>
              <a:t>Sparse retrieval: exact terms still matter</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828800"/>
            <a:ext cx="4846320" cy="320040"/>
          </a:xfrm>
          <a:prstGeom prst="rect">
            <a:avLst/>
          </a:prstGeom>
          <a:noFill/>
        </p:spPr>
        <p:txBody>
          <a:bodyPr wrap="square" lIns="0" tIns="0" rIns="0" bIns="0" anchor="t">
            <a:noAutofit/>
          </a:bodyPr>
          <a:lstStyle/>
          <a:p>
            <a:pPr algn="l"/>
            <a:r>
              <a:rPr sz="2100" b="1" i="0">
                <a:solidFill>
                  <a:srgbClr val="161A3E"/>
                </a:solidFill>
                <a:latin typeface="Calibri"/>
              </a:rPr>
              <a:t>Keyword engine mental model</a:t>
            </a:r>
          </a:p>
        </p:txBody>
      </p:sp>
      <p:sp>
        <p:nvSpPr>
          <p:cNvPr id="5" name="Rounded Rectangle 4"/>
          <p:cNvSpPr/>
          <p:nvPr/>
        </p:nvSpPr>
        <p:spPr>
          <a:xfrm>
            <a:off x="914400" y="2423160"/>
            <a:ext cx="1234440" cy="438912"/>
          </a:xfrm>
          <a:prstGeom prst="roundRect">
            <a:avLst/>
          </a:prstGeom>
          <a:solidFill>
            <a:srgbClr val="4472C4"/>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9264" y="2523744"/>
            <a:ext cx="1124712" cy="237744"/>
          </a:xfrm>
          <a:prstGeom prst="rect">
            <a:avLst/>
          </a:prstGeom>
          <a:noFill/>
        </p:spPr>
        <p:txBody>
          <a:bodyPr wrap="square" lIns="18288" tIns="18288" rIns="18288" bIns="18288" anchor="ctr">
            <a:noAutofit/>
          </a:bodyPr>
          <a:lstStyle/>
          <a:p>
            <a:pPr algn="ctr"/>
            <a:r>
              <a:rPr sz="1300" b="1" i="0">
                <a:solidFill>
                  <a:srgbClr val="FFFFFF"/>
                </a:solidFill>
                <a:latin typeface="Calibri"/>
              </a:rPr>
              <a:t>refund</a:t>
            </a:r>
          </a:p>
        </p:txBody>
      </p:sp>
      <p:cxnSp>
        <p:nvCxnSpPr>
          <p:cNvPr id="7" name="Connector 6"/>
          <p:cNvCxnSpPr/>
          <p:nvPr/>
        </p:nvCxnSpPr>
        <p:spPr>
          <a:xfrm>
            <a:off x="2212848" y="2642615"/>
            <a:ext cx="393192" cy="0"/>
          </a:xfrm>
          <a:prstGeom prst="line">
            <a:avLst/>
          </a:prstGeom>
          <a:ln w="19050">
            <a:solidFill>
              <a:srgbClr val="5B9BD5"/>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697480" y="2423160"/>
            <a:ext cx="2286000" cy="438912"/>
          </a:xfrm>
          <a:prstGeom prst="roundRect">
            <a:avLst/>
          </a:prstGeom>
          <a:solidFill>
            <a:srgbClr val="D6E4F0"/>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52344" y="2523744"/>
            <a:ext cx="2176272" cy="237744"/>
          </a:xfrm>
          <a:prstGeom prst="rect">
            <a:avLst/>
          </a:prstGeom>
          <a:noFill/>
        </p:spPr>
        <p:txBody>
          <a:bodyPr wrap="square" lIns="18288" tIns="18288" rIns="18288" bIns="18288" anchor="ctr">
            <a:noAutofit/>
          </a:bodyPr>
          <a:lstStyle/>
          <a:p>
            <a:pPr algn="ctr"/>
            <a:r>
              <a:rPr sz="1200" b="1" i="0">
                <a:solidFill>
                  <a:srgbClr val="161A3E"/>
                </a:solidFill>
                <a:latin typeface="Calibri"/>
              </a:rPr>
              <a:t>doc 2, doc 7, doc 9</a:t>
            </a:r>
          </a:p>
        </p:txBody>
      </p:sp>
      <p:sp>
        <p:nvSpPr>
          <p:cNvPr id="10" name="Rounded Rectangle 9"/>
          <p:cNvSpPr/>
          <p:nvPr/>
        </p:nvSpPr>
        <p:spPr>
          <a:xfrm>
            <a:off x="914400" y="3154680"/>
            <a:ext cx="1234440" cy="438912"/>
          </a:xfrm>
          <a:prstGeom prst="roundRect">
            <a:avLst/>
          </a:prstGeom>
          <a:solidFill>
            <a:srgbClr val="4472C4"/>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9264" y="3255264"/>
            <a:ext cx="1124712" cy="237744"/>
          </a:xfrm>
          <a:prstGeom prst="rect">
            <a:avLst/>
          </a:prstGeom>
          <a:noFill/>
        </p:spPr>
        <p:txBody>
          <a:bodyPr wrap="square" lIns="18288" tIns="18288" rIns="18288" bIns="18288" anchor="ctr">
            <a:noAutofit/>
          </a:bodyPr>
          <a:lstStyle/>
          <a:p>
            <a:pPr algn="ctr"/>
            <a:r>
              <a:rPr sz="1300" b="1" i="0">
                <a:solidFill>
                  <a:srgbClr val="FFFFFF"/>
                </a:solidFill>
                <a:latin typeface="Calibri"/>
              </a:rPr>
              <a:t>E1042</a:t>
            </a:r>
          </a:p>
        </p:txBody>
      </p:sp>
      <p:cxnSp>
        <p:nvCxnSpPr>
          <p:cNvPr id="12" name="Connector 11"/>
          <p:cNvCxnSpPr/>
          <p:nvPr/>
        </p:nvCxnSpPr>
        <p:spPr>
          <a:xfrm>
            <a:off x="2212848" y="3374136"/>
            <a:ext cx="393192" cy="0"/>
          </a:xfrm>
          <a:prstGeom prst="line">
            <a:avLst/>
          </a:prstGeom>
          <a:ln w="19050">
            <a:solidFill>
              <a:srgbClr val="5B9BD5"/>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697480" y="3154680"/>
            <a:ext cx="2286000" cy="438912"/>
          </a:xfrm>
          <a:prstGeom prst="roundRect">
            <a:avLst/>
          </a:prstGeom>
          <a:solidFill>
            <a:srgbClr val="D6E4F0"/>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52344" y="3255264"/>
            <a:ext cx="2176272" cy="237744"/>
          </a:xfrm>
          <a:prstGeom prst="rect">
            <a:avLst/>
          </a:prstGeom>
          <a:noFill/>
        </p:spPr>
        <p:txBody>
          <a:bodyPr wrap="square" lIns="18288" tIns="18288" rIns="18288" bIns="18288" anchor="ctr">
            <a:noAutofit/>
          </a:bodyPr>
          <a:lstStyle/>
          <a:p>
            <a:pPr algn="ctr"/>
            <a:r>
              <a:rPr sz="1200" b="1" i="0">
                <a:solidFill>
                  <a:srgbClr val="161A3E"/>
                </a:solidFill>
                <a:latin typeface="Calibri"/>
              </a:rPr>
              <a:t>doc 4</a:t>
            </a:r>
          </a:p>
        </p:txBody>
      </p:sp>
      <p:sp>
        <p:nvSpPr>
          <p:cNvPr id="15" name="Rounded Rectangle 14"/>
          <p:cNvSpPr/>
          <p:nvPr/>
        </p:nvSpPr>
        <p:spPr>
          <a:xfrm>
            <a:off x="914400" y="3886200"/>
            <a:ext cx="1234440" cy="438912"/>
          </a:xfrm>
          <a:prstGeom prst="roundRect">
            <a:avLst/>
          </a:prstGeom>
          <a:solidFill>
            <a:srgbClr val="4472C4"/>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9264" y="3986784"/>
            <a:ext cx="1124712" cy="237744"/>
          </a:xfrm>
          <a:prstGeom prst="rect">
            <a:avLst/>
          </a:prstGeom>
          <a:noFill/>
        </p:spPr>
        <p:txBody>
          <a:bodyPr wrap="square" lIns="18288" tIns="18288" rIns="18288" bIns="18288" anchor="ctr">
            <a:noAutofit/>
          </a:bodyPr>
          <a:lstStyle/>
          <a:p>
            <a:pPr algn="ctr"/>
            <a:r>
              <a:rPr sz="1300" b="1" i="0">
                <a:solidFill>
                  <a:srgbClr val="FFFFFF"/>
                </a:solidFill>
                <a:latin typeface="Calibri"/>
              </a:rPr>
              <a:t>password</a:t>
            </a:r>
          </a:p>
        </p:txBody>
      </p:sp>
      <p:cxnSp>
        <p:nvCxnSpPr>
          <p:cNvPr id="17" name="Connector 16"/>
          <p:cNvCxnSpPr/>
          <p:nvPr/>
        </p:nvCxnSpPr>
        <p:spPr>
          <a:xfrm>
            <a:off x="2212848" y="4105656"/>
            <a:ext cx="393192" cy="0"/>
          </a:xfrm>
          <a:prstGeom prst="line">
            <a:avLst/>
          </a:prstGeom>
          <a:ln w="19050">
            <a:solidFill>
              <a:srgbClr val="5B9BD5"/>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697480" y="3886200"/>
            <a:ext cx="2286000" cy="438912"/>
          </a:xfrm>
          <a:prstGeom prst="roundRect">
            <a:avLst/>
          </a:prstGeom>
          <a:solidFill>
            <a:srgbClr val="D6E4F0"/>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52344" y="3986784"/>
            <a:ext cx="2176272" cy="237744"/>
          </a:xfrm>
          <a:prstGeom prst="rect">
            <a:avLst/>
          </a:prstGeom>
          <a:noFill/>
        </p:spPr>
        <p:txBody>
          <a:bodyPr wrap="square" lIns="18288" tIns="18288" rIns="18288" bIns="18288" anchor="ctr">
            <a:noAutofit/>
          </a:bodyPr>
          <a:lstStyle/>
          <a:p>
            <a:pPr algn="ctr"/>
            <a:r>
              <a:rPr sz="1200" b="1" i="0">
                <a:solidFill>
                  <a:srgbClr val="161A3E"/>
                </a:solidFill>
                <a:latin typeface="Calibri"/>
              </a:rPr>
              <a:t>doc 1, doc 6</a:t>
            </a:r>
          </a:p>
        </p:txBody>
      </p:sp>
      <p:sp>
        <p:nvSpPr>
          <p:cNvPr id="20" name="TextBox 19"/>
          <p:cNvSpPr txBox="1"/>
          <p:nvPr/>
        </p:nvSpPr>
        <p:spPr>
          <a:xfrm>
            <a:off x="6263640" y="1828800"/>
            <a:ext cx="4754880" cy="320040"/>
          </a:xfrm>
          <a:prstGeom prst="rect">
            <a:avLst/>
          </a:prstGeom>
          <a:noFill/>
        </p:spPr>
        <p:txBody>
          <a:bodyPr wrap="square" lIns="0" tIns="0" rIns="0" bIns="0" anchor="t">
            <a:noAutofit/>
          </a:bodyPr>
          <a:lstStyle/>
          <a:p>
            <a:pPr algn="l"/>
            <a:r>
              <a:rPr sz="2100" b="1" i="0">
                <a:solidFill>
                  <a:srgbClr val="161A3E"/>
                </a:solidFill>
                <a:latin typeface="Calibri"/>
              </a:rPr>
              <a:t>Where sparse wins</a:t>
            </a:r>
          </a:p>
        </p:txBody>
      </p:sp>
      <p:sp>
        <p:nvSpPr>
          <p:cNvPr id="21" name="TextBox 20"/>
          <p:cNvSpPr txBox="1"/>
          <p:nvPr/>
        </p:nvSpPr>
        <p:spPr>
          <a:xfrm>
            <a:off x="6309360" y="2514600"/>
            <a:ext cx="228600" cy="256032"/>
          </a:xfrm>
          <a:prstGeom prst="rect">
            <a:avLst/>
          </a:prstGeom>
          <a:noFill/>
        </p:spPr>
        <p:txBody>
          <a:bodyPr wrap="square" lIns="0" tIns="0" rIns="0" bIns="0" anchor="t">
            <a:noAutofit/>
          </a:bodyPr>
          <a:lstStyle/>
          <a:p>
            <a:pPr algn="ctr"/>
            <a:r>
              <a:rPr sz="2000" b="1" i="0">
                <a:solidFill>
                  <a:srgbClr val="4472C4"/>
                </a:solidFill>
                <a:latin typeface="Calibri"/>
              </a:rPr>
              <a:t>•</a:t>
            </a:r>
          </a:p>
        </p:txBody>
      </p:sp>
      <p:sp>
        <p:nvSpPr>
          <p:cNvPr id="22" name="TextBox 21"/>
          <p:cNvSpPr txBox="1"/>
          <p:nvPr/>
        </p:nvSpPr>
        <p:spPr>
          <a:xfrm>
            <a:off x="6601968" y="2514600"/>
            <a:ext cx="4279392" cy="310896"/>
          </a:xfrm>
          <a:prstGeom prst="rect">
            <a:avLst/>
          </a:prstGeom>
          <a:noFill/>
        </p:spPr>
        <p:txBody>
          <a:bodyPr wrap="square" lIns="18288" tIns="18288" rIns="18288" bIns="18288" anchor="t">
            <a:noAutofit/>
          </a:bodyPr>
          <a:lstStyle/>
          <a:p>
            <a:pPr algn="l"/>
            <a:r>
              <a:rPr sz="1800" b="0" i="0">
                <a:solidFill>
                  <a:srgbClr val="161A3E"/>
                </a:solidFill>
                <a:latin typeface="Calibri"/>
              </a:rPr>
              <a:t>Product codes and error IDs</a:t>
            </a:r>
          </a:p>
        </p:txBody>
      </p:sp>
      <p:sp>
        <p:nvSpPr>
          <p:cNvPr id="23" name="TextBox 22"/>
          <p:cNvSpPr txBox="1"/>
          <p:nvPr/>
        </p:nvSpPr>
        <p:spPr>
          <a:xfrm>
            <a:off x="6309360" y="2953512"/>
            <a:ext cx="228600" cy="256032"/>
          </a:xfrm>
          <a:prstGeom prst="rect">
            <a:avLst/>
          </a:prstGeom>
          <a:noFill/>
        </p:spPr>
        <p:txBody>
          <a:bodyPr wrap="square" lIns="0" tIns="0" rIns="0" bIns="0" anchor="t">
            <a:noAutofit/>
          </a:bodyPr>
          <a:lstStyle/>
          <a:p>
            <a:pPr algn="ctr"/>
            <a:r>
              <a:rPr sz="2000" b="1" i="0">
                <a:solidFill>
                  <a:srgbClr val="4472C4"/>
                </a:solidFill>
                <a:latin typeface="Calibri"/>
              </a:rPr>
              <a:t>•</a:t>
            </a:r>
          </a:p>
        </p:txBody>
      </p:sp>
      <p:sp>
        <p:nvSpPr>
          <p:cNvPr id="24" name="TextBox 23"/>
          <p:cNvSpPr txBox="1"/>
          <p:nvPr/>
        </p:nvSpPr>
        <p:spPr>
          <a:xfrm>
            <a:off x="6601968" y="2953512"/>
            <a:ext cx="4279392" cy="310896"/>
          </a:xfrm>
          <a:prstGeom prst="rect">
            <a:avLst/>
          </a:prstGeom>
          <a:noFill/>
        </p:spPr>
        <p:txBody>
          <a:bodyPr wrap="square" lIns="18288" tIns="18288" rIns="18288" bIns="18288" anchor="t">
            <a:noAutofit/>
          </a:bodyPr>
          <a:lstStyle/>
          <a:p>
            <a:pPr algn="l"/>
            <a:r>
              <a:rPr sz="1800" b="0" i="0">
                <a:solidFill>
                  <a:srgbClr val="161A3E"/>
                </a:solidFill>
                <a:latin typeface="Calibri"/>
              </a:rPr>
              <a:t>Names, invoice numbers, policy clause IDs</a:t>
            </a:r>
          </a:p>
        </p:txBody>
      </p:sp>
      <p:sp>
        <p:nvSpPr>
          <p:cNvPr id="25" name="TextBox 24"/>
          <p:cNvSpPr txBox="1"/>
          <p:nvPr/>
        </p:nvSpPr>
        <p:spPr>
          <a:xfrm>
            <a:off x="6309360" y="3392424"/>
            <a:ext cx="228600" cy="256032"/>
          </a:xfrm>
          <a:prstGeom prst="rect">
            <a:avLst/>
          </a:prstGeom>
          <a:noFill/>
        </p:spPr>
        <p:txBody>
          <a:bodyPr wrap="square" lIns="0" tIns="0" rIns="0" bIns="0" anchor="t">
            <a:noAutofit/>
          </a:bodyPr>
          <a:lstStyle/>
          <a:p>
            <a:pPr algn="ctr"/>
            <a:r>
              <a:rPr sz="2000" b="1" i="0">
                <a:solidFill>
                  <a:srgbClr val="4472C4"/>
                </a:solidFill>
                <a:latin typeface="Calibri"/>
              </a:rPr>
              <a:t>•</a:t>
            </a:r>
          </a:p>
        </p:txBody>
      </p:sp>
      <p:sp>
        <p:nvSpPr>
          <p:cNvPr id="26" name="TextBox 25"/>
          <p:cNvSpPr txBox="1"/>
          <p:nvPr/>
        </p:nvSpPr>
        <p:spPr>
          <a:xfrm>
            <a:off x="6601968" y="3392424"/>
            <a:ext cx="4279392" cy="310896"/>
          </a:xfrm>
          <a:prstGeom prst="rect">
            <a:avLst/>
          </a:prstGeom>
          <a:noFill/>
        </p:spPr>
        <p:txBody>
          <a:bodyPr wrap="square" lIns="18288" tIns="18288" rIns="18288" bIns="18288" anchor="t">
            <a:noAutofit/>
          </a:bodyPr>
          <a:lstStyle/>
          <a:p>
            <a:pPr algn="l"/>
            <a:r>
              <a:rPr sz="1800" b="0" i="0">
                <a:solidFill>
                  <a:srgbClr val="161A3E"/>
                </a:solidFill>
                <a:latin typeface="Calibri"/>
              </a:rPr>
              <a:t>Exact legal or compliance wording</a:t>
            </a:r>
          </a:p>
        </p:txBody>
      </p:sp>
      <p:sp>
        <p:nvSpPr>
          <p:cNvPr id="27" name="TextBox 26"/>
          <p:cNvSpPr txBox="1"/>
          <p:nvPr/>
        </p:nvSpPr>
        <p:spPr>
          <a:xfrm>
            <a:off x="6309360" y="3831335"/>
            <a:ext cx="228600" cy="256032"/>
          </a:xfrm>
          <a:prstGeom prst="rect">
            <a:avLst/>
          </a:prstGeom>
          <a:noFill/>
        </p:spPr>
        <p:txBody>
          <a:bodyPr wrap="square" lIns="0" tIns="0" rIns="0" bIns="0" anchor="t">
            <a:noAutofit/>
          </a:bodyPr>
          <a:lstStyle/>
          <a:p>
            <a:pPr algn="ctr"/>
            <a:r>
              <a:rPr sz="2000" b="1" i="0">
                <a:solidFill>
                  <a:srgbClr val="4472C4"/>
                </a:solidFill>
                <a:latin typeface="Calibri"/>
              </a:rPr>
              <a:t>•</a:t>
            </a:r>
          </a:p>
        </p:txBody>
      </p:sp>
      <p:sp>
        <p:nvSpPr>
          <p:cNvPr id="28" name="TextBox 27"/>
          <p:cNvSpPr txBox="1"/>
          <p:nvPr/>
        </p:nvSpPr>
        <p:spPr>
          <a:xfrm>
            <a:off x="6601968" y="3831335"/>
            <a:ext cx="4279392" cy="310896"/>
          </a:xfrm>
          <a:prstGeom prst="rect">
            <a:avLst/>
          </a:prstGeom>
          <a:noFill/>
        </p:spPr>
        <p:txBody>
          <a:bodyPr wrap="square" lIns="18288" tIns="18288" rIns="18288" bIns="18288" anchor="t">
            <a:noAutofit/>
          </a:bodyPr>
          <a:lstStyle/>
          <a:p>
            <a:pPr algn="l"/>
            <a:r>
              <a:rPr sz="1800" b="0" i="0">
                <a:solidFill>
                  <a:srgbClr val="161A3E"/>
                </a:solidFill>
                <a:latin typeface="Calibri"/>
              </a:rPr>
              <a:t>Queries where “must contain this term” matters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C0BC4-7FA7-D47B-D54F-E18DDF31A086}"/>
            </a:ext>
          </a:extLst>
        </p:cNvPr>
        <p:cNvGrpSpPr/>
        <p:nvPr/>
      </p:nvGrpSpPr>
      <p:grpSpPr>
        <a:xfrm>
          <a:off x="0" y="0"/>
          <a:ext cx="0" cy="0"/>
          <a:chOff x="0" y="0"/>
          <a:chExt cx="0" cy="0"/>
        </a:xfrm>
      </p:grpSpPr>
      <p:pic>
        <p:nvPicPr>
          <p:cNvPr id="30" name="Picture 29">
            <a:extLst>
              <a:ext uri="{FF2B5EF4-FFF2-40B4-BE49-F238E27FC236}">
                <a16:creationId xmlns:a16="http://schemas.microsoft.com/office/drawing/2014/main" id="{C2665D3D-FA11-39D1-2441-7506F82D25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5463873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a:solidFill>
                  <a:srgbClr val="161A3E"/>
                </a:solidFill>
                <a:latin typeface="Calibri"/>
              </a:rPr>
              <a:t>Dense retrieval: match intent even when words differ</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28314" y="2077276"/>
            <a:ext cx="10332720" cy="320040"/>
          </a:xfrm>
          <a:prstGeom prst="rect">
            <a:avLst/>
          </a:prstGeom>
          <a:noFill/>
        </p:spPr>
        <p:txBody>
          <a:bodyPr wrap="square" lIns="0" tIns="0" rIns="0" bIns="0" anchor="t">
            <a:noAutofit/>
          </a:bodyPr>
          <a:lstStyle/>
          <a:p>
            <a:pPr algn="ctr"/>
            <a:r>
              <a:rPr sz="2000" b="1" i="0" dirty="0">
                <a:solidFill>
                  <a:srgbClr val="161A3E"/>
                </a:solidFill>
                <a:latin typeface="Calibri"/>
              </a:rPr>
              <a:t>Dense retrieval converts both documents and query into vectors, then ranks by similarity.</a:t>
            </a:r>
          </a:p>
        </p:txBody>
      </p:sp>
      <p:cxnSp>
        <p:nvCxnSpPr>
          <p:cNvPr id="5" name="Connector 4"/>
          <p:cNvCxnSpPr>
            <a:cxnSpLocks/>
            <a:stCxn id="9" idx="3"/>
            <a:endCxn id="10" idx="1"/>
          </p:cNvCxnSpPr>
          <p:nvPr/>
        </p:nvCxnSpPr>
        <p:spPr>
          <a:xfrm>
            <a:off x="2918921" y="3321658"/>
            <a:ext cx="740665" cy="0"/>
          </a:xfrm>
          <a:prstGeom prst="line">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 name="Connector 5"/>
          <p:cNvCxnSpPr>
            <a:cxnSpLocks/>
            <a:stCxn id="11" idx="3"/>
            <a:endCxn id="12" idx="1"/>
          </p:cNvCxnSpPr>
          <p:nvPr/>
        </p:nvCxnSpPr>
        <p:spPr>
          <a:xfrm>
            <a:off x="5570681" y="3321658"/>
            <a:ext cx="740665" cy="0"/>
          </a:xfrm>
          <a:prstGeom prst="line">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 name="Connector 6"/>
          <p:cNvCxnSpPr>
            <a:cxnSpLocks/>
            <a:stCxn id="12" idx="3"/>
            <a:endCxn id="14" idx="1"/>
          </p:cNvCxnSpPr>
          <p:nvPr/>
        </p:nvCxnSpPr>
        <p:spPr>
          <a:xfrm>
            <a:off x="8277306" y="3321658"/>
            <a:ext cx="685800" cy="0"/>
          </a:xfrm>
          <a:prstGeom prst="line">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 name="Rounded Rectangle 7"/>
          <p:cNvSpPr/>
          <p:nvPr/>
        </p:nvSpPr>
        <p:spPr>
          <a:xfrm>
            <a:off x="1007826" y="2864458"/>
            <a:ext cx="1965960" cy="914400"/>
          </a:xfrm>
          <a:prstGeom prst="roundRect">
            <a:avLst/>
          </a:prstGeom>
          <a:solidFill>
            <a:srgbClr val="D6E4F0"/>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2690" y="2965042"/>
            <a:ext cx="1856231" cy="713232"/>
          </a:xfrm>
          <a:prstGeom prst="rect">
            <a:avLst/>
          </a:prstGeom>
          <a:noFill/>
        </p:spPr>
        <p:txBody>
          <a:bodyPr wrap="square" lIns="18288" tIns="18288" rIns="18288" bIns="18288" anchor="ctr">
            <a:noAutofit/>
          </a:bodyPr>
          <a:lstStyle/>
          <a:p>
            <a:pPr algn="ctr"/>
            <a:r>
              <a:rPr sz="1600" b="1" i="0">
                <a:solidFill>
                  <a:srgbClr val="161A3E"/>
                </a:solidFill>
                <a:latin typeface="Calibri"/>
              </a:rPr>
              <a:t>Query</a:t>
            </a:r>
            <a:br/>
            <a:r>
              <a:rPr sz="1600" b="1" i="0">
                <a:solidFill>
                  <a:srgbClr val="161A3E"/>
                </a:solidFill>
                <a:latin typeface="Calibri"/>
              </a:rPr>
              <a:t>“money back”</a:t>
            </a:r>
          </a:p>
        </p:txBody>
      </p:sp>
      <p:sp>
        <p:nvSpPr>
          <p:cNvPr id="10" name="Rounded Rectangle 9"/>
          <p:cNvSpPr/>
          <p:nvPr/>
        </p:nvSpPr>
        <p:spPr>
          <a:xfrm>
            <a:off x="3659586" y="2864458"/>
            <a:ext cx="1965960" cy="914400"/>
          </a:xfrm>
          <a:prstGeom prst="roundRect">
            <a:avLst/>
          </a:prstGeom>
          <a:solidFill>
            <a:srgbClr val="5B9BD5"/>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714450" y="2965042"/>
            <a:ext cx="1856231" cy="713232"/>
          </a:xfrm>
          <a:prstGeom prst="rect">
            <a:avLst/>
          </a:prstGeom>
          <a:noFill/>
        </p:spPr>
        <p:txBody>
          <a:bodyPr wrap="square" lIns="18288" tIns="18288" rIns="18288" bIns="18288" anchor="ctr">
            <a:noAutofit/>
          </a:bodyPr>
          <a:lstStyle/>
          <a:p>
            <a:pPr algn="ctr"/>
            <a:r>
              <a:rPr sz="1600" b="1" i="0">
                <a:solidFill>
                  <a:srgbClr val="FFFFFF"/>
                </a:solidFill>
                <a:latin typeface="Calibri"/>
              </a:rPr>
              <a:t>Embedding</a:t>
            </a:r>
            <a:br/>
            <a:r>
              <a:rPr sz="1600" b="1" i="0">
                <a:solidFill>
                  <a:srgbClr val="FFFFFF"/>
                </a:solidFill>
                <a:latin typeface="Calibri"/>
              </a:rPr>
              <a:t>vector</a:t>
            </a:r>
          </a:p>
        </p:txBody>
      </p:sp>
      <p:sp>
        <p:nvSpPr>
          <p:cNvPr id="12" name="Rounded Rectangle 11"/>
          <p:cNvSpPr/>
          <p:nvPr/>
        </p:nvSpPr>
        <p:spPr>
          <a:xfrm>
            <a:off x="6311346" y="2864458"/>
            <a:ext cx="1965960" cy="914400"/>
          </a:xfrm>
          <a:prstGeom prst="roundRect">
            <a:avLst/>
          </a:prstGeom>
          <a:solidFill>
            <a:srgbClr val="4472C4"/>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66210" y="2965042"/>
            <a:ext cx="1856231" cy="713232"/>
          </a:xfrm>
          <a:prstGeom prst="rect">
            <a:avLst/>
          </a:prstGeom>
          <a:noFill/>
        </p:spPr>
        <p:txBody>
          <a:bodyPr wrap="square" lIns="18288" tIns="18288" rIns="18288" bIns="18288" anchor="ctr">
            <a:noAutofit/>
          </a:bodyPr>
          <a:lstStyle/>
          <a:p>
            <a:pPr algn="ctr"/>
            <a:r>
              <a:rPr sz="1600" b="1" i="0">
                <a:solidFill>
                  <a:srgbClr val="FFFFFF"/>
                </a:solidFill>
                <a:latin typeface="Calibri"/>
              </a:rPr>
              <a:t>Nearest</a:t>
            </a:r>
            <a:br/>
            <a:r>
              <a:rPr sz="1600" b="1" i="0">
                <a:solidFill>
                  <a:srgbClr val="FFFFFF"/>
                </a:solidFill>
                <a:latin typeface="Calibri"/>
              </a:rPr>
              <a:t>vectors</a:t>
            </a:r>
          </a:p>
        </p:txBody>
      </p:sp>
      <p:sp>
        <p:nvSpPr>
          <p:cNvPr id="14" name="Rounded Rectangle 13"/>
          <p:cNvSpPr/>
          <p:nvPr/>
        </p:nvSpPr>
        <p:spPr>
          <a:xfrm>
            <a:off x="8963106" y="2864458"/>
            <a:ext cx="2103120" cy="914400"/>
          </a:xfrm>
          <a:prstGeom prst="roundRect">
            <a:avLst/>
          </a:prstGeom>
          <a:solidFill>
            <a:srgbClr val="161A3E"/>
          </a:solidFill>
          <a:ln w="12700">
            <a:solidFill>
              <a:srgbClr val="161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17970" y="2965042"/>
            <a:ext cx="1993391" cy="713232"/>
          </a:xfrm>
          <a:prstGeom prst="rect">
            <a:avLst/>
          </a:prstGeom>
          <a:noFill/>
        </p:spPr>
        <p:txBody>
          <a:bodyPr wrap="square" lIns="18288" tIns="18288" rIns="18288" bIns="18288" anchor="ctr">
            <a:noAutofit/>
          </a:bodyPr>
          <a:lstStyle/>
          <a:p>
            <a:pPr algn="ctr"/>
            <a:r>
              <a:rPr sz="1600" b="1" i="0">
                <a:solidFill>
                  <a:srgbClr val="FFFFFF"/>
                </a:solidFill>
                <a:latin typeface="Calibri"/>
              </a:rPr>
              <a:t>Refund</a:t>
            </a:r>
            <a:br/>
            <a:r>
              <a:rPr sz="1600" b="1" i="0">
                <a:solidFill>
                  <a:srgbClr val="FFFFFF"/>
                </a:solidFill>
                <a:latin typeface="Calibri"/>
              </a:rPr>
              <a:t>articles</a:t>
            </a:r>
          </a:p>
        </p:txBody>
      </p:sp>
      <p:sp>
        <p:nvSpPr>
          <p:cNvPr id="16" name="Rounded Rectangle 15"/>
          <p:cNvSpPr/>
          <p:nvPr/>
        </p:nvSpPr>
        <p:spPr>
          <a:xfrm>
            <a:off x="914400" y="4251959"/>
            <a:ext cx="3108960" cy="1045595"/>
          </a:xfrm>
          <a:prstGeom prst="roundRect">
            <a:avLst/>
          </a:prstGeom>
          <a:solidFill>
            <a:srgbClr val="FFFFFF"/>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24128" y="4361688"/>
            <a:ext cx="2889504" cy="292608"/>
          </a:xfrm>
          <a:prstGeom prst="rect">
            <a:avLst/>
          </a:prstGeom>
          <a:noFill/>
        </p:spPr>
        <p:txBody>
          <a:bodyPr wrap="square" lIns="18288" tIns="18288" rIns="18288" bIns="18288" anchor="t">
            <a:noAutofit/>
          </a:bodyPr>
          <a:lstStyle/>
          <a:p>
            <a:pPr algn="l"/>
            <a:r>
              <a:rPr sz="1600" b="1" i="0">
                <a:solidFill>
                  <a:srgbClr val="161A3E"/>
                </a:solidFill>
                <a:latin typeface="Calibri"/>
              </a:rPr>
              <a:t>Best for</a:t>
            </a:r>
          </a:p>
        </p:txBody>
      </p:sp>
      <p:sp>
        <p:nvSpPr>
          <p:cNvPr id="18" name="TextBox 17"/>
          <p:cNvSpPr txBox="1"/>
          <p:nvPr/>
        </p:nvSpPr>
        <p:spPr>
          <a:xfrm>
            <a:off x="1024128" y="4745736"/>
            <a:ext cx="2889504" cy="347472"/>
          </a:xfrm>
          <a:prstGeom prst="rect">
            <a:avLst/>
          </a:prstGeom>
          <a:noFill/>
        </p:spPr>
        <p:txBody>
          <a:bodyPr wrap="square" lIns="18288" tIns="18288" rIns="18288" bIns="18288" anchor="t">
            <a:noAutofit/>
          </a:bodyPr>
          <a:lstStyle/>
          <a:p>
            <a:pPr algn="l"/>
            <a:r>
              <a:rPr sz="1500" b="0" i="0" dirty="0">
                <a:solidFill>
                  <a:srgbClr val="44546A"/>
                </a:solidFill>
                <a:latin typeface="Calibri"/>
              </a:rPr>
              <a:t>Paraphrases, natural questions, vague intent.</a:t>
            </a:r>
          </a:p>
        </p:txBody>
      </p:sp>
      <p:sp>
        <p:nvSpPr>
          <p:cNvPr id="19" name="Rounded Rectangle 18"/>
          <p:cNvSpPr/>
          <p:nvPr/>
        </p:nvSpPr>
        <p:spPr>
          <a:xfrm>
            <a:off x="4526280" y="4251959"/>
            <a:ext cx="3108960" cy="1045595"/>
          </a:xfrm>
          <a:prstGeom prst="roundRect">
            <a:avLst/>
          </a:prstGeom>
          <a:solidFill>
            <a:srgbClr val="FFFFFF"/>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636008" y="4361688"/>
            <a:ext cx="2889504" cy="292608"/>
          </a:xfrm>
          <a:prstGeom prst="rect">
            <a:avLst/>
          </a:prstGeom>
          <a:noFill/>
        </p:spPr>
        <p:txBody>
          <a:bodyPr wrap="square" lIns="18288" tIns="18288" rIns="18288" bIns="18288" anchor="t">
            <a:noAutofit/>
          </a:bodyPr>
          <a:lstStyle/>
          <a:p>
            <a:pPr algn="l"/>
            <a:r>
              <a:rPr sz="1600" b="1" i="0">
                <a:solidFill>
                  <a:srgbClr val="161A3E"/>
                </a:solidFill>
                <a:latin typeface="Calibri"/>
              </a:rPr>
              <a:t>Risk</a:t>
            </a:r>
          </a:p>
        </p:txBody>
      </p:sp>
      <p:sp>
        <p:nvSpPr>
          <p:cNvPr id="21" name="TextBox 20"/>
          <p:cNvSpPr txBox="1"/>
          <p:nvPr/>
        </p:nvSpPr>
        <p:spPr>
          <a:xfrm>
            <a:off x="4636008" y="4745736"/>
            <a:ext cx="2889504" cy="347472"/>
          </a:xfrm>
          <a:prstGeom prst="rect">
            <a:avLst/>
          </a:prstGeom>
          <a:noFill/>
        </p:spPr>
        <p:txBody>
          <a:bodyPr wrap="square" lIns="18288" tIns="18288" rIns="18288" bIns="18288" anchor="t">
            <a:noAutofit/>
          </a:bodyPr>
          <a:lstStyle/>
          <a:p>
            <a:pPr algn="l"/>
            <a:r>
              <a:rPr sz="1500" b="0" i="0">
                <a:solidFill>
                  <a:srgbClr val="44546A"/>
                </a:solidFill>
                <a:latin typeface="Calibri"/>
              </a:rPr>
              <a:t>Can miss rare exact terms or over-match broad concepts.</a:t>
            </a:r>
          </a:p>
        </p:txBody>
      </p:sp>
      <p:sp>
        <p:nvSpPr>
          <p:cNvPr id="22" name="Rounded Rectangle 21"/>
          <p:cNvSpPr/>
          <p:nvPr/>
        </p:nvSpPr>
        <p:spPr>
          <a:xfrm>
            <a:off x="8092440" y="4251959"/>
            <a:ext cx="3108960" cy="1045595"/>
          </a:xfrm>
          <a:prstGeom prst="roundRect">
            <a:avLst/>
          </a:prstGeom>
          <a:solidFill>
            <a:srgbClr val="FFFFFF"/>
          </a:solidFill>
          <a:ln w="12700">
            <a:solidFill>
              <a:srgbClr val="161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02167" y="4361688"/>
            <a:ext cx="2889504" cy="292608"/>
          </a:xfrm>
          <a:prstGeom prst="rect">
            <a:avLst/>
          </a:prstGeom>
          <a:noFill/>
        </p:spPr>
        <p:txBody>
          <a:bodyPr wrap="square" lIns="18288" tIns="18288" rIns="18288" bIns="18288" anchor="t">
            <a:noAutofit/>
          </a:bodyPr>
          <a:lstStyle/>
          <a:p>
            <a:pPr algn="l"/>
            <a:r>
              <a:rPr sz="1600" b="1" i="0">
                <a:solidFill>
                  <a:srgbClr val="161A3E"/>
                </a:solidFill>
                <a:latin typeface="Calibri"/>
              </a:rPr>
              <a:t>Fix</a:t>
            </a:r>
          </a:p>
        </p:txBody>
      </p:sp>
      <p:sp>
        <p:nvSpPr>
          <p:cNvPr id="24" name="TextBox 23"/>
          <p:cNvSpPr txBox="1"/>
          <p:nvPr/>
        </p:nvSpPr>
        <p:spPr>
          <a:xfrm>
            <a:off x="8202167" y="4745736"/>
            <a:ext cx="2889504" cy="347472"/>
          </a:xfrm>
          <a:prstGeom prst="rect">
            <a:avLst/>
          </a:prstGeom>
          <a:noFill/>
        </p:spPr>
        <p:txBody>
          <a:bodyPr wrap="square" lIns="18288" tIns="18288" rIns="18288" bIns="18288" anchor="t">
            <a:noAutofit/>
          </a:bodyPr>
          <a:lstStyle/>
          <a:p>
            <a:pPr algn="l"/>
            <a:r>
              <a:rPr sz="1500" b="0" i="0">
                <a:solidFill>
                  <a:srgbClr val="44546A"/>
                </a:solidFill>
                <a:latin typeface="Calibri"/>
              </a:rPr>
              <a:t>Combine with sparse retrieval and metadata filters.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596A6-6FF7-ECA7-052B-5E32C5F9D6B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ED50266-89B8-6274-1CBD-24AB6C0CF7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37204881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a:solidFill>
                  <a:srgbClr val="161A3E"/>
                </a:solidFill>
                <a:latin typeface="Calibri"/>
              </a:rPr>
              <a:t>Which retrieval style should win?</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68680" y="1828800"/>
            <a:ext cx="2743200" cy="411480"/>
          </a:xfrm>
          <a:prstGeom prst="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938528"/>
            <a:ext cx="2651760" cy="182880"/>
          </a:xfrm>
          <a:prstGeom prst="rect">
            <a:avLst/>
          </a:prstGeom>
          <a:noFill/>
        </p:spPr>
        <p:txBody>
          <a:bodyPr wrap="square" lIns="0" tIns="0" rIns="0" bIns="0" anchor="t">
            <a:noAutofit/>
          </a:bodyPr>
          <a:lstStyle/>
          <a:p>
            <a:pPr algn="ctr"/>
            <a:r>
              <a:rPr sz="1300" b="1" i="0">
                <a:solidFill>
                  <a:srgbClr val="FFFFFF"/>
                </a:solidFill>
                <a:latin typeface="Calibri"/>
              </a:rPr>
              <a:t>Query</a:t>
            </a:r>
          </a:p>
        </p:txBody>
      </p:sp>
      <p:sp>
        <p:nvSpPr>
          <p:cNvPr id="6" name="Rectangle 5"/>
          <p:cNvSpPr/>
          <p:nvPr/>
        </p:nvSpPr>
        <p:spPr>
          <a:xfrm>
            <a:off x="3886200" y="1828800"/>
            <a:ext cx="1828800" cy="411480"/>
          </a:xfrm>
          <a:prstGeom prst="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931920" y="1938528"/>
            <a:ext cx="1737360" cy="182880"/>
          </a:xfrm>
          <a:prstGeom prst="rect">
            <a:avLst/>
          </a:prstGeom>
          <a:noFill/>
        </p:spPr>
        <p:txBody>
          <a:bodyPr wrap="square" lIns="0" tIns="0" rIns="0" bIns="0" anchor="t">
            <a:noAutofit/>
          </a:bodyPr>
          <a:lstStyle/>
          <a:p>
            <a:pPr algn="ctr"/>
            <a:r>
              <a:rPr sz="1300" b="1" i="0">
                <a:solidFill>
                  <a:srgbClr val="FFFFFF"/>
                </a:solidFill>
                <a:latin typeface="Calibri"/>
              </a:rPr>
              <a:t>Best signal</a:t>
            </a:r>
          </a:p>
        </p:txBody>
      </p:sp>
      <p:sp>
        <p:nvSpPr>
          <p:cNvPr id="8" name="Rectangle 7"/>
          <p:cNvSpPr/>
          <p:nvPr/>
        </p:nvSpPr>
        <p:spPr>
          <a:xfrm>
            <a:off x="5989320" y="1828800"/>
            <a:ext cx="4937760" cy="411480"/>
          </a:xfrm>
          <a:prstGeom prst="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035040" y="1938528"/>
            <a:ext cx="4846320" cy="182880"/>
          </a:xfrm>
          <a:prstGeom prst="rect">
            <a:avLst/>
          </a:prstGeom>
          <a:noFill/>
        </p:spPr>
        <p:txBody>
          <a:bodyPr wrap="square" lIns="0" tIns="0" rIns="0" bIns="0" anchor="t">
            <a:noAutofit/>
          </a:bodyPr>
          <a:lstStyle/>
          <a:p>
            <a:pPr algn="ctr"/>
            <a:r>
              <a:rPr sz="1300" b="1" i="0">
                <a:solidFill>
                  <a:srgbClr val="FFFFFF"/>
                </a:solidFill>
                <a:latin typeface="Calibri"/>
              </a:rPr>
              <a:t>Why</a:t>
            </a:r>
          </a:p>
        </p:txBody>
      </p:sp>
      <p:sp>
        <p:nvSpPr>
          <p:cNvPr id="10" name="Rectangle 9"/>
          <p:cNvSpPr/>
          <p:nvPr/>
        </p:nvSpPr>
        <p:spPr>
          <a:xfrm>
            <a:off x="868680" y="2304288"/>
            <a:ext cx="2743200" cy="685800"/>
          </a:xfrm>
          <a:prstGeom prst="rect">
            <a:avLst/>
          </a:prstGeom>
          <a:solidFill>
            <a:srgbClr val="FFFFFF"/>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2414016"/>
            <a:ext cx="2615184" cy="457200"/>
          </a:xfrm>
          <a:prstGeom prst="rect">
            <a:avLst/>
          </a:prstGeom>
          <a:noFill/>
        </p:spPr>
        <p:txBody>
          <a:bodyPr wrap="square" lIns="0" tIns="0" rIns="0" bIns="0" anchor="t">
            <a:noAutofit/>
          </a:bodyPr>
          <a:lstStyle/>
          <a:p>
            <a:pPr algn="l"/>
            <a:r>
              <a:rPr sz="1400" b="0" i="0">
                <a:solidFill>
                  <a:srgbClr val="161A3E"/>
                </a:solidFill>
                <a:latin typeface="Calibri"/>
              </a:rPr>
              <a:t>“E1042 payment gateway error”</a:t>
            </a:r>
          </a:p>
        </p:txBody>
      </p:sp>
      <p:sp>
        <p:nvSpPr>
          <p:cNvPr id="12" name="Rectangle 11"/>
          <p:cNvSpPr/>
          <p:nvPr/>
        </p:nvSpPr>
        <p:spPr>
          <a:xfrm>
            <a:off x="3886200" y="2304288"/>
            <a:ext cx="1828800" cy="685800"/>
          </a:xfrm>
          <a:prstGeom prst="rect">
            <a:avLst/>
          </a:prstGeom>
          <a:solidFill>
            <a:srgbClr val="FFFFFF"/>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950208" y="2414016"/>
            <a:ext cx="1700784" cy="457200"/>
          </a:xfrm>
          <a:prstGeom prst="rect">
            <a:avLst/>
          </a:prstGeom>
          <a:noFill/>
        </p:spPr>
        <p:txBody>
          <a:bodyPr wrap="square" lIns="0" tIns="0" rIns="0" bIns="0" anchor="t">
            <a:noAutofit/>
          </a:bodyPr>
          <a:lstStyle/>
          <a:p>
            <a:pPr algn="ctr"/>
            <a:r>
              <a:rPr sz="1500" b="1" i="0">
                <a:solidFill>
                  <a:srgbClr val="161A3E"/>
                </a:solidFill>
                <a:latin typeface="Calibri"/>
              </a:rPr>
              <a:t>Sparse</a:t>
            </a:r>
          </a:p>
        </p:txBody>
      </p:sp>
      <p:sp>
        <p:nvSpPr>
          <p:cNvPr id="14" name="Rectangle 13"/>
          <p:cNvSpPr/>
          <p:nvPr/>
        </p:nvSpPr>
        <p:spPr>
          <a:xfrm>
            <a:off x="5989320" y="2304288"/>
            <a:ext cx="4937760" cy="685800"/>
          </a:xfrm>
          <a:prstGeom prst="rect">
            <a:avLst/>
          </a:prstGeom>
          <a:solidFill>
            <a:srgbClr val="FFFFFF"/>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53328" y="2414016"/>
            <a:ext cx="4809744" cy="457200"/>
          </a:xfrm>
          <a:prstGeom prst="rect">
            <a:avLst/>
          </a:prstGeom>
          <a:noFill/>
        </p:spPr>
        <p:txBody>
          <a:bodyPr wrap="square" lIns="0" tIns="0" rIns="0" bIns="0" anchor="t">
            <a:noAutofit/>
          </a:bodyPr>
          <a:lstStyle/>
          <a:p>
            <a:pPr algn="l"/>
            <a:r>
              <a:rPr sz="1400" b="0" i="0">
                <a:solidFill>
                  <a:srgbClr val="161A3E"/>
                </a:solidFill>
                <a:latin typeface="Calibri"/>
              </a:rPr>
              <a:t>The exact error code is the strongest clue.</a:t>
            </a:r>
          </a:p>
        </p:txBody>
      </p:sp>
      <p:sp>
        <p:nvSpPr>
          <p:cNvPr id="16" name="Rectangle 15"/>
          <p:cNvSpPr/>
          <p:nvPr/>
        </p:nvSpPr>
        <p:spPr>
          <a:xfrm>
            <a:off x="868680" y="3017520"/>
            <a:ext cx="2743200" cy="685800"/>
          </a:xfrm>
          <a:prstGeom prst="rect">
            <a:avLst/>
          </a:prstGeom>
          <a:solidFill>
            <a:srgbClr val="F2F2F2"/>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2688" y="3127248"/>
            <a:ext cx="2615184" cy="457200"/>
          </a:xfrm>
          <a:prstGeom prst="rect">
            <a:avLst/>
          </a:prstGeom>
          <a:noFill/>
        </p:spPr>
        <p:txBody>
          <a:bodyPr wrap="square" lIns="0" tIns="0" rIns="0" bIns="0" anchor="t">
            <a:noAutofit/>
          </a:bodyPr>
          <a:lstStyle/>
          <a:p>
            <a:pPr algn="l"/>
            <a:r>
              <a:rPr sz="1400" b="0" i="0">
                <a:solidFill>
                  <a:srgbClr val="161A3E"/>
                </a:solidFill>
                <a:latin typeface="Calibri"/>
              </a:rPr>
              <a:t>“Can I get my money back?”</a:t>
            </a:r>
          </a:p>
        </p:txBody>
      </p:sp>
      <p:sp>
        <p:nvSpPr>
          <p:cNvPr id="18" name="Rectangle 17"/>
          <p:cNvSpPr/>
          <p:nvPr/>
        </p:nvSpPr>
        <p:spPr>
          <a:xfrm>
            <a:off x="3886200" y="3017520"/>
            <a:ext cx="1828800" cy="685800"/>
          </a:xfrm>
          <a:prstGeom prst="rect">
            <a:avLst/>
          </a:prstGeom>
          <a:solidFill>
            <a:srgbClr val="F2F2F2"/>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950208" y="3127248"/>
            <a:ext cx="1700784" cy="457200"/>
          </a:xfrm>
          <a:prstGeom prst="rect">
            <a:avLst/>
          </a:prstGeom>
          <a:noFill/>
        </p:spPr>
        <p:txBody>
          <a:bodyPr wrap="square" lIns="0" tIns="0" rIns="0" bIns="0" anchor="t">
            <a:noAutofit/>
          </a:bodyPr>
          <a:lstStyle/>
          <a:p>
            <a:pPr algn="ctr"/>
            <a:r>
              <a:rPr sz="1500" b="1" i="0">
                <a:solidFill>
                  <a:srgbClr val="161A3E"/>
                </a:solidFill>
                <a:latin typeface="Calibri"/>
              </a:rPr>
              <a:t>Dense</a:t>
            </a:r>
          </a:p>
        </p:txBody>
      </p:sp>
      <p:sp>
        <p:nvSpPr>
          <p:cNvPr id="20" name="Rectangle 19"/>
          <p:cNvSpPr/>
          <p:nvPr/>
        </p:nvSpPr>
        <p:spPr>
          <a:xfrm>
            <a:off x="5989320" y="3017520"/>
            <a:ext cx="4937760" cy="685800"/>
          </a:xfrm>
          <a:prstGeom prst="rect">
            <a:avLst/>
          </a:prstGeom>
          <a:solidFill>
            <a:srgbClr val="F2F2F2"/>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53328" y="3127248"/>
            <a:ext cx="4809744" cy="457200"/>
          </a:xfrm>
          <a:prstGeom prst="rect">
            <a:avLst/>
          </a:prstGeom>
          <a:noFill/>
        </p:spPr>
        <p:txBody>
          <a:bodyPr wrap="square" lIns="0" tIns="0" rIns="0" bIns="0" anchor="t">
            <a:noAutofit/>
          </a:bodyPr>
          <a:lstStyle/>
          <a:p>
            <a:pPr algn="l"/>
            <a:r>
              <a:rPr sz="1400" b="0" i="0">
                <a:solidFill>
                  <a:srgbClr val="161A3E"/>
                </a:solidFill>
                <a:latin typeface="Calibri"/>
              </a:rPr>
              <a:t>Intent maps to refund even without the word “refund”.</a:t>
            </a:r>
          </a:p>
        </p:txBody>
      </p:sp>
      <p:sp>
        <p:nvSpPr>
          <p:cNvPr id="22" name="Rectangle 21"/>
          <p:cNvSpPr/>
          <p:nvPr/>
        </p:nvSpPr>
        <p:spPr>
          <a:xfrm>
            <a:off x="868680" y="3730752"/>
            <a:ext cx="2743200" cy="685800"/>
          </a:xfrm>
          <a:prstGeom prst="rect">
            <a:avLst/>
          </a:prstGeom>
          <a:solidFill>
            <a:srgbClr val="FFFFFF"/>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32688" y="3840480"/>
            <a:ext cx="2615184" cy="457200"/>
          </a:xfrm>
          <a:prstGeom prst="rect">
            <a:avLst/>
          </a:prstGeom>
          <a:noFill/>
        </p:spPr>
        <p:txBody>
          <a:bodyPr wrap="square" lIns="0" tIns="0" rIns="0" bIns="0" anchor="t">
            <a:noAutofit/>
          </a:bodyPr>
          <a:lstStyle/>
          <a:p>
            <a:pPr algn="l"/>
            <a:r>
              <a:rPr sz="1400" b="0" i="0">
                <a:solidFill>
                  <a:srgbClr val="161A3E"/>
                </a:solidFill>
                <a:latin typeface="Calibri"/>
              </a:rPr>
              <a:t>“Refund policy for premium plan”</a:t>
            </a:r>
          </a:p>
        </p:txBody>
      </p:sp>
      <p:sp>
        <p:nvSpPr>
          <p:cNvPr id="24" name="Rectangle 23"/>
          <p:cNvSpPr/>
          <p:nvPr/>
        </p:nvSpPr>
        <p:spPr>
          <a:xfrm>
            <a:off x="3886200" y="3730752"/>
            <a:ext cx="1828800" cy="685800"/>
          </a:xfrm>
          <a:prstGeom prst="rect">
            <a:avLst/>
          </a:prstGeom>
          <a:solidFill>
            <a:srgbClr val="FFFFFF"/>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50208" y="3840480"/>
            <a:ext cx="1700784" cy="457200"/>
          </a:xfrm>
          <a:prstGeom prst="rect">
            <a:avLst/>
          </a:prstGeom>
          <a:noFill/>
        </p:spPr>
        <p:txBody>
          <a:bodyPr wrap="square" lIns="0" tIns="0" rIns="0" bIns="0" anchor="t">
            <a:noAutofit/>
          </a:bodyPr>
          <a:lstStyle/>
          <a:p>
            <a:pPr algn="ctr"/>
            <a:r>
              <a:rPr sz="1500" b="1" i="0">
                <a:solidFill>
                  <a:srgbClr val="161A3E"/>
                </a:solidFill>
                <a:latin typeface="Calibri"/>
              </a:rPr>
              <a:t>Hybrid</a:t>
            </a:r>
          </a:p>
        </p:txBody>
      </p:sp>
      <p:sp>
        <p:nvSpPr>
          <p:cNvPr id="26" name="Rectangle 25"/>
          <p:cNvSpPr/>
          <p:nvPr/>
        </p:nvSpPr>
        <p:spPr>
          <a:xfrm>
            <a:off x="5989320" y="3730752"/>
            <a:ext cx="4937760" cy="685800"/>
          </a:xfrm>
          <a:prstGeom prst="rect">
            <a:avLst/>
          </a:prstGeom>
          <a:solidFill>
            <a:srgbClr val="FFFFFF"/>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053328" y="3840480"/>
            <a:ext cx="4809744" cy="457200"/>
          </a:xfrm>
          <a:prstGeom prst="rect">
            <a:avLst/>
          </a:prstGeom>
          <a:noFill/>
        </p:spPr>
        <p:txBody>
          <a:bodyPr wrap="square" lIns="0" tIns="0" rIns="0" bIns="0" anchor="t">
            <a:noAutofit/>
          </a:bodyPr>
          <a:lstStyle/>
          <a:p>
            <a:pPr algn="l"/>
            <a:r>
              <a:rPr sz="1400" b="0" i="0">
                <a:solidFill>
                  <a:srgbClr val="161A3E"/>
                </a:solidFill>
                <a:latin typeface="Calibri"/>
              </a:rPr>
              <a:t>Exact term + semantic context both matter.</a:t>
            </a:r>
          </a:p>
        </p:txBody>
      </p:sp>
      <p:sp>
        <p:nvSpPr>
          <p:cNvPr id="28" name="Rectangle 27"/>
          <p:cNvSpPr/>
          <p:nvPr/>
        </p:nvSpPr>
        <p:spPr>
          <a:xfrm>
            <a:off x="868680" y="4443984"/>
            <a:ext cx="2743200" cy="685800"/>
          </a:xfrm>
          <a:prstGeom prst="rect">
            <a:avLst/>
          </a:prstGeom>
          <a:solidFill>
            <a:srgbClr val="F2F2F2"/>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32688" y="4553712"/>
            <a:ext cx="2615184" cy="457200"/>
          </a:xfrm>
          <a:prstGeom prst="rect">
            <a:avLst/>
          </a:prstGeom>
          <a:noFill/>
        </p:spPr>
        <p:txBody>
          <a:bodyPr wrap="square" lIns="0" tIns="0" rIns="0" bIns="0" anchor="t">
            <a:noAutofit/>
          </a:bodyPr>
          <a:lstStyle/>
          <a:p>
            <a:pPr algn="l"/>
            <a:r>
              <a:rPr sz="1400" b="0" i="0">
                <a:solidFill>
                  <a:srgbClr val="161A3E"/>
                </a:solidFill>
                <a:latin typeface="Calibri"/>
              </a:rPr>
              <a:t>“Find the clause about data retention”</a:t>
            </a:r>
          </a:p>
        </p:txBody>
      </p:sp>
      <p:sp>
        <p:nvSpPr>
          <p:cNvPr id="30" name="Rectangle 29"/>
          <p:cNvSpPr/>
          <p:nvPr/>
        </p:nvSpPr>
        <p:spPr>
          <a:xfrm>
            <a:off x="3886200" y="4443984"/>
            <a:ext cx="1828800" cy="685800"/>
          </a:xfrm>
          <a:prstGeom prst="rect">
            <a:avLst/>
          </a:prstGeom>
          <a:solidFill>
            <a:srgbClr val="F2F2F2"/>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950208" y="4553712"/>
            <a:ext cx="1700784" cy="457200"/>
          </a:xfrm>
          <a:prstGeom prst="rect">
            <a:avLst/>
          </a:prstGeom>
          <a:noFill/>
        </p:spPr>
        <p:txBody>
          <a:bodyPr wrap="square" lIns="0" tIns="0" rIns="0" bIns="0" anchor="t">
            <a:noAutofit/>
          </a:bodyPr>
          <a:lstStyle/>
          <a:p>
            <a:pPr algn="ctr"/>
            <a:r>
              <a:rPr sz="1500" b="1" i="0">
                <a:solidFill>
                  <a:srgbClr val="161A3E"/>
                </a:solidFill>
                <a:latin typeface="Calibri"/>
              </a:rPr>
              <a:t>Hybrid</a:t>
            </a:r>
          </a:p>
        </p:txBody>
      </p:sp>
      <p:sp>
        <p:nvSpPr>
          <p:cNvPr id="32" name="Rectangle 31"/>
          <p:cNvSpPr/>
          <p:nvPr/>
        </p:nvSpPr>
        <p:spPr>
          <a:xfrm>
            <a:off x="5989320" y="4443984"/>
            <a:ext cx="4937760" cy="685800"/>
          </a:xfrm>
          <a:prstGeom prst="rect">
            <a:avLst/>
          </a:prstGeom>
          <a:solidFill>
            <a:srgbClr val="F2F2F2"/>
          </a:solidFill>
          <a:ln w="635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053328" y="4553712"/>
            <a:ext cx="4809744" cy="457200"/>
          </a:xfrm>
          <a:prstGeom prst="rect">
            <a:avLst/>
          </a:prstGeom>
          <a:noFill/>
        </p:spPr>
        <p:txBody>
          <a:bodyPr wrap="square" lIns="0" tIns="0" rIns="0" bIns="0" anchor="t">
            <a:noAutofit/>
          </a:bodyPr>
          <a:lstStyle/>
          <a:p>
            <a:pPr algn="l"/>
            <a:r>
              <a:rPr sz="1400" b="0" i="0">
                <a:solidFill>
                  <a:srgbClr val="161A3E"/>
                </a:solidFill>
                <a:latin typeface="Calibri"/>
              </a:rPr>
              <a:t>Legal search needs precision and meaning.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dirty="0">
                <a:solidFill>
                  <a:srgbClr val="161A3E"/>
                </a:solidFill>
                <a:latin typeface="Calibri"/>
              </a:rPr>
              <a:t>Hybrid search preview: </a:t>
            </a:r>
            <a:r>
              <a:rPr sz="2800" b="1" i="0" dirty="0">
                <a:solidFill>
                  <a:srgbClr val="161A3E"/>
                </a:solidFill>
                <a:latin typeface="Calibri"/>
              </a:rPr>
              <a:t>combine lexical precision with semantic recall</a:t>
            </a:r>
            <a:endParaRPr sz="3200" b="1" i="0" dirty="0">
              <a:solidFill>
                <a:srgbClr val="161A3E"/>
              </a:solidFill>
              <a:latin typeface="Calibri"/>
            </a:endParaRP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163541" y="5457466"/>
            <a:ext cx="9875520" cy="496074"/>
          </a:xfrm>
          <a:prstGeom prst="roundRect">
            <a:avLst/>
          </a:prstGeom>
          <a:solidFill>
            <a:srgbClr val="D6E4F0"/>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73269" y="5576968"/>
            <a:ext cx="9656064" cy="91439"/>
          </a:xfrm>
          <a:prstGeom prst="rect">
            <a:avLst/>
          </a:prstGeom>
          <a:noFill/>
        </p:spPr>
        <p:txBody>
          <a:bodyPr wrap="square" lIns="18288" tIns="18288" rIns="18288" bIns="18288" anchor="t">
            <a:noAutofit/>
          </a:bodyPr>
          <a:lstStyle/>
          <a:p>
            <a:pPr algn="ctr"/>
            <a:r>
              <a:rPr sz="1400" b="0" i="0" dirty="0">
                <a:solidFill>
                  <a:srgbClr val="44546A"/>
                </a:solidFill>
                <a:latin typeface="Calibri"/>
              </a:rPr>
              <a:t>Dense retrieval improves recall; sparse retrieval protects precision. Production systems often need both.</a:t>
            </a:r>
          </a:p>
        </p:txBody>
      </p:sp>
      <p:pic>
        <p:nvPicPr>
          <p:cNvPr id="41" name="Picture 40">
            <a:extLst>
              <a:ext uri="{FF2B5EF4-FFF2-40B4-BE49-F238E27FC236}">
                <a16:creationId xmlns:a16="http://schemas.microsoft.com/office/drawing/2014/main" id="{718A585E-D58C-673C-704D-A27BCE36BF25}"/>
              </a:ext>
            </a:extLst>
          </p:cNvPr>
          <p:cNvPicPr>
            <a:picLocks noChangeAspect="1"/>
          </p:cNvPicPr>
          <p:nvPr/>
        </p:nvPicPr>
        <p:blipFill>
          <a:blip r:embed="rId3">
            <a:extLst>
              <a:ext uri="{28A0092B-C50C-407E-A947-70E740481C1C}">
                <a14:useLocalDpi xmlns:a14="http://schemas.microsoft.com/office/drawing/2010/main" val="0"/>
              </a:ext>
            </a:extLst>
          </a:blip>
          <a:srcRect t="6331" b="2372"/>
          <a:stretch>
            <a:fillRect/>
          </a:stretch>
        </p:blipFill>
        <p:spPr>
          <a:xfrm>
            <a:off x="-1524" y="1610848"/>
            <a:ext cx="12192000" cy="371033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1061499" y="2331720"/>
            <a:ext cx="10058400" cy="347472"/>
          </a:xfrm>
          <a:prstGeom prst="rect">
            <a:avLst/>
          </a:prstGeom>
          <a:noFill/>
        </p:spPr>
        <p:txBody>
          <a:bodyPr wrap="square" lIns="0" tIns="0" rIns="0" bIns="0" anchor="t">
            <a:noAutofit/>
          </a:bodyPr>
          <a:lstStyle/>
          <a:p>
            <a:pPr algn="ctr"/>
            <a:r>
              <a:rPr sz="1500" b="1" i="0">
                <a:solidFill>
                  <a:srgbClr val="5B9BD5"/>
                </a:solidFill>
                <a:latin typeface="Calibri"/>
              </a:rPr>
              <a:t>PART 4</a:t>
            </a:r>
          </a:p>
        </p:txBody>
      </p:sp>
      <p:sp>
        <p:nvSpPr>
          <p:cNvPr id="4" name="TextBox 3"/>
          <p:cNvSpPr txBox="1"/>
          <p:nvPr/>
        </p:nvSpPr>
        <p:spPr>
          <a:xfrm>
            <a:off x="1224501" y="2743200"/>
            <a:ext cx="9738360" cy="777240"/>
          </a:xfrm>
          <a:prstGeom prst="rect">
            <a:avLst/>
          </a:prstGeom>
          <a:noFill/>
        </p:spPr>
        <p:txBody>
          <a:bodyPr wrap="square" lIns="0" tIns="0" rIns="0" bIns="0" anchor="t">
            <a:noAutofit/>
          </a:bodyPr>
          <a:lstStyle/>
          <a:p>
            <a:pPr algn="ctr"/>
            <a:r>
              <a:rPr sz="3600" b="1" i="0">
                <a:solidFill>
                  <a:srgbClr val="FFFFFF"/>
                </a:solidFill>
                <a:latin typeface="Calibri"/>
              </a:rPr>
              <a:t>Embedding model choices and cost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a:solidFill>
                  <a:srgbClr val="161A3E"/>
                </a:solidFill>
                <a:latin typeface="Calibri"/>
              </a:rPr>
              <a:t>Choosing an embedding model: quality, cost, control</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11831" y="2224377"/>
            <a:ext cx="3246120" cy="2349997"/>
          </a:xfrm>
          <a:prstGeom prst="roundRect">
            <a:avLst/>
          </a:prstGeom>
          <a:solidFill>
            <a:srgbClr val="FFFFFF"/>
          </a:solidFill>
          <a:ln w="12700">
            <a:solidFill>
              <a:srgbClr val="161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 name="Rounded Rectangle 4"/>
          <p:cNvSpPr/>
          <p:nvPr/>
        </p:nvSpPr>
        <p:spPr>
          <a:xfrm>
            <a:off x="811831" y="2224377"/>
            <a:ext cx="3246120" cy="420624"/>
          </a:xfrm>
          <a:prstGeom prst="round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 name="TextBox 5"/>
          <p:cNvSpPr txBox="1"/>
          <p:nvPr/>
        </p:nvSpPr>
        <p:spPr>
          <a:xfrm>
            <a:off x="884983" y="2297529"/>
            <a:ext cx="3099815" cy="256032"/>
          </a:xfrm>
          <a:prstGeom prst="rect">
            <a:avLst/>
          </a:prstGeom>
          <a:noFill/>
        </p:spPr>
        <p:txBody>
          <a:bodyPr wrap="square" lIns="0" tIns="0" rIns="0" bIns="0" anchor="t">
            <a:noAutofit/>
          </a:bodyPr>
          <a:lstStyle/>
          <a:p>
            <a:pPr algn="l"/>
            <a:r>
              <a:rPr sz="1500" b="1" i="0">
                <a:solidFill>
                  <a:srgbClr val="FFFFFF"/>
                </a:solidFill>
                <a:latin typeface="Calibri"/>
              </a:rPr>
              <a:t>Local sentence-transformers</a:t>
            </a:r>
          </a:p>
        </p:txBody>
      </p:sp>
      <p:sp>
        <p:nvSpPr>
          <p:cNvPr id="7" name="TextBox 6"/>
          <p:cNvSpPr txBox="1"/>
          <p:nvPr/>
        </p:nvSpPr>
        <p:spPr>
          <a:xfrm>
            <a:off x="921558" y="2736441"/>
            <a:ext cx="3026663" cy="1915072"/>
          </a:xfrm>
          <a:prstGeom prst="rect">
            <a:avLst/>
          </a:prstGeom>
          <a:noFill/>
        </p:spPr>
        <p:txBody>
          <a:bodyPr wrap="square" lIns="18288" tIns="18288" rIns="18288" bIns="18288" anchor="t">
            <a:noAutofit/>
          </a:bodyPr>
          <a:lstStyle/>
          <a:p>
            <a:pPr algn="l"/>
            <a:r>
              <a:rPr sz="1600" b="0" i="0">
                <a:solidFill>
                  <a:srgbClr val="44546A"/>
                </a:solidFill>
                <a:latin typeface="Calibri"/>
              </a:rPr>
              <a:t>Free to run locally</a:t>
            </a:r>
            <a:br>
              <a:rPr sz="2000"/>
            </a:br>
            <a:r>
              <a:rPr sz="1600" b="0" i="0">
                <a:solidFill>
                  <a:srgbClr val="44546A"/>
                </a:solidFill>
                <a:latin typeface="Calibri"/>
              </a:rPr>
              <a:t>Good classroom baseline</a:t>
            </a:r>
            <a:br>
              <a:rPr sz="2000"/>
            </a:br>
            <a:r>
              <a:rPr sz="1600" b="0" i="0">
                <a:solidFill>
                  <a:srgbClr val="44546A"/>
                </a:solidFill>
                <a:latin typeface="Calibri"/>
              </a:rPr>
              <a:t>No network dependency</a:t>
            </a:r>
            <a:br>
              <a:rPr sz="2000"/>
            </a:br>
            <a:r>
              <a:rPr sz="1600" b="0" i="0">
                <a:solidFill>
                  <a:srgbClr val="44546A"/>
                </a:solidFill>
                <a:latin typeface="Calibri"/>
              </a:rPr>
              <a:t>Lower ops cost, but you own quality testing</a:t>
            </a:r>
          </a:p>
        </p:txBody>
      </p:sp>
      <p:sp>
        <p:nvSpPr>
          <p:cNvPr id="8" name="Rounded Rectangle 7"/>
          <p:cNvSpPr/>
          <p:nvPr/>
        </p:nvSpPr>
        <p:spPr>
          <a:xfrm>
            <a:off x="4469431" y="2224377"/>
            <a:ext cx="3246120" cy="2349997"/>
          </a:xfrm>
          <a:prstGeom prst="roundRect">
            <a:avLst/>
          </a:prstGeom>
          <a:solidFill>
            <a:srgbClr val="FFFFFF"/>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 name="Rounded Rectangle 8"/>
          <p:cNvSpPr/>
          <p:nvPr/>
        </p:nvSpPr>
        <p:spPr>
          <a:xfrm>
            <a:off x="4469431" y="2224377"/>
            <a:ext cx="3246120" cy="420624"/>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0" name="TextBox 9"/>
          <p:cNvSpPr txBox="1"/>
          <p:nvPr/>
        </p:nvSpPr>
        <p:spPr>
          <a:xfrm>
            <a:off x="4542583" y="2297529"/>
            <a:ext cx="3099815" cy="256032"/>
          </a:xfrm>
          <a:prstGeom prst="rect">
            <a:avLst/>
          </a:prstGeom>
          <a:noFill/>
        </p:spPr>
        <p:txBody>
          <a:bodyPr wrap="square" lIns="0" tIns="0" rIns="0" bIns="0" anchor="t">
            <a:noAutofit/>
          </a:bodyPr>
          <a:lstStyle/>
          <a:p>
            <a:pPr algn="l"/>
            <a:r>
              <a:rPr sz="1500" b="1" i="0">
                <a:solidFill>
                  <a:srgbClr val="FFFFFF"/>
                </a:solidFill>
                <a:latin typeface="Calibri"/>
              </a:rPr>
              <a:t>OpenAI text-embedding-3-small</a:t>
            </a:r>
          </a:p>
        </p:txBody>
      </p:sp>
      <p:sp>
        <p:nvSpPr>
          <p:cNvPr id="11" name="TextBox 10"/>
          <p:cNvSpPr txBox="1"/>
          <p:nvPr/>
        </p:nvSpPr>
        <p:spPr>
          <a:xfrm>
            <a:off x="4579159" y="2736441"/>
            <a:ext cx="3026663" cy="1915072"/>
          </a:xfrm>
          <a:prstGeom prst="rect">
            <a:avLst/>
          </a:prstGeom>
          <a:noFill/>
        </p:spPr>
        <p:txBody>
          <a:bodyPr wrap="square" lIns="18288" tIns="18288" rIns="18288" bIns="18288" anchor="t">
            <a:noAutofit/>
          </a:bodyPr>
          <a:lstStyle/>
          <a:p>
            <a:pPr algn="l"/>
            <a:r>
              <a:rPr sz="1600" b="0" i="0">
                <a:solidFill>
                  <a:srgbClr val="44546A"/>
                </a:solidFill>
                <a:latin typeface="Calibri"/>
              </a:rPr>
              <a:t>Hosted API</a:t>
            </a:r>
            <a:br>
              <a:rPr sz="2000"/>
            </a:br>
            <a:r>
              <a:rPr sz="1600" b="0" i="0">
                <a:solidFill>
                  <a:srgbClr val="44546A"/>
                </a:solidFill>
                <a:latin typeface="Calibri"/>
              </a:rPr>
              <a:t>Strong general-purpose retrieval</a:t>
            </a:r>
            <a:br>
              <a:rPr sz="2000"/>
            </a:br>
            <a:r>
              <a:rPr sz="1600" b="0" i="0">
                <a:solidFill>
                  <a:srgbClr val="44546A"/>
                </a:solidFill>
                <a:latin typeface="Calibri"/>
              </a:rPr>
              <a:t>Low per-token cost</a:t>
            </a:r>
            <a:br>
              <a:rPr sz="2000"/>
            </a:br>
            <a:r>
              <a:rPr sz="1600" b="0" i="0">
                <a:solidFill>
                  <a:srgbClr val="44546A"/>
                </a:solidFill>
                <a:latin typeface="Calibri"/>
              </a:rPr>
              <a:t>Easy to scale without local model serving</a:t>
            </a:r>
          </a:p>
        </p:txBody>
      </p:sp>
      <p:sp>
        <p:nvSpPr>
          <p:cNvPr id="12" name="Rounded Rectangle 11"/>
          <p:cNvSpPr/>
          <p:nvPr/>
        </p:nvSpPr>
        <p:spPr>
          <a:xfrm>
            <a:off x="8127030" y="2224377"/>
            <a:ext cx="3246120" cy="2349997"/>
          </a:xfrm>
          <a:prstGeom prst="roundRect">
            <a:avLst/>
          </a:prstGeom>
          <a:solidFill>
            <a:srgbClr val="FFFFFF"/>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 name="Rounded Rectangle 12"/>
          <p:cNvSpPr/>
          <p:nvPr/>
        </p:nvSpPr>
        <p:spPr>
          <a:xfrm>
            <a:off x="8127030" y="2224377"/>
            <a:ext cx="3246120" cy="420624"/>
          </a:xfrm>
          <a:prstGeom prst="round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4" name="TextBox 13"/>
          <p:cNvSpPr txBox="1"/>
          <p:nvPr/>
        </p:nvSpPr>
        <p:spPr>
          <a:xfrm>
            <a:off x="8200182" y="2297529"/>
            <a:ext cx="3099815" cy="256032"/>
          </a:xfrm>
          <a:prstGeom prst="rect">
            <a:avLst/>
          </a:prstGeom>
          <a:noFill/>
        </p:spPr>
        <p:txBody>
          <a:bodyPr wrap="square" lIns="0" tIns="0" rIns="0" bIns="0" anchor="t">
            <a:noAutofit/>
          </a:bodyPr>
          <a:lstStyle/>
          <a:p>
            <a:pPr algn="l"/>
            <a:r>
              <a:rPr sz="1500" b="1" i="0">
                <a:solidFill>
                  <a:srgbClr val="FFFFFF"/>
                </a:solidFill>
                <a:latin typeface="Calibri"/>
              </a:rPr>
              <a:t>Domain-specific / fine-tuned</a:t>
            </a:r>
          </a:p>
        </p:txBody>
      </p:sp>
      <p:sp>
        <p:nvSpPr>
          <p:cNvPr id="15" name="TextBox 14"/>
          <p:cNvSpPr txBox="1"/>
          <p:nvPr/>
        </p:nvSpPr>
        <p:spPr>
          <a:xfrm>
            <a:off x="8236758" y="2736441"/>
            <a:ext cx="3026663" cy="1915072"/>
          </a:xfrm>
          <a:prstGeom prst="rect">
            <a:avLst/>
          </a:prstGeom>
          <a:noFill/>
        </p:spPr>
        <p:txBody>
          <a:bodyPr wrap="square" lIns="18288" tIns="18288" rIns="18288" bIns="18288" anchor="t">
            <a:noAutofit/>
          </a:bodyPr>
          <a:lstStyle/>
          <a:p>
            <a:pPr algn="l"/>
            <a:r>
              <a:rPr sz="1600" b="0" i="0">
                <a:solidFill>
                  <a:srgbClr val="44546A"/>
                </a:solidFill>
                <a:latin typeface="Calibri"/>
              </a:rPr>
              <a:t>Best when vocabulary is specialized</a:t>
            </a:r>
            <a:br>
              <a:rPr sz="2000"/>
            </a:br>
            <a:r>
              <a:rPr sz="1600" b="0" i="0">
                <a:solidFill>
                  <a:srgbClr val="44546A"/>
                </a:solidFill>
                <a:latin typeface="Calibri"/>
              </a:rPr>
              <a:t>Needs labelled pairs or contrastive data</a:t>
            </a:r>
            <a:br>
              <a:rPr sz="2000"/>
            </a:br>
            <a:r>
              <a:rPr sz="1600" b="0" i="0">
                <a:solidFill>
                  <a:srgbClr val="44546A"/>
                </a:solidFill>
                <a:latin typeface="Calibri"/>
              </a:rPr>
              <a:t>More evaluation work</a:t>
            </a:r>
            <a:br>
              <a:rPr sz="2000"/>
            </a:br>
            <a:r>
              <a:rPr sz="1600" b="0" i="0">
                <a:solidFill>
                  <a:srgbClr val="44546A"/>
                </a:solidFill>
                <a:latin typeface="Calibri"/>
              </a:rPr>
              <a:t>Higher engineering maturity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a:solidFill>
                  <a:srgbClr val="161A3E"/>
                </a:solidFill>
                <a:latin typeface="Calibri"/>
              </a:rPr>
              <a:t>Cost reasoning: embedding 1,000 documents</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874519"/>
            <a:ext cx="10241280" cy="320040"/>
          </a:xfrm>
          <a:prstGeom prst="rect">
            <a:avLst/>
          </a:prstGeom>
          <a:noFill/>
        </p:spPr>
        <p:txBody>
          <a:bodyPr wrap="square" lIns="0" tIns="0" rIns="0" bIns="0" anchor="t">
            <a:noAutofit/>
          </a:bodyPr>
          <a:lstStyle/>
          <a:p>
            <a:pPr algn="ctr"/>
            <a:r>
              <a:rPr sz="2000" b="1" i="0">
                <a:solidFill>
                  <a:srgbClr val="161A3E"/>
                </a:solidFill>
                <a:latin typeface="Calibri"/>
              </a:rPr>
              <a:t>Estimate cost before committing to an embedding strategy.</a:t>
            </a:r>
          </a:p>
        </p:txBody>
      </p:sp>
      <p:sp>
        <p:nvSpPr>
          <p:cNvPr id="5" name="Rounded Rectangle 4"/>
          <p:cNvSpPr/>
          <p:nvPr/>
        </p:nvSpPr>
        <p:spPr>
          <a:xfrm>
            <a:off x="960120" y="2468880"/>
            <a:ext cx="2240280" cy="1143000"/>
          </a:xfrm>
          <a:prstGeom prst="roundRect">
            <a:avLst/>
          </a:prstGeom>
          <a:solidFill>
            <a:srgbClr val="FFFFFF"/>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9848" y="2578608"/>
            <a:ext cx="2020824" cy="292608"/>
          </a:xfrm>
          <a:prstGeom prst="rect">
            <a:avLst/>
          </a:prstGeom>
          <a:noFill/>
        </p:spPr>
        <p:txBody>
          <a:bodyPr wrap="square" lIns="18288" tIns="18288" rIns="18288" bIns="18288" anchor="t">
            <a:noAutofit/>
          </a:bodyPr>
          <a:lstStyle/>
          <a:p>
            <a:pPr algn="l"/>
            <a:r>
              <a:rPr sz="1700" b="1" i="0">
                <a:solidFill>
                  <a:srgbClr val="161A3E"/>
                </a:solidFill>
                <a:latin typeface="Calibri"/>
              </a:rPr>
              <a:t>Corpus</a:t>
            </a:r>
          </a:p>
        </p:txBody>
      </p:sp>
      <p:sp>
        <p:nvSpPr>
          <p:cNvPr id="7" name="TextBox 6"/>
          <p:cNvSpPr txBox="1"/>
          <p:nvPr/>
        </p:nvSpPr>
        <p:spPr>
          <a:xfrm>
            <a:off x="1069848" y="2962656"/>
            <a:ext cx="2020824" cy="576072"/>
          </a:xfrm>
          <a:prstGeom prst="rect">
            <a:avLst/>
          </a:prstGeom>
          <a:noFill/>
        </p:spPr>
        <p:txBody>
          <a:bodyPr wrap="square" lIns="18288" tIns="18288" rIns="18288" bIns="18288" anchor="t">
            <a:noAutofit/>
          </a:bodyPr>
          <a:lstStyle/>
          <a:p>
            <a:pPr algn="l"/>
            <a:r>
              <a:rPr sz="1600" b="0" i="0">
                <a:solidFill>
                  <a:srgbClr val="44546A"/>
                </a:solidFill>
                <a:latin typeface="Calibri"/>
              </a:rPr>
              <a:t>1,000 documents</a:t>
            </a:r>
            <a:br/>
            <a:r>
              <a:rPr sz="1600" b="0" i="0">
                <a:solidFill>
                  <a:srgbClr val="44546A"/>
                </a:solidFill>
                <a:latin typeface="Calibri"/>
              </a:rPr>
              <a:t>× 500 tokens</a:t>
            </a:r>
          </a:p>
        </p:txBody>
      </p:sp>
      <p:sp>
        <p:nvSpPr>
          <p:cNvPr id="8" name="TextBox 7"/>
          <p:cNvSpPr txBox="1"/>
          <p:nvPr/>
        </p:nvSpPr>
        <p:spPr>
          <a:xfrm>
            <a:off x="3337560" y="2889504"/>
            <a:ext cx="320040" cy="274320"/>
          </a:xfrm>
          <a:prstGeom prst="rect">
            <a:avLst/>
          </a:prstGeom>
          <a:noFill/>
        </p:spPr>
        <p:txBody>
          <a:bodyPr wrap="square" lIns="0" tIns="0" rIns="0" bIns="0" anchor="t">
            <a:noAutofit/>
          </a:bodyPr>
          <a:lstStyle/>
          <a:p>
            <a:pPr algn="ctr"/>
            <a:r>
              <a:rPr sz="2200" b="1" i="0">
                <a:solidFill>
                  <a:srgbClr val="4472C4"/>
                </a:solidFill>
                <a:latin typeface="Calibri"/>
              </a:rPr>
              <a:t>=</a:t>
            </a:r>
          </a:p>
        </p:txBody>
      </p:sp>
      <p:sp>
        <p:nvSpPr>
          <p:cNvPr id="9" name="Rounded Rectangle 8"/>
          <p:cNvSpPr/>
          <p:nvPr/>
        </p:nvSpPr>
        <p:spPr>
          <a:xfrm>
            <a:off x="3749039" y="2468880"/>
            <a:ext cx="2240280" cy="1143000"/>
          </a:xfrm>
          <a:prstGeom prst="roundRect">
            <a:avLst/>
          </a:prstGeom>
          <a:solidFill>
            <a:srgbClr val="FFFFFF"/>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858768" y="2578608"/>
            <a:ext cx="2020824" cy="292608"/>
          </a:xfrm>
          <a:prstGeom prst="rect">
            <a:avLst/>
          </a:prstGeom>
          <a:noFill/>
        </p:spPr>
        <p:txBody>
          <a:bodyPr wrap="square" lIns="18288" tIns="18288" rIns="18288" bIns="18288" anchor="t">
            <a:noAutofit/>
          </a:bodyPr>
          <a:lstStyle/>
          <a:p>
            <a:pPr algn="l"/>
            <a:r>
              <a:rPr sz="1700" b="1" i="0">
                <a:solidFill>
                  <a:srgbClr val="161A3E"/>
                </a:solidFill>
                <a:latin typeface="Calibri"/>
              </a:rPr>
              <a:t>Tokens</a:t>
            </a:r>
          </a:p>
        </p:txBody>
      </p:sp>
      <p:sp>
        <p:nvSpPr>
          <p:cNvPr id="11" name="TextBox 10"/>
          <p:cNvSpPr txBox="1"/>
          <p:nvPr/>
        </p:nvSpPr>
        <p:spPr>
          <a:xfrm>
            <a:off x="3858768" y="2962656"/>
            <a:ext cx="2020824" cy="576072"/>
          </a:xfrm>
          <a:prstGeom prst="rect">
            <a:avLst/>
          </a:prstGeom>
          <a:noFill/>
        </p:spPr>
        <p:txBody>
          <a:bodyPr wrap="square" lIns="18288" tIns="18288" rIns="18288" bIns="18288" anchor="t">
            <a:noAutofit/>
          </a:bodyPr>
          <a:lstStyle/>
          <a:p>
            <a:pPr algn="l"/>
            <a:r>
              <a:rPr sz="1600" b="0" i="0">
                <a:solidFill>
                  <a:srgbClr val="44546A"/>
                </a:solidFill>
                <a:latin typeface="Calibri"/>
              </a:rPr>
              <a:t>500,000</a:t>
            </a:r>
            <a:br/>
            <a:r>
              <a:rPr sz="1600" b="0" i="0">
                <a:solidFill>
                  <a:srgbClr val="44546A"/>
                </a:solidFill>
                <a:latin typeface="Calibri"/>
              </a:rPr>
              <a:t>input tokens</a:t>
            </a:r>
          </a:p>
        </p:txBody>
      </p:sp>
      <p:sp>
        <p:nvSpPr>
          <p:cNvPr id="12" name="TextBox 11"/>
          <p:cNvSpPr txBox="1"/>
          <p:nvPr/>
        </p:nvSpPr>
        <p:spPr>
          <a:xfrm>
            <a:off x="6126480" y="2889504"/>
            <a:ext cx="320040" cy="274320"/>
          </a:xfrm>
          <a:prstGeom prst="rect">
            <a:avLst/>
          </a:prstGeom>
          <a:noFill/>
        </p:spPr>
        <p:txBody>
          <a:bodyPr wrap="square" lIns="0" tIns="0" rIns="0" bIns="0" anchor="t">
            <a:noAutofit/>
          </a:bodyPr>
          <a:lstStyle/>
          <a:p>
            <a:pPr algn="ctr"/>
            <a:r>
              <a:rPr sz="2200" b="1" i="0">
                <a:solidFill>
                  <a:srgbClr val="4472C4"/>
                </a:solidFill>
                <a:latin typeface="Calibri"/>
              </a:rPr>
              <a:t>×</a:t>
            </a:r>
          </a:p>
        </p:txBody>
      </p:sp>
      <p:sp>
        <p:nvSpPr>
          <p:cNvPr id="13" name="Rounded Rectangle 12"/>
          <p:cNvSpPr/>
          <p:nvPr/>
        </p:nvSpPr>
        <p:spPr>
          <a:xfrm>
            <a:off x="6537960" y="2468880"/>
            <a:ext cx="2240280" cy="1143000"/>
          </a:xfrm>
          <a:prstGeom prst="roundRect">
            <a:avLst/>
          </a:prstGeom>
          <a:solidFill>
            <a:srgbClr val="FFFFFF"/>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47688" y="2578608"/>
            <a:ext cx="2020824" cy="292608"/>
          </a:xfrm>
          <a:prstGeom prst="rect">
            <a:avLst/>
          </a:prstGeom>
          <a:noFill/>
        </p:spPr>
        <p:txBody>
          <a:bodyPr wrap="square" lIns="18288" tIns="18288" rIns="18288" bIns="18288" anchor="t">
            <a:noAutofit/>
          </a:bodyPr>
          <a:lstStyle/>
          <a:p>
            <a:pPr algn="l"/>
            <a:r>
              <a:rPr sz="1700" b="1" i="0">
                <a:solidFill>
                  <a:srgbClr val="161A3E"/>
                </a:solidFill>
                <a:latin typeface="Calibri"/>
              </a:rPr>
              <a:t>API price</a:t>
            </a:r>
          </a:p>
        </p:txBody>
      </p:sp>
      <p:sp>
        <p:nvSpPr>
          <p:cNvPr id="15" name="TextBox 14"/>
          <p:cNvSpPr txBox="1"/>
          <p:nvPr/>
        </p:nvSpPr>
        <p:spPr>
          <a:xfrm>
            <a:off x="6647688" y="2962656"/>
            <a:ext cx="2020824" cy="576072"/>
          </a:xfrm>
          <a:prstGeom prst="rect">
            <a:avLst/>
          </a:prstGeom>
          <a:noFill/>
        </p:spPr>
        <p:txBody>
          <a:bodyPr wrap="square" lIns="18288" tIns="18288" rIns="18288" bIns="18288" anchor="t">
            <a:noAutofit/>
          </a:bodyPr>
          <a:lstStyle/>
          <a:p>
            <a:pPr algn="l"/>
            <a:r>
              <a:rPr sz="1600" b="0" i="0">
                <a:solidFill>
                  <a:srgbClr val="44546A"/>
                </a:solidFill>
                <a:latin typeface="Calibri"/>
              </a:rPr>
              <a:t>$0.02 per</a:t>
            </a:r>
            <a:br/>
            <a:r>
              <a:rPr sz="1600" b="0" i="0">
                <a:solidFill>
                  <a:srgbClr val="44546A"/>
                </a:solidFill>
                <a:latin typeface="Calibri"/>
              </a:rPr>
              <a:t>1M tokens</a:t>
            </a:r>
          </a:p>
        </p:txBody>
      </p:sp>
      <p:sp>
        <p:nvSpPr>
          <p:cNvPr id="16" name="TextBox 15"/>
          <p:cNvSpPr txBox="1"/>
          <p:nvPr/>
        </p:nvSpPr>
        <p:spPr>
          <a:xfrm>
            <a:off x="8915400" y="2889504"/>
            <a:ext cx="320040" cy="274320"/>
          </a:xfrm>
          <a:prstGeom prst="rect">
            <a:avLst/>
          </a:prstGeom>
          <a:noFill/>
        </p:spPr>
        <p:txBody>
          <a:bodyPr wrap="square" lIns="0" tIns="0" rIns="0" bIns="0" anchor="t">
            <a:noAutofit/>
          </a:bodyPr>
          <a:lstStyle/>
          <a:p>
            <a:pPr algn="ctr"/>
            <a:r>
              <a:rPr sz="2200" b="1" i="0">
                <a:solidFill>
                  <a:srgbClr val="4472C4"/>
                </a:solidFill>
                <a:latin typeface="Calibri"/>
              </a:rPr>
              <a:t>≈</a:t>
            </a:r>
          </a:p>
        </p:txBody>
      </p:sp>
      <p:sp>
        <p:nvSpPr>
          <p:cNvPr id="17" name="Rounded Rectangle 16"/>
          <p:cNvSpPr/>
          <p:nvPr/>
        </p:nvSpPr>
        <p:spPr>
          <a:xfrm>
            <a:off x="9326880" y="2468880"/>
            <a:ext cx="1691640" cy="1143000"/>
          </a:xfrm>
          <a:prstGeom prst="roundRect">
            <a:avLst/>
          </a:prstGeom>
          <a:solidFill>
            <a:srgbClr val="D6E4F0"/>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436607" y="2578608"/>
            <a:ext cx="1472184" cy="292608"/>
          </a:xfrm>
          <a:prstGeom prst="rect">
            <a:avLst/>
          </a:prstGeom>
          <a:noFill/>
        </p:spPr>
        <p:txBody>
          <a:bodyPr wrap="square" lIns="18288" tIns="18288" rIns="18288" bIns="18288" anchor="t">
            <a:noAutofit/>
          </a:bodyPr>
          <a:lstStyle/>
          <a:p>
            <a:pPr algn="l"/>
            <a:r>
              <a:rPr sz="1700" b="1" i="0">
                <a:solidFill>
                  <a:srgbClr val="161A3E"/>
                </a:solidFill>
                <a:latin typeface="Calibri"/>
              </a:rPr>
              <a:t>Cost</a:t>
            </a:r>
          </a:p>
        </p:txBody>
      </p:sp>
      <p:sp>
        <p:nvSpPr>
          <p:cNvPr id="19" name="TextBox 18"/>
          <p:cNvSpPr txBox="1"/>
          <p:nvPr/>
        </p:nvSpPr>
        <p:spPr>
          <a:xfrm>
            <a:off x="9436607" y="2962656"/>
            <a:ext cx="1472184" cy="576072"/>
          </a:xfrm>
          <a:prstGeom prst="rect">
            <a:avLst/>
          </a:prstGeom>
          <a:noFill/>
        </p:spPr>
        <p:txBody>
          <a:bodyPr wrap="square" lIns="18288" tIns="18288" rIns="18288" bIns="18288" anchor="t">
            <a:noAutofit/>
          </a:bodyPr>
          <a:lstStyle/>
          <a:p>
            <a:pPr algn="l"/>
            <a:r>
              <a:rPr sz="2000" b="0" i="0">
                <a:solidFill>
                  <a:srgbClr val="44546A"/>
                </a:solidFill>
                <a:latin typeface="Calibri"/>
              </a:rPr>
              <a:t>$0.01</a:t>
            </a:r>
          </a:p>
        </p:txBody>
      </p:sp>
      <p:sp>
        <p:nvSpPr>
          <p:cNvPr id="20" name="TextBox 19"/>
          <p:cNvSpPr txBox="1"/>
          <p:nvPr/>
        </p:nvSpPr>
        <p:spPr>
          <a:xfrm>
            <a:off x="1005840" y="4206240"/>
            <a:ext cx="228600" cy="256032"/>
          </a:xfrm>
          <a:prstGeom prst="rect">
            <a:avLst/>
          </a:prstGeom>
          <a:noFill/>
        </p:spPr>
        <p:txBody>
          <a:bodyPr wrap="square" lIns="0" tIns="0" rIns="0" bIns="0" anchor="t">
            <a:noAutofit/>
          </a:bodyPr>
          <a:lstStyle/>
          <a:p>
            <a:pPr algn="ctr"/>
            <a:r>
              <a:rPr sz="2000" b="1" i="0">
                <a:solidFill>
                  <a:srgbClr val="4472C4"/>
                </a:solidFill>
                <a:latin typeface="Calibri"/>
              </a:rPr>
              <a:t>•</a:t>
            </a:r>
          </a:p>
        </p:txBody>
      </p:sp>
      <p:sp>
        <p:nvSpPr>
          <p:cNvPr id="21" name="TextBox 20"/>
          <p:cNvSpPr txBox="1"/>
          <p:nvPr/>
        </p:nvSpPr>
        <p:spPr>
          <a:xfrm>
            <a:off x="1298448" y="4206240"/>
            <a:ext cx="9491472" cy="310896"/>
          </a:xfrm>
          <a:prstGeom prst="rect">
            <a:avLst/>
          </a:prstGeom>
          <a:noFill/>
        </p:spPr>
        <p:txBody>
          <a:bodyPr wrap="square" lIns="18288" tIns="18288" rIns="18288" bIns="18288" anchor="t">
            <a:noAutofit/>
          </a:bodyPr>
          <a:lstStyle/>
          <a:p>
            <a:pPr algn="l"/>
            <a:r>
              <a:rPr sz="1800" b="0" i="0">
                <a:solidFill>
                  <a:srgbClr val="161A3E"/>
                </a:solidFill>
                <a:latin typeface="Calibri"/>
              </a:rPr>
              <a:t>Query-time embedding cost is tiny for classroom demos, but production volume can grow quickly.</a:t>
            </a:r>
          </a:p>
        </p:txBody>
      </p:sp>
      <p:sp>
        <p:nvSpPr>
          <p:cNvPr id="22" name="TextBox 21"/>
          <p:cNvSpPr txBox="1"/>
          <p:nvPr/>
        </p:nvSpPr>
        <p:spPr>
          <a:xfrm>
            <a:off x="1005840" y="4626864"/>
            <a:ext cx="228600" cy="256032"/>
          </a:xfrm>
          <a:prstGeom prst="rect">
            <a:avLst/>
          </a:prstGeom>
          <a:noFill/>
        </p:spPr>
        <p:txBody>
          <a:bodyPr wrap="square" lIns="0" tIns="0" rIns="0" bIns="0" anchor="t">
            <a:noAutofit/>
          </a:bodyPr>
          <a:lstStyle/>
          <a:p>
            <a:pPr algn="ctr"/>
            <a:r>
              <a:rPr sz="2000" b="1" i="0">
                <a:solidFill>
                  <a:srgbClr val="4472C4"/>
                </a:solidFill>
                <a:latin typeface="Calibri"/>
              </a:rPr>
              <a:t>•</a:t>
            </a:r>
          </a:p>
        </p:txBody>
      </p:sp>
      <p:sp>
        <p:nvSpPr>
          <p:cNvPr id="23" name="TextBox 22"/>
          <p:cNvSpPr txBox="1"/>
          <p:nvPr/>
        </p:nvSpPr>
        <p:spPr>
          <a:xfrm>
            <a:off x="1298448" y="4626864"/>
            <a:ext cx="9491472" cy="310896"/>
          </a:xfrm>
          <a:prstGeom prst="rect">
            <a:avLst/>
          </a:prstGeom>
          <a:noFill/>
        </p:spPr>
        <p:txBody>
          <a:bodyPr wrap="square" lIns="18288" tIns="18288" rIns="18288" bIns="18288" anchor="t">
            <a:noAutofit/>
          </a:bodyPr>
          <a:lstStyle/>
          <a:p>
            <a:pPr algn="l"/>
            <a:r>
              <a:rPr sz="1800" b="0" i="0">
                <a:solidFill>
                  <a:srgbClr val="161A3E"/>
                </a:solidFill>
                <a:latin typeface="Calibri"/>
              </a:rPr>
              <a:t>Storage and re-indexing matter: every model change requires re-embedding the corpus.</a:t>
            </a:r>
          </a:p>
        </p:txBody>
      </p:sp>
      <p:sp>
        <p:nvSpPr>
          <p:cNvPr id="24" name="TextBox 23"/>
          <p:cNvSpPr txBox="1"/>
          <p:nvPr/>
        </p:nvSpPr>
        <p:spPr>
          <a:xfrm>
            <a:off x="960120" y="5440680"/>
            <a:ext cx="10058400" cy="219456"/>
          </a:xfrm>
          <a:prstGeom prst="rect">
            <a:avLst/>
          </a:prstGeom>
          <a:noFill/>
        </p:spPr>
        <p:txBody>
          <a:bodyPr wrap="square" lIns="0" tIns="0" rIns="0" bIns="0" anchor="t">
            <a:noAutofit/>
          </a:bodyPr>
          <a:lstStyle/>
          <a:p>
            <a:pPr algn="ctr"/>
            <a:r>
              <a:rPr sz="1200" b="0" i="1">
                <a:solidFill>
                  <a:srgbClr val="44546A"/>
                </a:solidFill>
                <a:latin typeface="Calibri"/>
              </a:rPr>
              <a:t>Pricing changes over time. Always verify before budgeting a production system.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a:solidFill>
                  <a:srgbClr val="161A3E"/>
                </a:solidFill>
                <a:latin typeface="Calibri"/>
              </a:rPr>
              <a:t>A practical model-selection checklist</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0120" y="1828800"/>
            <a:ext cx="411480" cy="41148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929384"/>
            <a:ext cx="411480" cy="182880"/>
          </a:xfrm>
          <a:prstGeom prst="rect">
            <a:avLst/>
          </a:prstGeom>
          <a:noFill/>
        </p:spPr>
        <p:txBody>
          <a:bodyPr wrap="square" lIns="0" tIns="0" rIns="0" bIns="0" anchor="t">
            <a:noAutofit/>
          </a:bodyPr>
          <a:lstStyle/>
          <a:p>
            <a:pPr algn="ctr"/>
            <a:r>
              <a:rPr sz="1200" b="1" i="0">
                <a:solidFill>
                  <a:srgbClr val="FFFFFF"/>
                </a:solidFill>
                <a:latin typeface="Calibri"/>
              </a:rPr>
              <a:t>1</a:t>
            </a:r>
          </a:p>
        </p:txBody>
      </p:sp>
      <p:sp>
        <p:nvSpPr>
          <p:cNvPr id="6" name="TextBox 5"/>
          <p:cNvSpPr txBox="1"/>
          <p:nvPr/>
        </p:nvSpPr>
        <p:spPr>
          <a:xfrm>
            <a:off x="1600200" y="1828800"/>
            <a:ext cx="2377440" cy="274320"/>
          </a:xfrm>
          <a:prstGeom prst="rect">
            <a:avLst/>
          </a:prstGeom>
          <a:noFill/>
        </p:spPr>
        <p:txBody>
          <a:bodyPr wrap="square" lIns="0" tIns="0" rIns="0" bIns="0" anchor="t">
            <a:noAutofit/>
          </a:bodyPr>
          <a:lstStyle/>
          <a:p>
            <a:pPr algn="l"/>
            <a:r>
              <a:rPr sz="1800" b="1" i="0">
                <a:solidFill>
                  <a:srgbClr val="161A3E"/>
                </a:solidFill>
                <a:latin typeface="Calibri"/>
              </a:rPr>
              <a:t>Start local</a:t>
            </a:r>
          </a:p>
        </p:txBody>
      </p:sp>
      <p:sp>
        <p:nvSpPr>
          <p:cNvPr id="7" name="TextBox 6"/>
          <p:cNvSpPr txBox="1"/>
          <p:nvPr/>
        </p:nvSpPr>
        <p:spPr>
          <a:xfrm>
            <a:off x="4114800" y="1847088"/>
            <a:ext cx="6858000" cy="274320"/>
          </a:xfrm>
          <a:prstGeom prst="rect">
            <a:avLst/>
          </a:prstGeom>
          <a:noFill/>
        </p:spPr>
        <p:txBody>
          <a:bodyPr wrap="square" lIns="0" tIns="0" rIns="0" bIns="0" anchor="t">
            <a:noAutofit/>
          </a:bodyPr>
          <a:lstStyle/>
          <a:p>
            <a:pPr algn="l"/>
            <a:r>
              <a:rPr sz="1600" b="0" i="0">
                <a:solidFill>
                  <a:srgbClr val="44546A"/>
                </a:solidFill>
                <a:latin typeface="Calibri"/>
              </a:rPr>
              <a:t>Use MiniLM or another sentence-transformers model to learn and prototype.</a:t>
            </a:r>
          </a:p>
        </p:txBody>
      </p:sp>
      <p:sp>
        <p:nvSpPr>
          <p:cNvPr id="8" name="Oval 7"/>
          <p:cNvSpPr/>
          <p:nvPr/>
        </p:nvSpPr>
        <p:spPr>
          <a:xfrm>
            <a:off x="960120" y="2487168"/>
            <a:ext cx="411480" cy="41148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587751"/>
            <a:ext cx="411480" cy="182880"/>
          </a:xfrm>
          <a:prstGeom prst="rect">
            <a:avLst/>
          </a:prstGeom>
          <a:noFill/>
        </p:spPr>
        <p:txBody>
          <a:bodyPr wrap="square" lIns="0" tIns="0" rIns="0" bIns="0" anchor="t">
            <a:noAutofit/>
          </a:bodyPr>
          <a:lstStyle/>
          <a:p>
            <a:pPr algn="ctr"/>
            <a:r>
              <a:rPr sz="1200" b="1" i="0">
                <a:solidFill>
                  <a:srgbClr val="FFFFFF"/>
                </a:solidFill>
                <a:latin typeface="Calibri"/>
              </a:rPr>
              <a:t>2</a:t>
            </a:r>
          </a:p>
        </p:txBody>
      </p:sp>
      <p:sp>
        <p:nvSpPr>
          <p:cNvPr id="10" name="TextBox 9"/>
          <p:cNvSpPr txBox="1"/>
          <p:nvPr/>
        </p:nvSpPr>
        <p:spPr>
          <a:xfrm>
            <a:off x="1600200" y="2487168"/>
            <a:ext cx="2377440" cy="274320"/>
          </a:xfrm>
          <a:prstGeom prst="rect">
            <a:avLst/>
          </a:prstGeom>
          <a:noFill/>
        </p:spPr>
        <p:txBody>
          <a:bodyPr wrap="square" lIns="0" tIns="0" rIns="0" bIns="0" anchor="t">
            <a:noAutofit/>
          </a:bodyPr>
          <a:lstStyle/>
          <a:p>
            <a:pPr algn="l"/>
            <a:r>
              <a:rPr sz="1800" b="1" i="0">
                <a:solidFill>
                  <a:srgbClr val="161A3E"/>
                </a:solidFill>
                <a:latin typeface="Calibri"/>
              </a:rPr>
              <a:t>Test on real queries</a:t>
            </a:r>
          </a:p>
        </p:txBody>
      </p:sp>
      <p:sp>
        <p:nvSpPr>
          <p:cNvPr id="11" name="TextBox 10"/>
          <p:cNvSpPr txBox="1"/>
          <p:nvPr/>
        </p:nvSpPr>
        <p:spPr>
          <a:xfrm>
            <a:off x="4114800" y="2505456"/>
            <a:ext cx="6858000" cy="274320"/>
          </a:xfrm>
          <a:prstGeom prst="rect">
            <a:avLst/>
          </a:prstGeom>
          <a:noFill/>
        </p:spPr>
        <p:txBody>
          <a:bodyPr wrap="square" lIns="0" tIns="0" rIns="0" bIns="0" anchor="t">
            <a:noAutofit/>
          </a:bodyPr>
          <a:lstStyle/>
          <a:p>
            <a:pPr algn="l"/>
            <a:r>
              <a:rPr sz="1600" b="0" i="0">
                <a:solidFill>
                  <a:srgbClr val="44546A"/>
                </a:solidFill>
                <a:latin typeface="Calibri"/>
              </a:rPr>
              <a:t>Create a small labelled query set before judging quality.</a:t>
            </a:r>
          </a:p>
        </p:txBody>
      </p:sp>
      <p:sp>
        <p:nvSpPr>
          <p:cNvPr id="12" name="Oval 11"/>
          <p:cNvSpPr/>
          <p:nvPr/>
        </p:nvSpPr>
        <p:spPr>
          <a:xfrm>
            <a:off x="960120" y="3145535"/>
            <a:ext cx="411480" cy="41148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3246119"/>
            <a:ext cx="411480" cy="182880"/>
          </a:xfrm>
          <a:prstGeom prst="rect">
            <a:avLst/>
          </a:prstGeom>
          <a:noFill/>
        </p:spPr>
        <p:txBody>
          <a:bodyPr wrap="square" lIns="0" tIns="0" rIns="0" bIns="0" anchor="t">
            <a:noAutofit/>
          </a:bodyPr>
          <a:lstStyle/>
          <a:p>
            <a:pPr algn="ctr"/>
            <a:r>
              <a:rPr sz="1200" b="1" i="0">
                <a:solidFill>
                  <a:srgbClr val="FFFFFF"/>
                </a:solidFill>
                <a:latin typeface="Calibri"/>
              </a:rPr>
              <a:t>3</a:t>
            </a:r>
          </a:p>
        </p:txBody>
      </p:sp>
      <p:sp>
        <p:nvSpPr>
          <p:cNvPr id="14" name="TextBox 13"/>
          <p:cNvSpPr txBox="1"/>
          <p:nvPr/>
        </p:nvSpPr>
        <p:spPr>
          <a:xfrm>
            <a:off x="1600200" y="3145535"/>
            <a:ext cx="2377440" cy="274320"/>
          </a:xfrm>
          <a:prstGeom prst="rect">
            <a:avLst/>
          </a:prstGeom>
          <a:noFill/>
        </p:spPr>
        <p:txBody>
          <a:bodyPr wrap="square" lIns="0" tIns="0" rIns="0" bIns="0" anchor="t">
            <a:noAutofit/>
          </a:bodyPr>
          <a:lstStyle/>
          <a:p>
            <a:pPr algn="l"/>
            <a:r>
              <a:rPr sz="1800" b="1" i="0">
                <a:solidFill>
                  <a:srgbClr val="161A3E"/>
                </a:solidFill>
                <a:latin typeface="Calibri"/>
              </a:rPr>
              <a:t>Compare hosted models</a:t>
            </a:r>
          </a:p>
        </p:txBody>
      </p:sp>
      <p:sp>
        <p:nvSpPr>
          <p:cNvPr id="15" name="TextBox 14"/>
          <p:cNvSpPr txBox="1"/>
          <p:nvPr/>
        </p:nvSpPr>
        <p:spPr>
          <a:xfrm>
            <a:off x="4114800" y="3163823"/>
            <a:ext cx="6858000" cy="274320"/>
          </a:xfrm>
          <a:prstGeom prst="rect">
            <a:avLst/>
          </a:prstGeom>
          <a:noFill/>
        </p:spPr>
        <p:txBody>
          <a:bodyPr wrap="square" lIns="0" tIns="0" rIns="0" bIns="0" anchor="t">
            <a:noAutofit/>
          </a:bodyPr>
          <a:lstStyle/>
          <a:p>
            <a:pPr algn="l"/>
            <a:r>
              <a:rPr sz="1600" b="0" i="0">
                <a:solidFill>
                  <a:srgbClr val="44546A"/>
                </a:solidFill>
                <a:latin typeface="Calibri"/>
              </a:rPr>
              <a:t>Only pay for better embeddings if retrieval quality improves.</a:t>
            </a:r>
          </a:p>
        </p:txBody>
      </p:sp>
      <p:sp>
        <p:nvSpPr>
          <p:cNvPr id="16" name="Oval 15"/>
          <p:cNvSpPr/>
          <p:nvPr/>
        </p:nvSpPr>
        <p:spPr>
          <a:xfrm>
            <a:off x="960120" y="3803903"/>
            <a:ext cx="411480" cy="41148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3904487"/>
            <a:ext cx="411480" cy="182880"/>
          </a:xfrm>
          <a:prstGeom prst="rect">
            <a:avLst/>
          </a:prstGeom>
          <a:noFill/>
        </p:spPr>
        <p:txBody>
          <a:bodyPr wrap="square" lIns="0" tIns="0" rIns="0" bIns="0" anchor="t">
            <a:noAutofit/>
          </a:bodyPr>
          <a:lstStyle/>
          <a:p>
            <a:pPr algn="ctr"/>
            <a:r>
              <a:rPr sz="1200" b="1" i="0">
                <a:solidFill>
                  <a:srgbClr val="FFFFFF"/>
                </a:solidFill>
                <a:latin typeface="Calibri"/>
              </a:rPr>
              <a:t>4</a:t>
            </a:r>
          </a:p>
        </p:txBody>
      </p:sp>
      <p:sp>
        <p:nvSpPr>
          <p:cNvPr id="18" name="TextBox 17"/>
          <p:cNvSpPr txBox="1"/>
          <p:nvPr/>
        </p:nvSpPr>
        <p:spPr>
          <a:xfrm>
            <a:off x="1600200" y="3803903"/>
            <a:ext cx="2377440" cy="274320"/>
          </a:xfrm>
          <a:prstGeom prst="rect">
            <a:avLst/>
          </a:prstGeom>
          <a:noFill/>
        </p:spPr>
        <p:txBody>
          <a:bodyPr wrap="square" lIns="0" tIns="0" rIns="0" bIns="0" anchor="t">
            <a:noAutofit/>
          </a:bodyPr>
          <a:lstStyle/>
          <a:p>
            <a:pPr algn="l"/>
            <a:r>
              <a:rPr sz="1800" b="1" i="0">
                <a:solidFill>
                  <a:srgbClr val="161A3E"/>
                </a:solidFill>
                <a:latin typeface="Calibri"/>
              </a:rPr>
              <a:t>Track index metadata</a:t>
            </a:r>
          </a:p>
        </p:txBody>
      </p:sp>
      <p:sp>
        <p:nvSpPr>
          <p:cNvPr id="19" name="TextBox 18"/>
          <p:cNvSpPr txBox="1"/>
          <p:nvPr/>
        </p:nvSpPr>
        <p:spPr>
          <a:xfrm>
            <a:off x="4114800" y="3822191"/>
            <a:ext cx="6858000" cy="274320"/>
          </a:xfrm>
          <a:prstGeom prst="rect">
            <a:avLst/>
          </a:prstGeom>
          <a:noFill/>
        </p:spPr>
        <p:txBody>
          <a:bodyPr wrap="square" lIns="0" tIns="0" rIns="0" bIns="0" anchor="t">
            <a:noAutofit/>
          </a:bodyPr>
          <a:lstStyle/>
          <a:p>
            <a:pPr algn="l"/>
            <a:r>
              <a:rPr sz="1600" b="0" i="0">
                <a:solidFill>
                  <a:srgbClr val="44546A"/>
                </a:solidFill>
                <a:latin typeface="Calibri"/>
              </a:rPr>
              <a:t>Store model name, dimension, normalization policy, date, and corpus version.</a:t>
            </a:r>
          </a:p>
        </p:txBody>
      </p:sp>
      <p:sp>
        <p:nvSpPr>
          <p:cNvPr id="20" name="Oval 19"/>
          <p:cNvSpPr/>
          <p:nvPr/>
        </p:nvSpPr>
        <p:spPr>
          <a:xfrm>
            <a:off x="960120" y="4462271"/>
            <a:ext cx="411480" cy="41148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0120" y="4562855"/>
            <a:ext cx="411480" cy="182880"/>
          </a:xfrm>
          <a:prstGeom prst="rect">
            <a:avLst/>
          </a:prstGeom>
          <a:noFill/>
        </p:spPr>
        <p:txBody>
          <a:bodyPr wrap="square" lIns="0" tIns="0" rIns="0" bIns="0" anchor="t">
            <a:noAutofit/>
          </a:bodyPr>
          <a:lstStyle/>
          <a:p>
            <a:pPr algn="ctr"/>
            <a:r>
              <a:rPr sz="1200" b="1" i="0">
                <a:solidFill>
                  <a:srgbClr val="FFFFFF"/>
                </a:solidFill>
                <a:latin typeface="Calibri"/>
              </a:rPr>
              <a:t>5</a:t>
            </a:r>
          </a:p>
        </p:txBody>
      </p:sp>
      <p:sp>
        <p:nvSpPr>
          <p:cNvPr id="22" name="TextBox 21"/>
          <p:cNvSpPr txBox="1"/>
          <p:nvPr/>
        </p:nvSpPr>
        <p:spPr>
          <a:xfrm>
            <a:off x="1600200" y="4462271"/>
            <a:ext cx="2377440" cy="274320"/>
          </a:xfrm>
          <a:prstGeom prst="rect">
            <a:avLst/>
          </a:prstGeom>
          <a:noFill/>
        </p:spPr>
        <p:txBody>
          <a:bodyPr wrap="square" lIns="0" tIns="0" rIns="0" bIns="0" anchor="t">
            <a:noAutofit/>
          </a:bodyPr>
          <a:lstStyle/>
          <a:p>
            <a:pPr algn="l"/>
            <a:r>
              <a:rPr sz="1800" b="1" i="0">
                <a:solidFill>
                  <a:srgbClr val="161A3E"/>
                </a:solidFill>
                <a:latin typeface="Calibri"/>
              </a:rPr>
              <a:t>Rebuild intentionally</a:t>
            </a:r>
          </a:p>
        </p:txBody>
      </p:sp>
      <p:sp>
        <p:nvSpPr>
          <p:cNvPr id="23" name="TextBox 22"/>
          <p:cNvSpPr txBox="1"/>
          <p:nvPr/>
        </p:nvSpPr>
        <p:spPr>
          <a:xfrm>
            <a:off x="4114800" y="4480559"/>
            <a:ext cx="6858000" cy="274320"/>
          </a:xfrm>
          <a:prstGeom prst="rect">
            <a:avLst/>
          </a:prstGeom>
          <a:noFill/>
        </p:spPr>
        <p:txBody>
          <a:bodyPr wrap="square" lIns="0" tIns="0" rIns="0" bIns="0" anchor="t">
            <a:noAutofit/>
          </a:bodyPr>
          <a:lstStyle/>
          <a:p>
            <a:pPr algn="l"/>
            <a:r>
              <a:rPr sz="1600" b="0" i="0">
                <a:solidFill>
                  <a:srgbClr val="44546A"/>
                </a:solidFill>
                <a:latin typeface="Calibri"/>
              </a:rPr>
              <a:t>Changing the model invalidates old vectors; plan re-indexing.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51560" y="2331720"/>
            <a:ext cx="10058400" cy="347472"/>
          </a:xfrm>
          <a:prstGeom prst="rect">
            <a:avLst/>
          </a:prstGeom>
          <a:noFill/>
        </p:spPr>
        <p:txBody>
          <a:bodyPr wrap="square" lIns="0" tIns="0" rIns="0" bIns="0" anchor="t">
            <a:noAutofit/>
          </a:bodyPr>
          <a:lstStyle/>
          <a:p>
            <a:pPr algn="ctr"/>
            <a:r>
              <a:rPr sz="1500" b="1" i="0">
                <a:solidFill>
                  <a:srgbClr val="5B9BD5"/>
                </a:solidFill>
                <a:latin typeface="Calibri"/>
              </a:rPr>
              <a:t>PART 5</a:t>
            </a:r>
          </a:p>
        </p:txBody>
      </p:sp>
      <p:sp>
        <p:nvSpPr>
          <p:cNvPr id="4" name="TextBox 3"/>
          <p:cNvSpPr txBox="1"/>
          <p:nvPr/>
        </p:nvSpPr>
        <p:spPr>
          <a:xfrm>
            <a:off x="1234440" y="2743200"/>
            <a:ext cx="9738360" cy="777240"/>
          </a:xfrm>
          <a:prstGeom prst="rect">
            <a:avLst/>
          </a:prstGeom>
          <a:noFill/>
        </p:spPr>
        <p:txBody>
          <a:bodyPr wrap="square" lIns="0" tIns="0" rIns="0" bIns="0" anchor="t">
            <a:noAutofit/>
          </a:bodyPr>
          <a:lstStyle/>
          <a:p>
            <a:pPr algn="ctr"/>
            <a:r>
              <a:rPr sz="3600" b="1" i="0">
                <a:solidFill>
                  <a:srgbClr val="FFFFFF"/>
                </a:solidFill>
                <a:latin typeface="Calibri"/>
              </a:rPr>
              <a:t>FAISS: an in-memory vector index</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a:solidFill>
                  <a:srgbClr val="161A3E"/>
                </a:solidFill>
                <a:latin typeface="Calibri"/>
              </a:rPr>
              <a:t>What FAISS solves</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75360" y="1819656"/>
            <a:ext cx="10241280" cy="320040"/>
          </a:xfrm>
          <a:prstGeom prst="rect">
            <a:avLst/>
          </a:prstGeom>
          <a:noFill/>
        </p:spPr>
        <p:txBody>
          <a:bodyPr wrap="square" lIns="0" tIns="0" rIns="0" bIns="0" anchor="t">
            <a:noAutofit/>
          </a:bodyPr>
          <a:lstStyle/>
          <a:p>
            <a:pPr algn="ctr"/>
            <a:r>
              <a:rPr sz="2000" b="1" i="0" dirty="0">
                <a:solidFill>
                  <a:srgbClr val="161A3E"/>
                </a:solidFill>
                <a:latin typeface="Calibri"/>
              </a:rPr>
              <a:t>Once every document is a vector, brute-force search becomes expensive at scale.</a:t>
            </a:r>
          </a:p>
        </p:txBody>
      </p:sp>
      <p:sp>
        <p:nvSpPr>
          <p:cNvPr id="5" name="Rounded Rectangle 4"/>
          <p:cNvSpPr/>
          <p:nvPr/>
        </p:nvSpPr>
        <p:spPr>
          <a:xfrm>
            <a:off x="858741" y="2514600"/>
            <a:ext cx="3246120" cy="2107096"/>
          </a:xfrm>
          <a:prstGeom prst="roundRect">
            <a:avLst/>
          </a:prstGeom>
          <a:solidFill>
            <a:srgbClr val="FFFFFF"/>
          </a:solidFill>
          <a:ln w="12700">
            <a:solidFill>
              <a:srgbClr val="445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88346" y="2634267"/>
            <a:ext cx="3026663" cy="292608"/>
          </a:xfrm>
          <a:prstGeom prst="rect">
            <a:avLst/>
          </a:prstGeom>
          <a:noFill/>
        </p:spPr>
        <p:txBody>
          <a:bodyPr wrap="square" lIns="18288" tIns="18288" rIns="18288" bIns="18288" anchor="t">
            <a:noAutofit/>
          </a:bodyPr>
          <a:lstStyle/>
          <a:p>
            <a:pPr algn="l"/>
            <a:r>
              <a:rPr sz="1700" b="1" i="0" dirty="0">
                <a:solidFill>
                  <a:srgbClr val="161A3E"/>
                </a:solidFill>
                <a:latin typeface="Calibri"/>
              </a:rPr>
              <a:t>Without an index</a:t>
            </a:r>
          </a:p>
        </p:txBody>
      </p:sp>
      <p:sp>
        <p:nvSpPr>
          <p:cNvPr id="7" name="TextBox 6"/>
          <p:cNvSpPr txBox="1"/>
          <p:nvPr/>
        </p:nvSpPr>
        <p:spPr>
          <a:xfrm>
            <a:off x="978407" y="3008376"/>
            <a:ext cx="3026663" cy="1399031"/>
          </a:xfrm>
          <a:prstGeom prst="rect">
            <a:avLst/>
          </a:prstGeom>
          <a:noFill/>
        </p:spPr>
        <p:txBody>
          <a:bodyPr wrap="square" lIns="18288" tIns="18288" rIns="18288" bIns="18288" anchor="t">
            <a:noAutofit/>
          </a:bodyPr>
          <a:lstStyle/>
          <a:p>
            <a:pPr algn="l"/>
            <a:r>
              <a:rPr sz="1600" b="0" i="0" dirty="0">
                <a:solidFill>
                  <a:srgbClr val="44546A"/>
                </a:solidFill>
                <a:latin typeface="Calibri"/>
              </a:rPr>
              <a:t>Compare query vector against every document vector.</a:t>
            </a:r>
            <a:br>
              <a:rPr sz="2000" dirty="0"/>
            </a:br>
            <a:br>
              <a:rPr sz="2000" dirty="0"/>
            </a:br>
            <a:r>
              <a:rPr sz="1600" b="0" i="0" dirty="0">
                <a:solidFill>
                  <a:srgbClr val="44546A"/>
                </a:solidFill>
                <a:latin typeface="Calibri"/>
              </a:rPr>
              <a:t>Works for tiny demos. Slows down as the corpus grows.</a:t>
            </a:r>
          </a:p>
        </p:txBody>
      </p:sp>
      <p:sp>
        <p:nvSpPr>
          <p:cNvPr id="8" name="Rounded Rectangle 7"/>
          <p:cNvSpPr/>
          <p:nvPr/>
        </p:nvSpPr>
        <p:spPr>
          <a:xfrm>
            <a:off x="4470621" y="2514600"/>
            <a:ext cx="3246120" cy="2107096"/>
          </a:xfrm>
          <a:prstGeom prst="roundRect">
            <a:avLst/>
          </a:prstGeom>
          <a:solidFill>
            <a:srgbClr val="FFFFFF"/>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00227" y="2634267"/>
            <a:ext cx="3026663" cy="292608"/>
          </a:xfrm>
          <a:prstGeom prst="rect">
            <a:avLst/>
          </a:prstGeom>
          <a:noFill/>
        </p:spPr>
        <p:txBody>
          <a:bodyPr wrap="square" lIns="18288" tIns="18288" rIns="18288" bIns="18288" anchor="t">
            <a:noAutofit/>
          </a:bodyPr>
          <a:lstStyle/>
          <a:p>
            <a:pPr algn="l"/>
            <a:r>
              <a:rPr sz="1700" b="1" i="0">
                <a:solidFill>
                  <a:srgbClr val="161A3E"/>
                </a:solidFill>
                <a:latin typeface="Calibri"/>
              </a:rPr>
              <a:t>With FAISS</a:t>
            </a:r>
          </a:p>
        </p:txBody>
      </p:sp>
      <p:sp>
        <p:nvSpPr>
          <p:cNvPr id="10" name="TextBox 9"/>
          <p:cNvSpPr txBox="1"/>
          <p:nvPr/>
        </p:nvSpPr>
        <p:spPr>
          <a:xfrm>
            <a:off x="4590288" y="3008376"/>
            <a:ext cx="3026663" cy="1399031"/>
          </a:xfrm>
          <a:prstGeom prst="rect">
            <a:avLst/>
          </a:prstGeom>
          <a:noFill/>
        </p:spPr>
        <p:txBody>
          <a:bodyPr wrap="square" lIns="18288" tIns="18288" rIns="18288" bIns="18288" anchor="t">
            <a:noAutofit/>
          </a:bodyPr>
          <a:lstStyle/>
          <a:p>
            <a:pPr algn="l"/>
            <a:r>
              <a:rPr sz="1600" b="0" i="0">
                <a:solidFill>
                  <a:srgbClr val="44546A"/>
                </a:solidFill>
                <a:latin typeface="Calibri"/>
              </a:rPr>
              <a:t>Store vectors in an optimized index and search nearest neighbors efficiently.</a:t>
            </a:r>
            <a:br>
              <a:rPr sz="2000"/>
            </a:br>
            <a:br>
              <a:rPr sz="2000"/>
            </a:br>
            <a:r>
              <a:rPr sz="1600" b="0" i="0">
                <a:solidFill>
                  <a:srgbClr val="44546A"/>
                </a:solidFill>
                <a:latin typeface="Calibri"/>
              </a:rPr>
              <a:t>Great for local experiments and custom pipelines.</a:t>
            </a:r>
          </a:p>
        </p:txBody>
      </p:sp>
      <p:sp>
        <p:nvSpPr>
          <p:cNvPr id="11" name="Rounded Rectangle 10"/>
          <p:cNvSpPr/>
          <p:nvPr/>
        </p:nvSpPr>
        <p:spPr>
          <a:xfrm>
            <a:off x="8082501" y="2514600"/>
            <a:ext cx="3246120" cy="2107096"/>
          </a:xfrm>
          <a:prstGeom prst="roundRect">
            <a:avLst/>
          </a:prstGeom>
          <a:solidFill>
            <a:srgbClr val="FFFFFF"/>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12106" y="2634267"/>
            <a:ext cx="3026663" cy="292608"/>
          </a:xfrm>
          <a:prstGeom prst="rect">
            <a:avLst/>
          </a:prstGeom>
          <a:noFill/>
        </p:spPr>
        <p:txBody>
          <a:bodyPr wrap="square" lIns="18288" tIns="18288" rIns="18288" bIns="18288" anchor="t">
            <a:noAutofit/>
          </a:bodyPr>
          <a:lstStyle/>
          <a:p>
            <a:pPr algn="l"/>
            <a:r>
              <a:rPr sz="1700" b="1" i="0">
                <a:solidFill>
                  <a:srgbClr val="161A3E"/>
                </a:solidFill>
                <a:latin typeface="Calibri"/>
              </a:rPr>
              <a:t>What FAISS is not</a:t>
            </a:r>
          </a:p>
        </p:txBody>
      </p:sp>
      <p:sp>
        <p:nvSpPr>
          <p:cNvPr id="13" name="TextBox 12"/>
          <p:cNvSpPr txBox="1"/>
          <p:nvPr/>
        </p:nvSpPr>
        <p:spPr>
          <a:xfrm>
            <a:off x="8202167" y="3008376"/>
            <a:ext cx="3026663" cy="1399031"/>
          </a:xfrm>
          <a:prstGeom prst="rect">
            <a:avLst/>
          </a:prstGeom>
          <a:noFill/>
        </p:spPr>
        <p:txBody>
          <a:bodyPr wrap="square" lIns="18288" tIns="18288" rIns="18288" bIns="18288" anchor="t">
            <a:noAutofit/>
          </a:bodyPr>
          <a:lstStyle/>
          <a:p>
            <a:pPr algn="l"/>
            <a:r>
              <a:rPr sz="1600" b="0" i="0" dirty="0">
                <a:solidFill>
                  <a:srgbClr val="44546A"/>
                </a:solidFill>
                <a:latin typeface="Calibri"/>
              </a:rPr>
              <a:t>Not a full vector database: no managed API, auth, metadata filtering, or cloud operations by itself.</a:t>
            </a:r>
          </a:p>
        </p:txBody>
      </p:sp>
      <p:sp>
        <p:nvSpPr>
          <p:cNvPr id="14" name="TextBox 13"/>
          <p:cNvSpPr txBox="1"/>
          <p:nvPr/>
        </p:nvSpPr>
        <p:spPr>
          <a:xfrm>
            <a:off x="1117158" y="5029200"/>
            <a:ext cx="9966960" cy="329184"/>
          </a:xfrm>
          <a:prstGeom prst="rect">
            <a:avLst/>
          </a:prstGeom>
          <a:noFill/>
        </p:spPr>
        <p:txBody>
          <a:bodyPr wrap="square" lIns="0" tIns="0" rIns="0" bIns="0" anchor="t">
            <a:noAutofit/>
          </a:bodyPr>
          <a:lstStyle/>
          <a:p>
            <a:pPr algn="ctr"/>
            <a:r>
              <a:rPr sz="2000" b="1" i="0" dirty="0">
                <a:solidFill>
                  <a:srgbClr val="161A3E"/>
                </a:solidFill>
                <a:latin typeface="Calibri"/>
              </a:rPr>
              <a:t>FAISS teaches the search engine inside a vector database before adding production infrastructure.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dirty="0">
                <a:solidFill>
                  <a:srgbClr val="161A3E"/>
                </a:solidFill>
                <a:latin typeface="Calibri"/>
              </a:rPr>
              <a:t>FAISS index anatomy</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11244" y="1816274"/>
            <a:ext cx="2926080" cy="1251138"/>
          </a:xfrm>
          <a:prstGeom prst="roundRect">
            <a:avLst/>
          </a:prstGeom>
          <a:solidFill>
            <a:srgbClr val="FFFFFF"/>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6384" y="1908114"/>
            <a:ext cx="2706624" cy="292608"/>
          </a:xfrm>
          <a:prstGeom prst="rect">
            <a:avLst/>
          </a:prstGeom>
          <a:noFill/>
        </p:spPr>
        <p:txBody>
          <a:bodyPr wrap="square" lIns="18288" tIns="18288" rIns="18288" bIns="18288" anchor="t">
            <a:noAutofit/>
          </a:bodyPr>
          <a:lstStyle/>
          <a:p>
            <a:pPr algn="l"/>
            <a:r>
              <a:rPr sz="1400" b="1" i="0">
                <a:solidFill>
                  <a:srgbClr val="161A3E"/>
                </a:solidFill>
                <a:latin typeface="Calibri"/>
              </a:rPr>
              <a:t>IndexFlatL2</a:t>
            </a:r>
          </a:p>
        </p:txBody>
      </p:sp>
      <p:sp>
        <p:nvSpPr>
          <p:cNvPr id="18" name="TextBox 17"/>
          <p:cNvSpPr txBox="1"/>
          <p:nvPr/>
        </p:nvSpPr>
        <p:spPr>
          <a:xfrm>
            <a:off x="786384" y="2202711"/>
            <a:ext cx="2706624" cy="500334"/>
          </a:xfrm>
          <a:prstGeom prst="rect">
            <a:avLst/>
          </a:prstGeom>
          <a:noFill/>
        </p:spPr>
        <p:txBody>
          <a:bodyPr wrap="square" lIns="18288" tIns="18288" rIns="18288" bIns="18288" anchor="t">
            <a:noAutofit/>
          </a:bodyPr>
          <a:lstStyle/>
          <a:p>
            <a:pPr algn="l"/>
            <a:r>
              <a:rPr lang="en-US" sz="1200" b="0" i="0" dirty="0">
                <a:solidFill>
                  <a:srgbClr val="44546A"/>
                </a:solidFill>
                <a:latin typeface="Calibri"/>
              </a:rPr>
              <a:t>Exact nearest-neighbor search using Euclidean distance. Best for small datasets, demos, and baselines because it checks all vectors without approximation.</a:t>
            </a:r>
            <a:endParaRPr sz="1200" b="0" i="0" dirty="0">
              <a:solidFill>
                <a:srgbClr val="44546A"/>
              </a:solidFill>
              <a:latin typeface="Calibri"/>
            </a:endParaRPr>
          </a:p>
        </p:txBody>
      </p:sp>
      <p:sp>
        <p:nvSpPr>
          <p:cNvPr id="19" name="Rounded Rectangle 18"/>
          <p:cNvSpPr/>
          <p:nvPr/>
        </p:nvSpPr>
        <p:spPr>
          <a:xfrm>
            <a:off x="711244" y="3237966"/>
            <a:ext cx="2926080" cy="1251138"/>
          </a:xfrm>
          <a:prstGeom prst="roundRect">
            <a:avLst/>
          </a:prstGeom>
          <a:solidFill>
            <a:srgbClr val="FFFFFF"/>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86384" y="3329806"/>
            <a:ext cx="2706624" cy="292608"/>
          </a:xfrm>
          <a:prstGeom prst="rect">
            <a:avLst/>
          </a:prstGeom>
          <a:noFill/>
        </p:spPr>
        <p:txBody>
          <a:bodyPr wrap="square" lIns="18288" tIns="18288" rIns="18288" bIns="18288" anchor="t">
            <a:noAutofit/>
          </a:bodyPr>
          <a:lstStyle/>
          <a:p>
            <a:pPr algn="l"/>
            <a:r>
              <a:rPr sz="1400" b="1" i="0" dirty="0" err="1">
                <a:solidFill>
                  <a:srgbClr val="161A3E"/>
                </a:solidFill>
                <a:latin typeface="Calibri"/>
              </a:rPr>
              <a:t>IndexFlatIP</a:t>
            </a:r>
            <a:endParaRPr sz="1400" b="1" i="0" dirty="0">
              <a:solidFill>
                <a:srgbClr val="161A3E"/>
              </a:solidFill>
              <a:latin typeface="Calibri"/>
            </a:endParaRPr>
          </a:p>
        </p:txBody>
      </p:sp>
      <p:sp>
        <p:nvSpPr>
          <p:cNvPr id="21" name="TextBox 20"/>
          <p:cNvSpPr txBox="1"/>
          <p:nvPr/>
        </p:nvSpPr>
        <p:spPr>
          <a:xfrm>
            <a:off x="786384" y="3624402"/>
            <a:ext cx="2706624" cy="435333"/>
          </a:xfrm>
          <a:prstGeom prst="rect">
            <a:avLst/>
          </a:prstGeom>
          <a:noFill/>
        </p:spPr>
        <p:txBody>
          <a:bodyPr wrap="square" lIns="18288" tIns="18288" rIns="18288" bIns="18288" anchor="t">
            <a:noAutofit/>
          </a:bodyPr>
          <a:lstStyle/>
          <a:p>
            <a:pPr algn="l"/>
            <a:r>
              <a:rPr lang="en-US" sz="1200" b="0" i="0" dirty="0">
                <a:solidFill>
                  <a:srgbClr val="44546A"/>
                </a:solidFill>
                <a:latin typeface="Calibri"/>
              </a:rPr>
              <a:t>Exact inner-product search. Common for semantic search when vectors are normalized, because inner product then behaves like cosine similarity.</a:t>
            </a:r>
            <a:endParaRPr sz="1200" b="0" i="0" dirty="0">
              <a:solidFill>
                <a:srgbClr val="44546A"/>
              </a:solidFill>
              <a:latin typeface="Calibri"/>
            </a:endParaRPr>
          </a:p>
        </p:txBody>
      </p:sp>
      <p:sp>
        <p:nvSpPr>
          <p:cNvPr id="22" name="Rounded Rectangle 21"/>
          <p:cNvSpPr/>
          <p:nvPr/>
        </p:nvSpPr>
        <p:spPr>
          <a:xfrm>
            <a:off x="711244" y="4658272"/>
            <a:ext cx="2926080" cy="1251138"/>
          </a:xfrm>
          <a:prstGeom prst="roundRect">
            <a:avLst/>
          </a:prstGeom>
          <a:solidFill>
            <a:srgbClr val="FFFFFF"/>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86384" y="4750112"/>
            <a:ext cx="2706624" cy="292608"/>
          </a:xfrm>
          <a:prstGeom prst="rect">
            <a:avLst/>
          </a:prstGeom>
          <a:noFill/>
        </p:spPr>
        <p:txBody>
          <a:bodyPr wrap="square" lIns="18288" tIns="18288" rIns="18288" bIns="18288" anchor="t">
            <a:noAutofit/>
          </a:bodyPr>
          <a:lstStyle/>
          <a:p>
            <a:pPr algn="l"/>
            <a:r>
              <a:rPr sz="1400" b="1" i="0">
                <a:solidFill>
                  <a:srgbClr val="161A3E"/>
                </a:solidFill>
                <a:latin typeface="Calibri"/>
              </a:rPr>
              <a:t>ANN indexes</a:t>
            </a:r>
          </a:p>
        </p:txBody>
      </p:sp>
      <p:sp>
        <p:nvSpPr>
          <p:cNvPr id="24" name="TextBox 23"/>
          <p:cNvSpPr txBox="1"/>
          <p:nvPr/>
        </p:nvSpPr>
        <p:spPr>
          <a:xfrm>
            <a:off x="786384" y="5044709"/>
            <a:ext cx="2706624" cy="592174"/>
          </a:xfrm>
          <a:prstGeom prst="rect">
            <a:avLst/>
          </a:prstGeom>
          <a:noFill/>
        </p:spPr>
        <p:txBody>
          <a:bodyPr wrap="square" lIns="18288" tIns="18288" rIns="18288" bIns="18288" anchor="t">
            <a:noAutofit/>
          </a:bodyPr>
          <a:lstStyle/>
          <a:p>
            <a:pPr algn="l"/>
            <a:r>
              <a:rPr lang="en-US" sz="1200" b="0" i="0" dirty="0">
                <a:solidFill>
                  <a:srgbClr val="44546A"/>
                </a:solidFill>
                <a:latin typeface="Calibri"/>
              </a:rPr>
              <a:t>Approximate nearest-neighbor indexes for scale. IVF, HNSW, and PQ trade a little recall for much faster search on large vector collections.</a:t>
            </a:r>
            <a:endParaRPr sz="1200" b="0" i="0" dirty="0">
              <a:solidFill>
                <a:srgbClr val="44546A"/>
              </a:solidFill>
              <a:latin typeface="Calibri"/>
            </a:endParaRPr>
          </a:p>
        </p:txBody>
      </p:sp>
      <p:pic>
        <p:nvPicPr>
          <p:cNvPr id="26" name="Picture 25">
            <a:extLst>
              <a:ext uri="{FF2B5EF4-FFF2-40B4-BE49-F238E27FC236}">
                <a16:creationId xmlns:a16="http://schemas.microsoft.com/office/drawing/2014/main" id="{7EA6BF26-BBF5-FAC6-F53E-705A752086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2464" y="1412550"/>
            <a:ext cx="7990170" cy="449686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a:solidFill>
                  <a:srgbClr val="161A3E"/>
                </a:solidFill>
                <a:latin typeface="Calibri"/>
              </a:rPr>
              <a:t>Code walkthrough: build a cosine-like FAISS search</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68680" y="1928190"/>
            <a:ext cx="6263640" cy="3474720"/>
          </a:xfrm>
          <a:prstGeom prst="roundRect">
            <a:avLst/>
          </a:prstGeom>
          <a:solidFill>
            <a:srgbClr val="161A3E"/>
          </a:solidFill>
          <a:ln w="12700">
            <a:solidFill>
              <a:srgbClr val="161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2156790"/>
            <a:ext cx="5897880" cy="2926080"/>
          </a:xfrm>
          <a:prstGeom prst="rect">
            <a:avLst/>
          </a:prstGeom>
          <a:noFill/>
        </p:spPr>
        <p:txBody>
          <a:bodyPr wrap="square" lIns="45720" rIns="45720" anchor="t">
            <a:noAutofit/>
          </a:bodyPr>
          <a:lstStyle/>
          <a:p>
            <a:pPr algn="l"/>
            <a:r>
              <a:rPr sz="1350" b="0" i="0" dirty="0">
                <a:solidFill>
                  <a:srgbClr val="FFFFFF"/>
                </a:solidFill>
                <a:latin typeface="Consolas"/>
              </a:rPr>
              <a:t>model = </a:t>
            </a:r>
            <a:r>
              <a:rPr sz="1350" b="0" i="0" dirty="0" err="1">
                <a:solidFill>
                  <a:srgbClr val="FFFFFF"/>
                </a:solidFill>
                <a:latin typeface="Consolas"/>
              </a:rPr>
              <a:t>SentenceTransformer</a:t>
            </a:r>
            <a:r>
              <a:rPr sz="1350" b="0" i="0" dirty="0">
                <a:solidFill>
                  <a:srgbClr val="FFFFFF"/>
                </a:solidFill>
                <a:latin typeface="Consolas"/>
              </a:rPr>
              <a:t>("sentence-transformers/all-MiniLM-L6-v2")</a:t>
            </a:r>
            <a:br>
              <a:rPr dirty="0"/>
            </a:br>
            <a:br>
              <a:rPr dirty="0"/>
            </a:br>
            <a:r>
              <a:rPr sz="1350" b="0" i="0" dirty="0" err="1">
                <a:solidFill>
                  <a:srgbClr val="FFFFFF"/>
                </a:solidFill>
                <a:latin typeface="Consolas"/>
              </a:rPr>
              <a:t>doc_vectors</a:t>
            </a:r>
            <a:r>
              <a:rPr sz="1350" b="0" i="0" dirty="0">
                <a:solidFill>
                  <a:srgbClr val="FFFFFF"/>
                </a:solidFill>
                <a:latin typeface="Consolas"/>
              </a:rPr>
              <a:t> = </a:t>
            </a:r>
            <a:r>
              <a:rPr sz="1350" b="0" i="0" dirty="0" err="1">
                <a:solidFill>
                  <a:srgbClr val="FFFFFF"/>
                </a:solidFill>
                <a:latin typeface="Consolas"/>
              </a:rPr>
              <a:t>model.encode</a:t>
            </a:r>
            <a:r>
              <a:rPr sz="1350" b="0" i="0" dirty="0">
                <a:solidFill>
                  <a:srgbClr val="FFFFFF"/>
                </a:solidFill>
                <a:latin typeface="Consolas"/>
              </a:rPr>
              <a:t>(documents, </a:t>
            </a:r>
            <a:r>
              <a:rPr sz="1350" b="0" i="0" dirty="0" err="1">
                <a:solidFill>
                  <a:srgbClr val="FFFFFF"/>
                </a:solidFill>
                <a:latin typeface="Consolas"/>
              </a:rPr>
              <a:t>normalize_embeddings</a:t>
            </a:r>
            <a:r>
              <a:rPr sz="1350" b="0" i="0" dirty="0">
                <a:solidFill>
                  <a:srgbClr val="FFFFFF"/>
                </a:solidFill>
                <a:latin typeface="Consolas"/>
              </a:rPr>
              <a:t>=True)</a:t>
            </a:r>
            <a:br>
              <a:rPr dirty="0"/>
            </a:br>
            <a:r>
              <a:rPr sz="1350" b="0" i="0" dirty="0" err="1">
                <a:solidFill>
                  <a:srgbClr val="FFFFFF"/>
                </a:solidFill>
                <a:latin typeface="Consolas"/>
              </a:rPr>
              <a:t>query_vector</a:t>
            </a:r>
            <a:r>
              <a:rPr sz="1350" b="0" i="0" dirty="0">
                <a:solidFill>
                  <a:srgbClr val="FFFFFF"/>
                </a:solidFill>
                <a:latin typeface="Consolas"/>
              </a:rPr>
              <a:t> = </a:t>
            </a:r>
            <a:r>
              <a:rPr sz="1350" b="0" i="0" dirty="0" err="1">
                <a:solidFill>
                  <a:srgbClr val="FFFFFF"/>
                </a:solidFill>
                <a:latin typeface="Consolas"/>
              </a:rPr>
              <a:t>model.encode</a:t>
            </a:r>
            <a:r>
              <a:rPr sz="1350" b="0" i="0" dirty="0">
                <a:solidFill>
                  <a:srgbClr val="FFFFFF"/>
                </a:solidFill>
                <a:latin typeface="Consolas"/>
              </a:rPr>
              <a:t>([query], </a:t>
            </a:r>
            <a:r>
              <a:rPr sz="1350" b="0" i="0" dirty="0" err="1">
                <a:solidFill>
                  <a:srgbClr val="FFFFFF"/>
                </a:solidFill>
                <a:latin typeface="Consolas"/>
              </a:rPr>
              <a:t>normalize_embeddings</a:t>
            </a:r>
            <a:r>
              <a:rPr sz="1350" b="0" i="0" dirty="0">
                <a:solidFill>
                  <a:srgbClr val="FFFFFF"/>
                </a:solidFill>
                <a:latin typeface="Consolas"/>
              </a:rPr>
              <a:t>=True)</a:t>
            </a:r>
            <a:br>
              <a:rPr dirty="0"/>
            </a:br>
            <a:br>
              <a:rPr dirty="0"/>
            </a:br>
            <a:r>
              <a:rPr sz="1350" b="0" i="0" dirty="0">
                <a:solidFill>
                  <a:srgbClr val="FFFFFF"/>
                </a:solidFill>
                <a:latin typeface="Consolas"/>
              </a:rPr>
              <a:t>index = </a:t>
            </a:r>
            <a:r>
              <a:rPr sz="1350" b="0" i="0" dirty="0" err="1">
                <a:solidFill>
                  <a:srgbClr val="FFFFFF"/>
                </a:solidFill>
                <a:latin typeface="Consolas"/>
              </a:rPr>
              <a:t>faiss.IndexFlatIP</a:t>
            </a:r>
            <a:r>
              <a:rPr sz="1350" b="0" i="0" dirty="0">
                <a:solidFill>
                  <a:srgbClr val="FFFFFF"/>
                </a:solidFill>
                <a:latin typeface="Consolas"/>
              </a:rPr>
              <a:t>(</a:t>
            </a:r>
            <a:r>
              <a:rPr sz="1350" b="0" i="0" dirty="0" err="1">
                <a:solidFill>
                  <a:srgbClr val="FFFFFF"/>
                </a:solidFill>
                <a:latin typeface="Consolas"/>
              </a:rPr>
              <a:t>doc_vectors.shape</a:t>
            </a:r>
            <a:r>
              <a:rPr sz="1350" b="0" i="0" dirty="0">
                <a:solidFill>
                  <a:srgbClr val="FFFFFF"/>
                </a:solidFill>
                <a:latin typeface="Consolas"/>
              </a:rPr>
              <a:t>[1])</a:t>
            </a:r>
            <a:br>
              <a:rPr dirty="0"/>
            </a:br>
            <a:r>
              <a:rPr sz="1350" b="0" i="0" dirty="0" err="1">
                <a:solidFill>
                  <a:srgbClr val="FFFFFF"/>
                </a:solidFill>
                <a:latin typeface="Consolas"/>
              </a:rPr>
              <a:t>index.add</a:t>
            </a:r>
            <a:r>
              <a:rPr sz="1350" b="0" i="0" dirty="0">
                <a:solidFill>
                  <a:srgbClr val="FFFFFF"/>
                </a:solidFill>
                <a:latin typeface="Consolas"/>
              </a:rPr>
              <a:t>(</a:t>
            </a:r>
            <a:r>
              <a:rPr sz="1350" b="0" i="0" dirty="0" err="1">
                <a:solidFill>
                  <a:srgbClr val="FFFFFF"/>
                </a:solidFill>
                <a:latin typeface="Consolas"/>
              </a:rPr>
              <a:t>doc_vectors.astype</a:t>
            </a:r>
            <a:r>
              <a:rPr sz="1350" b="0" i="0" dirty="0">
                <a:solidFill>
                  <a:srgbClr val="FFFFFF"/>
                </a:solidFill>
                <a:latin typeface="Consolas"/>
              </a:rPr>
              <a:t>("float32"))</a:t>
            </a:r>
            <a:br>
              <a:rPr dirty="0"/>
            </a:br>
            <a:br>
              <a:rPr dirty="0"/>
            </a:br>
            <a:r>
              <a:rPr sz="1350" b="0" i="0" dirty="0">
                <a:solidFill>
                  <a:srgbClr val="FFFFFF"/>
                </a:solidFill>
                <a:latin typeface="Consolas"/>
              </a:rPr>
              <a:t>scores, ids = </a:t>
            </a:r>
            <a:r>
              <a:rPr sz="1350" b="0" i="0" dirty="0" err="1">
                <a:solidFill>
                  <a:srgbClr val="FFFFFF"/>
                </a:solidFill>
                <a:latin typeface="Consolas"/>
              </a:rPr>
              <a:t>index.search</a:t>
            </a:r>
            <a:r>
              <a:rPr sz="1350" b="0" i="0" dirty="0">
                <a:solidFill>
                  <a:srgbClr val="FFFFFF"/>
                </a:solidFill>
                <a:latin typeface="Consolas"/>
              </a:rPr>
              <a:t>(</a:t>
            </a:r>
            <a:r>
              <a:rPr sz="1350" b="0" i="0" dirty="0" err="1">
                <a:solidFill>
                  <a:srgbClr val="FFFFFF"/>
                </a:solidFill>
                <a:latin typeface="Consolas"/>
              </a:rPr>
              <a:t>query_vector.astype</a:t>
            </a:r>
            <a:r>
              <a:rPr sz="1350" b="0" i="0" dirty="0">
                <a:solidFill>
                  <a:srgbClr val="FFFFFF"/>
                </a:solidFill>
                <a:latin typeface="Consolas"/>
              </a:rPr>
              <a:t>("float32"), k=3)</a:t>
            </a:r>
          </a:p>
        </p:txBody>
      </p:sp>
      <p:sp>
        <p:nvSpPr>
          <p:cNvPr id="6" name="Rounded Rectangle 5"/>
          <p:cNvSpPr/>
          <p:nvPr/>
        </p:nvSpPr>
        <p:spPr>
          <a:xfrm>
            <a:off x="7406640" y="1928190"/>
            <a:ext cx="3749039" cy="621792"/>
          </a:xfrm>
          <a:prstGeom prst="roundRect">
            <a:avLst/>
          </a:prstGeom>
          <a:solidFill>
            <a:srgbClr val="D6E4F0"/>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516367" y="2037918"/>
            <a:ext cx="3529583" cy="292608"/>
          </a:xfrm>
          <a:prstGeom prst="rect">
            <a:avLst/>
          </a:prstGeom>
          <a:noFill/>
        </p:spPr>
        <p:txBody>
          <a:bodyPr wrap="square" lIns="18288" tIns="18288" rIns="18288" bIns="18288" anchor="t">
            <a:noAutofit/>
          </a:bodyPr>
          <a:lstStyle/>
          <a:p>
            <a:pPr algn="l"/>
            <a:endParaRPr/>
          </a:p>
        </p:txBody>
      </p:sp>
      <p:sp>
        <p:nvSpPr>
          <p:cNvPr id="8" name="TextBox 7"/>
          <p:cNvSpPr txBox="1"/>
          <p:nvPr/>
        </p:nvSpPr>
        <p:spPr>
          <a:xfrm>
            <a:off x="7516367" y="2054218"/>
            <a:ext cx="3529583" cy="54864"/>
          </a:xfrm>
          <a:prstGeom prst="rect">
            <a:avLst/>
          </a:prstGeom>
          <a:noFill/>
        </p:spPr>
        <p:txBody>
          <a:bodyPr wrap="square" lIns="18288" tIns="18288" rIns="18288" bIns="18288" anchor="t">
            <a:noAutofit/>
          </a:bodyPr>
          <a:lstStyle/>
          <a:p>
            <a:pPr algn="l"/>
            <a:r>
              <a:rPr sz="1300" b="0" i="0" dirty="0">
                <a:solidFill>
                  <a:srgbClr val="44546A"/>
                </a:solidFill>
                <a:latin typeface="Calibri"/>
              </a:rPr>
              <a:t>Same model for docs and query</a:t>
            </a:r>
          </a:p>
        </p:txBody>
      </p:sp>
      <p:sp>
        <p:nvSpPr>
          <p:cNvPr id="9" name="Rounded Rectangle 8"/>
          <p:cNvSpPr/>
          <p:nvPr/>
        </p:nvSpPr>
        <p:spPr>
          <a:xfrm>
            <a:off x="7406640" y="2796870"/>
            <a:ext cx="3749039" cy="621792"/>
          </a:xfrm>
          <a:prstGeom prst="roundRect">
            <a:avLst/>
          </a:prstGeom>
          <a:solidFill>
            <a:srgbClr val="D6E4F0"/>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16367" y="2906598"/>
            <a:ext cx="3529583" cy="292608"/>
          </a:xfrm>
          <a:prstGeom prst="rect">
            <a:avLst/>
          </a:prstGeom>
          <a:noFill/>
        </p:spPr>
        <p:txBody>
          <a:bodyPr wrap="square" lIns="18288" tIns="18288" rIns="18288" bIns="18288" anchor="t">
            <a:noAutofit/>
          </a:bodyPr>
          <a:lstStyle/>
          <a:p>
            <a:pPr algn="l"/>
            <a:endParaRPr/>
          </a:p>
        </p:txBody>
      </p:sp>
      <p:sp>
        <p:nvSpPr>
          <p:cNvPr id="11" name="TextBox 10"/>
          <p:cNvSpPr txBox="1"/>
          <p:nvPr/>
        </p:nvSpPr>
        <p:spPr>
          <a:xfrm>
            <a:off x="7516367" y="2922898"/>
            <a:ext cx="3529583" cy="54864"/>
          </a:xfrm>
          <a:prstGeom prst="rect">
            <a:avLst/>
          </a:prstGeom>
          <a:noFill/>
        </p:spPr>
        <p:txBody>
          <a:bodyPr wrap="square" lIns="18288" tIns="18288" rIns="18288" bIns="18288" anchor="t">
            <a:noAutofit/>
          </a:bodyPr>
          <a:lstStyle/>
          <a:p>
            <a:pPr algn="l"/>
            <a:r>
              <a:rPr sz="1300" b="0" i="0" dirty="0">
                <a:solidFill>
                  <a:srgbClr val="44546A"/>
                </a:solidFill>
                <a:latin typeface="Calibri"/>
              </a:rPr>
              <a:t>Normalize vectors so inner product behaves like cosine</a:t>
            </a:r>
          </a:p>
        </p:txBody>
      </p:sp>
      <p:sp>
        <p:nvSpPr>
          <p:cNvPr id="12" name="Rounded Rectangle 11"/>
          <p:cNvSpPr/>
          <p:nvPr/>
        </p:nvSpPr>
        <p:spPr>
          <a:xfrm>
            <a:off x="7406640" y="3756990"/>
            <a:ext cx="3749039" cy="621792"/>
          </a:xfrm>
          <a:prstGeom prst="roundRect">
            <a:avLst/>
          </a:prstGeom>
          <a:solidFill>
            <a:srgbClr val="D6E4F0"/>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16367" y="3866718"/>
            <a:ext cx="3529583" cy="292608"/>
          </a:xfrm>
          <a:prstGeom prst="rect">
            <a:avLst/>
          </a:prstGeom>
          <a:noFill/>
        </p:spPr>
        <p:txBody>
          <a:bodyPr wrap="square" lIns="18288" tIns="18288" rIns="18288" bIns="18288" anchor="t">
            <a:noAutofit/>
          </a:bodyPr>
          <a:lstStyle/>
          <a:p>
            <a:pPr algn="l"/>
            <a:endParaRPr/>
          </a:p>
        </p:txBody>
      </p:sp>
      <p:sp>
        <p:nvSpPr>
          <p:cNvPr id="14" name="TextBox 13"/>
          <p:cNvSpPr txBox="1"/>
          <p:nvPr/>
        </p:nvSpPr>
        <p:spPr>
          <a:xfrm>
            <a:off x="7516367" y="3883018"/>
            <a:ext cx="3529583" cy="54864"/>
          </a:xfrm>
          <a:prstGeom prst="rect">
            <a:avLst/>
          </a:prstGeom>
          <a:noFill/>
        </p:spPr>
        <p:txBody>
          <a:bodyPr wrap="square" lIns="18288" tIns="18288" rIns="18288" bIns="18288" anchor="t">
            <a:noAutofit/>
          </a:bodyPr>
          <a:lstStyle/>
          <a:p>
            <a:pPr algn="l"/>
            <a:r>
              <a:rPr sz="1300" b="0" i="0" dirty="0">
                <a:solidFill>
                  <a:srgbClr val="44546A"/>
                </a:solidFill>
                <a:latin typeface="Calibri"/>
              </a:rPr>
              <a:t>FAISS returns scores and row IDs, not text</a:t>
            </a:r>
          </a:p>
        </p:txBody>
      </p:sp>
      <p:sp>
        <p:nvSpPr>
          <p:cNvPr id="15" name="Rounded Rectangle 14"/>
          <p:cNvSpPr/>
          <p:nvPr/>
        </p:nvSpPr>
        <p:spPr>
          <a:xfrm>
            <a:off x="7406640" y="4625670"/>
            <a:ext cx="3749039" cy="621792"/>
          </a:xfrm>
          <a:prstGeom prst="roundRect">
            <a:avLst/>
          </a:prstGeom>
          <a:solidFill>
            <a:srgbClr val="D6E4F0"/>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16367" y="4735398"/>
            <a:ext cx="3529583" cy="292608"/>
          </a:xfrm>
          <a:prstGeom prst="rect">
            <a:avLst/>
          </a:prstGeom>
          <a:noFill/>
        </p:spPr>
        <p:txBody>
          <a:bodyPr wrap="square" lIns="18288" tIns="18288" rIns="18288" bIns="18288" anchor="t">
            <a:noAutofit/>
          </a:bodyPr>
          <a:lstStyle/>
          <a:p>
            <a:pPr algn="l"/>
            <a:endParaRPr/>
          </a:p>
        </p:txBody>
      </p:sp>
      <p:sp>
        <p:nvSpPr>
          <p:cNvPr id="17" name="TextBox 16"/>
          <p:cNvSpPr txBox="1"/>
          <p:nvPr/>
        </p:nvSpPr>
        <p:spPr>
          <a:xfrm>
            <a:off x="7516367" y="4751698"/>
            <a:ext cx="3529583" cy="54864"/>
          </a:xfrm>
          <a:prstGeom prst="rect">
            <a:avLst/>
          </a:prstGeom>
          <a:noFill/>
        </p:spPr>
        <p:txBody>
          <a:bodyPr wrap="square" lIns="18288" tIns="18288" rIns="18288" bIns="18288" anchor="t">
            <a:noAutofit/>
          </a:bodyPr>
          <a:lstStyle/>
          <a:p>
            <a:pPr algn="l"/>
            <a:r>
              <a:rPr sz="1300" b="0" i="0">
                <a:solidFill>
                  <a:srgbClr val="44546A"/>
                </a:solidFill>
                <a:latin typeface="Calibri"/>
              </a:rPr>
              <a:t>Application code maps IDs back to documents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a:solidFill>
                  <a:srgbClr val="161A3E"/>
                </a:solidFill>
                <a:latin typeface="Calibri"/>
              </a:rPr>
              <a:t>Retrieval quality: measure top-k, do not eyeball one result</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78009" y="1828800"/>
            <a:ext cx="10241280" cy="320040"/>
          </a:xfrm>
          <a:prstGeom prst="rect">
            <a:avLst/>
          </a:prstGeom>
          <a:noFill/>
        </p:spPr>
        <p:txBody>
          <a:bodyPr wrap="square" lIns="0" tIns="0" rIns="0" bIns="0" anchor="t">
            <a:noAutofit/>
          </a:bodyPr>
          <a:lstStyle/>
          <a:p>
            <a:pPr algn="ctr"/>
            <a:r>
              <a:rPr sz="2000" b="1" i="0" dirty="0">
                <a:solidFill>
                  <a:srgbClr val="161A3E"/>
                </a:solidFill>
                <a:latin typeface="Calibri"/>
              </a:rPr>
              <a:t>If top-3 returns two relevant articles, precision@3 = 2 / 3 = 0.67</a:t>
            </a:r>
          </a:p>
        </p:txBody>
      </p:sp>
      <p:sp>
        <p:nvSpPr>
          <p:cNvPr id="5" name="Rounded Rectangle 4"/>
          <p:cNvSpPr/>
          <p:nvPr/>
        </p:nvSpPr>
        <p:spPr>
          <a:xfrm>
            <a:off x="1234440" y="2560320"/>
            <a:ext cx="9692640" cy="566928"/>
          </a:xfrm>
          <a:prstGeom prst="roundRect">
            <a:avLst/>
          </a:prstGeom>
          <a:solidFill>
            <a:srgbClr val="D6E4F0"/>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89888" y="2688336"/>
            <a:ext cx="320040" cy="201168"/>
          </a:xfrm>
          <a:prstGeom prst="rect">
            <a:avLst/>
          </a:prstGeom>
          <a:noFill/>
        </p:spPr>
        <p:txBody>
          <a:bodyPr wrap="square" lIns="0" tIns="0" rIns="0" bIns="0" anchor="t">
            <a:noAutofit/>
          </a:bodyPr>
          <a:lstStyle/>
          <a:p>
            <a:pPr algn="ctr"/>
            <a:r>
              <a:rPr sz="1300" b="1" i="0">
                <a:solidFill>
                  <a:srgbClr val="161A3E"/>
                </a:solidFill>
                <a:latin typeface="Calibri"/>
              </a:rPr>
              <a:t>1</a:t>
            </a:r>
          </a:p>
        </p:txBody>
      </p:sp>
      <p:sp>
        <p:nvSpPr>
          <p:cNvPr id="7" name="TextBox 6"/>
          <p:cNvSpPr txBox="1"/>
          <p:nvPr/>
        </p:nvSpPr>
        <p:spPr>
          <a:xfrm>
            <a:off x="1874519" y="2670048"/>
            <a:ext cx="5943600" cy="228600"/>
          </a:xfrm>
          <a:prstGeom prst="rect">
            <a:avLst/>
          </a:prstGeom>
          <a:noFill/>
        </p:spPr>
        <p:txBody>
          <a:bodyPr wrap="square" lIns="0" tIns="0" rIns="0" bIns="0" anchor="t">
            <a:noAutofit/>
          </a:bodyPr>
          <a:lstStyle/>
          <a:p>
            <a:pPr algn="l"/>
            <a:r>
              <a:rPr sz="1500" b="1" i="0">
                <a:solidFill>
                  <a:srgbClr val="161A3E"/>
                </a:solidFill>
                <a:latin typeface="Calibri"/>
              </a:rPr>
              <a:t>Account recovery after failed login</a:t>
            </a:r>
          </a:p>
        </p:txBody>
      </p:sp>
      <p:sp>
        <p:nvSpPr>
          <p:cNvPr id="8" name="TextBox 7"/>
          <p:cNvSpPr txBox="1"/>
          <p:nvPr/>
        </p:nvSpPr>
        <p:spPr>
          <a:xfrm>
            <a:off x="8595360" y="2670048"/>
            <a:ext cx="1828800" cy="228600"/>
          </a:xfrm>
          <a:prstGeom prst="rect">
            <a:avLst/>
          </a:prstGeom>
          <a:noFill/>
        </p:spPr>
        <p:txBody>
          <a:bodyPr wrap="square" lIns="0" tIns="0" rIns="0" bIns="0" anchor="t">
            <a:noAutofit/>
          </a:bodyPr>
          <a:lstStyle/>
          <a:p>
            <a:pPr algn="r"/>
            <a:r>
              <a:rPr sz="1400" b="1" i="0">
                <a:solidFill>
                  <a:srgbClr val="4472C4"/>
                </a:solidFill>
                <a:latin typeface="Calibri"/>
              </a:rPr>
              <a:t>Relevant</a:t>
            </a:r>
          </a:p>
        </p:txBody>
      </p:sp>
      <p:sp>
        <p:nvSpPr>
          <p:cNvPr id="9" name="Rounded Rectangle 8"/>
          <p:cNvSpPr/>
          <p:nvPr/>
        </p:nvSpPr>
        <p:spPr>
          <a:xfrm>
            <a:off x="1234440" y="3273552"/>
            <a:ext cx="9692640" cy="566928"/>
          </a:xfrm>
          <a:prstGeom prst="roundRect">
            <a:avLst/>
          </a:prstGeom>
          <a:solidFill>
            <a:srgbClr val="D6E4F0"/>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89888" y="3401568"/>
            <a:ext cx="320040" cy="201168"/>
          </a:xfrm>
          <a:prstGeom prst="rect">
            <a:avLst/>
          </a:prstGeom>
          <a:noFill/>
        </p:spPr>
        <p:txBody>
          <a:bodyPr wrap="square" lIns="0" tIns="0" rIns="0" bIns="0" anchor="t">
            <a:noAutofit/>
          </a:bodyPr>
          <a:lstStyle/>
          <a:p>
            <a:pPr algn="ctr"/>
            <a:r>
              <a:rPr sz="1300" b="1" i="0">
                <a:solidFill>
                  <a:srgbClr val="161A3E"/>
                </a:solidFill>
                <a:latin typeface="Calibri"/>
              </a:rPr>
              <a:t>2</a:t>
            </a:r>
          </a:p>
        </p:txBody>
      </p:sp>
      <p:sp>
        <p:nvSpPr>
          <p:cNvPr id="11" name="TextBox 10"/>
          <p:cNvSpPr txBox="1"/>
          <p:nvPr/>
        </p:nvSpPr>
        <p:spPr>
          <a:xfrm>
            <a:off x="1874519" y="3383280"/>
            <a:ext cx="5943600" cy="228600"/>
          </a:xfrm>
          <a:prstGeom prst="rect">
            <a:avLst/>
          </a:prstGeom>
          <a:noFill/>
        </p:spPr>
        <p:txBody>
          <a:bodyPr wrap="square" lIns="0" tIns="0" rIns="0" bIns="0" anchor="t">
            <a:noAutofit/>
          </a:bodyPr>
          <a:lstStyle/>
          <a:p>
            <a:pPr algn="l"/>
            <a:r>
              <a:rPr sz="1500" b="1" i="0">
                <a:solidFill>
                  <a:srgbClr val="161A3E"/>
                </a:solidFill>
                <a:latin typeface="Calibri"/>
              </a:rPr>
              <a:t>Reset password using verified email</a:t>
            </a:r>
          </a:p>
        </p:txBody>
      </p:sp>
      <p:sp>
        <p:nvSpPr>
          <p:cNvPr id="12" name="TextBox 11"/>
          <p:cNvSpPr txBox="1"/>
          <p:nvPr/>
        </p:nvSpPr>
        <p:spPr>
          <a:xfrm>
            <a:off x="8595360" y="3383280"/>
            <a:ext cx="1828800" cy="228600"/>
          </a:xfrm>
          <a:prstGeom prst="rect">
            <a:avLst/>
          </a:prstGeom>
          <a:noFill/>
        </p:spPr>
        <p:txBody>
          <a:bodyPr wrap="square" lIns="0" tIns="0" rIns="0" bIns="0" anchor="t">
            <a:noAutofit/>
          </a:bodyPr>
          <a:lstStyle/>
          <a:p>
            <a:pPr algn="r"/>
            <a:r>
              <a:rPr sz="1400" b="1" i="0" dirty="0">
                <a:solidFill>
                  <a:srgbClr val="4472C4"/>
                </a:solidFill>
                <a:latin typeface="Calibri"/>
              </a:rPr>
              <a:t>Relevant</a:t>
            </a:r>
          </a:p>
        </p:txBody>
      </p:sp>
      <p:sp>
        <p:nvSpPr>
          <p:cNvPr id="13" name="Rounded Rectangle 12"/>
          <p:cNvSpPr/>
          <p:nvPr/>
        </p:nvSpPr>
        <p:spPr>
          <a:xfrm>
            <a:off x="1234440" y="3986784"/>
            <a:ext cx="9692640" cy="566928"/>
          </a:xfrm>
          <a:prstGeom prst="roundRect">
            <a:avLst/>
          </a:prstGeom>
          <a:solidFill>
            <a:srgbClr val="F2F2F2"/>
          </a:solidFill>
          <a:ln w="12700">
            <a:solidFill>
              <a:srgbClr val="445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89888" y="4114800"/>
            <a:ext cx="320040" cy="201168"/>
          </a:xfrm>
          <a:prstGeom prst="rect">
            <a:avLst/>
          </a:prstGeom>
          <a:noFill/>
        </p:spPr>
        <p:txBody>
          <a:bodyPr wrap="square" lIns="0" tIns="0" rIns="0" bIns="0" anchor="t">
            <a:noAutofit/>
          </a:bodyPr>
          <a:lstStyle/>
          <a:p>
            <a:pPr algn="ctr"/>
            <a:r>
              <a:rPr sz="1300" b="1" i="0">
                <a:solidFill>
                  <a:srgbClr val="161A3E"/>
                </a:solidFill>
                <a:latin typeface="Calibri"/>
              </a:rPr>
              <a:t>3</a:t>
            </a:r>
          </a:p>
        </p:txBody>
      </p:sp>
      <p:sp>
        <p:nvSpPr>
          <p:cNvPr id="15" name="TextBox 14"/>
          <p:cNvSpPr txBox="1"/>
          <p:nvPr/>
        </p:nvSpPr>
        <p:spPr>
          <a:xfrm>
            <a:off x="1874519" y="4096512"/>
            <a:ext cx="5943600" cy="228600"/>
          </a:xfrm>
          <a:prstGeom prst="rect">
            <a:avLst/>
          </a:prstGeom>
          <a:noFill/>
        </p:spPr>
        <p:txBody>
          <a:bodyPr wrap="square" lIns="0" tIns="0" rIns="0" bIns="0" anchor="t">
            <a:noAutofit/>
          </a:bodyPr>
          <a:lstStyle/>
          <a:p>
            <a:pPr algn="l"/>
            <a:r>
              <a:rPr sz="1500" b="1" i="0">
                <a:solidFill>
                  <a:srgbClr val="161A3E"/>
                </a:solidFill>
                <a:latin typeface="Calibri"/>
              </a:rPr>
              <a:t>Recover deleted user profile</a:t>
            </a:r>
          </a:p>
        </p:txBody>
      </p:sp>
      <p:sp>
        <p:nvSpPr>
          <p:cNvPr id="16" name="TextBox 15"/>
          <p:cNvSpPr txBox="1"/>
          <p:nvPr/>
        </p:nvSpPr>
        <p:spPr>
          <a:xfrm>
            <a:off x="8595360" y="4096512"/>
            <a:ext cx="1828800" cy="228600"/>
          </a:xfrm>
          <a:prstGeom prst="rect">
            <a:avLst/>
          </a:prstGeom>
          <a:noFill/>
        </p:spPr>
        <p:txBody>
          <a:bodyPr wrap="square" lIns="0" tIns="0" rIns="0" bIns="0" anchor="t">
            <a:noAutofit/>
          </a:bodyPr>
          <a:lstStyle/>
          <a:p>
            <a:pPr algn="r"/>
            <a:r>
              <a:rPr sz="1400" b="1" i="0" dirty="0">
                <a:solidFill>
                  <a:srgbClr val="C0392B"/>
                </a:solidFill>
                <a:latin typeface="Calibri"/>
              </a:rPr>
              <a:t>Not relevant</a:t>
            </a:r>
          </a:p>
        </p:txBody>
      </p:sp>
      <p:sp>
        <p:nvSpPr>
          <p:cNvPr id="17" name="Rounded Rectangle 16"/>
          <p:cNvSpPr/>
          <p:nvPr/>
        </p:nvSpPr>
        <p:spPr>
          <a:xfrm>
            <a:off x="1234440" y="4892040"/>
            <a:ext cx="9692640" cy="892534"/>
          </a:xfrm>
          <a:prstGeom prst="roundRect">
            <a:avLst/>
          </a:prstGeom>
          <a:solidFill>
            <a:srgbClr val="FFFFFF"/>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44168" y="5001768"/>
            <a:ext cx="9473184" cy="292608"/>
          </a:xfrm>
          <a:prstGeom prst="rect">
            <a:avLst/>
          </a:prstGeom>
          <a:noFill/>
        </p:spPr>
        <p:txBody>
          <a:bodyPr wrap="square" lIns="18288" tIns="18288" rIns="18288" bIns="18288" anchor="t">
            <a:noAutofit/>
          </a:bodyPr>
          <a:lstStyle/>
          <a:p>
            <a:pPr algn="l"/>
            <a:r>
              <a:rPr sz="1400" b="1" i="0">
                <a:solidFill>
                  <a:srgbClr val="161A3E"/>
                </a:solidFill>
                <a:latin typeface="Calibri"/>
              </a:rPr>
              <a:t>Why this matters</a:t>
            </a:r>
          </a:p>
        </p:txBody>
      </p:sp>
      <p:sp>
        <p:nvSpPr>
          <p:cNvPr id="19" name="TextBox 18"/>
          <p:cNvSpPr txBox="1"/>
          <p:nvPr/>
        </p:nvSpPr>
        <p:spPr>
          <a:xfrm>
            <a:off x="1344168" y="5385816"/>
            <a:ext cx="9473184" cy="91439"/>
          </a:xfrm>
          <a:prstGeom prst="rect">
            <a:avLst/>
          </a:prstGeom>
          <a:noFill/>
        </p:spPr>
        <p:txBody>
          <a:bodyPr wrap="square" lIns="18288" tIns="18288" rIns="18288" bIns="18288" anchor="t">
            <a:noAutofit/>
          </a:bodyPr>
          <a:lstStyle/>
          <a:p>
            <a:pPr algn="l"/>
            <a:r>
              <a:rPr sz="1400" b="0" i="0">
                <a:solidFill>
                  <a:srgbClr val="44546A"/>
                </a:solidFill>
                <a:latin typeface="Calibri"/>
              </a:rPr>
              <a:t>A RAG answer can only be as grounded as the context retrieved. Retrieval evaluation comes before generation evaluation.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a:solidFill>
                  <a:srgbClr val="161A3E"/>
                </a:solidFill>
                <a:latin typeface="Calibri"/>
              </a:rPr>
              <a:t>Common vector search failure modes</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68680" y="1828800"/>
            <a:ext cx="4983480" cy="804672"/>
          </a:xfrm>
          <a:prstGeom prst="roundRect">
            <a:avLst/>
          </a:prstGeom>
          <a:solidFill>
            <a:srgbClr val="FFFFFF"/>
          </a:solidFill>
          <a:ln w="127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78407" y="1938528"/>
            <a:ext cx="4764024" cy="292608"/>
          </a:xfrm>
          <a:prstGeom prst="rect">
            <a:avLst/>
          </a:prstGeom>
          <a:noFill/>
        </p:spPr>
        <p:txBody>
          <a:bodyPr wrap="square" lIns="18288" tIns="18288" rIns="18288" bIns="18288" anchor="t">
            <a:noAutofit/>
          </a:bodyPr>
          <a:lstStyle/>
          <a:p>
            <a:pPr algn="l"/>
            <a:r>
              <a:rPr sz="1500" b="1" i="0">
                <a:solidFill>
                  <a:srgbClr val="161A3E"/>
                </a:solidFill>
                <a:latin typeface="Calibri"/>
              </a:rPr>
              <a:t>False positive</a:t>
            </a:r>
          </a:p>
        </p:txBody>
      </p:sp>
      <p:sp>
        <p:nvSpPr>
          <p:cNvPr id="6" name="TextBox 5"/>
          <p:cNvSpPr txBox="1"/>
          <p:nvPr/>
        </p:nvSpPr>
        <p:spPr>
          <a:xfrm>
            <a:off x="978407" y="2322576"/>
            <a:ext cx="4764024" cy="237744"/>
          </a:xfrm>
          <a:prstGeom prst="rect">
            <a:avLst/>
          </a:prstGeom>
          <a:noFill/>
        </p:spPr>
        <p:txBody>
          <a:bodyPr wrap="square" lIns="18288" tIns="18288" rIns="18288" bIns="18288" anchor="t">
            <a:noAutofit/>
          </a:bodyPr>
          <a:lstStyle/>
          <a:p>
            <a:pPr algn="l"/>
            <a:r>
              <a:rPr sz="1250" b="0" i="0">
                <a:solidFill>
                  <a:srgbClr val="44546A"/>
                </a:solidFill>
                <a:latin typeface="Calibri"/>
              </a:rPr>
              <a:t>A result is semantically nearby but not useful for the task.</a:t>
            </a:r>
          </a:p>
        </p:txBody>
      </p:sp>
      <p:sp>
        <p:nvSpPr>
          <p:cNvPr id="7" name="Rounded Rectangle 6"/>
          <p:cNvSpPr/>
          <p:nvPr/>
        </p:nvSpPr>
        <p:spPr>
          <a:xfrm>
            <a:off x="6355080" y="1828800"/>
            <a:ext cx="4983480" cy="804672"/>
          </a:xfrm>
          <a:prstGeom prst="roundRect">
            <a:avLst/>
          </a:prstGeom>
          <a:solidFill>
            <a:srgbClr val="FFFFFF"/>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64808" y="1938528"/>
            <a:ext cx="4764024" cy="292608"/>
          </a:xfrm>
          <a:prstGeom prst="rect">
            <a:avLst/>
          </a:prstGeom>
          <a:noFill/>
        </p:spPr>
        <p:txBody>
          <a:bodyPr wrap="square" lIns="18288" tIns="18288" rIns="18288" bIns="18288" anchor="t">
            <a:noAutofit/>
          </a:bodyPr>
          <a:lstStyle/>
          <a:p>
            <a:pPr algn="l"/>
            <a:r>
              <a:rPr sz="1500" b="1" i="0">
                <a:solidFill>
                  <a:srgbClr val="161A3E"/>
                </a:solidFill>
                <a:latin typeface="Calibri"/>
              </a:rPr>
              <a:t>False negative</a:t>
            </a:r>
          </a:p>
        </p:txBody>
      </p:sp>
      <p:sp>
        <p:nvSpPr>
          <p:cNvPr id="9" name="TextBox 8"/>
          <p:cNvSpPr txBox="1"/>
          <p:nvPr/>
        </p:nvSpPr>
        <p:spPr>
          <a:xfrm>
            <a:off x="6464808" y="2322576"/>
            <a:ext cx="4764024" cy="237744"/>
          </a:xfrm>
          <a:prstGeom prst="rect">
            <a:avLst/>
          </a:prstGeom>
          <a:noFill/>
        </p:spPr>
        <p:txBody>
          <a:bodyPr wrap="square" lIns="18288" tIns="18288" rIns="18288" bIns="18288" anchor="t">
            <a:noAutofit/>
          </a:bodyPr>
          <a:lstStyle/>
          <a:p>
            <a:pPr algn="l"/>
            <a:r>
              <a:rPr sz="1250" b="0" i="0">
                <a:solidFill>
                  <a:srgbClr val="44546A"/>
                </a:solidFill>
                <a:latin typeface="Calibri"/>
              </a:rPr>
              <a:t>The correct document exists but does not appear in top-k.</a:t>
            </a:r>
          </a:p>
        </p:txBody>
      </p:sp>
      <p:sp>
        <p:nvSpPr>
          <p:cNvPr id="10" name="Rounded Rectangle 9"/>
          <p:cNvSpPr/>
          <p:nvPr/>
        </p:nvSpPr>
        <p:spPr>
          <a:xfrm>
            <a:off x="868680" y="2926080"/>
            <a:ext cx="4983480" cy="804672"/>
          </a:xfrm>
          <a:prstGeom prst="roundRect">
            <a:avLst/>
          </a:prstGeom>
          <a:solidFill>
            <a:srgbClr val="FFFFFF"/>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7" y="3035808"/>
            <a:ext cx="4764024" cy="292608"/>
          </a:xfrm>
          <a:prstGeom prst="rect">
            <a:avLst/>
          </a:prstGeom>
          <a:noFill/>
        </p:spPr>
        <p:txBody>
          <a:bodyPr wrap="square" lIns="18288" tIns="18288" rIns="18288" bIns="18288" anchor="t">
            <a:noAutofit/>
          </a:bodyPr>
          <a:lstStyle/>
          <a:p>
            <a:pPr algn="l"/>
            <a:r>
              <a:rPr sz="1500" b="1" i="0">
                <a:solidFill>
                  <a:srgbClr val="161A3E"/>
                </a:solidFill>
                <a:latin typeface="Calibri"/>
              </a:rPr>
              <a:t>Domain mismatch</a:t>
            </a:r>
          </a:p>
        </p:txBody>
      </p:sp>
      <p:sp>
        <p:nvSpPr>
          <p:cNvPr id="12" name="TextBox 11"/>
          <p:cNvSpPr txBox="1"/>
          <p:nvPr/>
        </p:nvSpPr>
        <p:spPr>
          <a:xfrm>
            <a:off x="978407" y="3419856"/>
            <a:ext cx="4764024" cy="237744"/>
          </a:xfrm>
          <a:prstGeom prst="rect">
            <a:avLst/>
          </a:prstGeom>
          <a:noFill/>
        </p:spPr>
        <p:txBody>
          <a:bodyPr wrap="square" lIns="18288" tIns="18288" rIns="18288" bIns="18288" anchor="t">
            <a:noAutofit/>
          </a:bodyPr>
          <a:lstStyle/>
          <a:p>
            <a:pPr algn="l"/>
            <a:r>
              <a:rPr sz="1250" b="0" i="0">
                <a:solidFill>
                  <a:srgbClr val="44546A"/>
                </a:solidFill>
                <a:latin typeface="Calibri"/>
              </a:rPr>
              <a:t>General embeddings miss specialized vocabulary or abbreviations.</a:t>
            </a:r>
          </a:p>
        </p:txBody>
      </p:sp>
      <p:sp>
        <p:nvSpPr>
          <p:cNvPr id="13" name="Rounded Rectangle 12"/>
          <p:cNvSpPr/>
          <p:nvPr/>
        </p:nvSpPr>
        <p:spPr>
          <a:xfrm>
            <a:off x="6355080" y="2926080"/>
            <a:ext cx="4983480" cy="804672"/>
          </a:xfrm>
          <a:prstGeom prst="roundRect">
            <a:avLst/>
          </a:prstGeom>
          <a:solidFill>
            <a:srgbClr val="FFFFFF"/>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64808" y="3035808"/>
            <a:ext cx="4764024" cy="292608"/>
          </a:xfrm>
          <a:prstGeom prst="rect">
            <a:avLst/>
          </a:prstGeom>
          <a:noFill/>
        </p:spPr>
        <p:txBody>
          <a:bodyPr wrap="square" lIns="18288" tIns="18288" rIns="18288" bIns="18288" anchor="t">
            <a:noAutofit/>
          </a:bodyPr>
          <a:lstStyle/>
          <a:p>
            <a:pPr algn="l"/>
            <a:r>
              <a:rPr sz="1500" b="1" i="0">
                <a:solidFill>
                  <a:srgbClr val="161A3E"/>
                </a:solidFill>
                <a:latin typeface="Calibri"/>
              </a:rPr>
              <a:t>Chunking problem</a:t>
            </a:r>
          </a:p>
        </p:txBody>
      </p:sp>
      <p:sp>
        <p:nvSpPr>
          <p:cNvPr id="15" name="TextBox 14"/>
          <p:cNvSpPr txBox="1"/>
          <p:nvPr/>
        </p:nvSpPr>
        <p:spPr>
          <a:xfrm>
            <a:off x="6464808" y="3419856"/>
            <a:ext cx="4764024" cy="237744"/>
          </a:xfrm>
          <a:prstGeom prst="rect">
            <a:avLst/>
          </a:prstGeom>
          <a:noFill/>
        </p:spPr>
        <p:txBody>
          <a:bodyPr wrap="square" lIns="18288" tIns="18288" rIns="18288" bIns="18288" anchor="t">
            <a:noAutofit/>
          </a:bodyPr>
          <a:lstStyle/>
          <a:p>
            <a:pPr algn="l"/>
            <a:r>
              <a:rPr sz="1250" b="0" i="0">
                <a:solidFill>
                  <a:srgbClr val="44546A"/>
                </a:solidFill>
                <a:latin typeface="Calibri"/>
              </a:rPr>
              <a:t>The right answer is split poorly or buried inside a long chunk.</a:t>
            </a:r>
          </a:p>
        </p:txBody>
      </p:sp>
      <p:sp>
        <p:nvSpPr>
          <p:cNvPr id="16" name="Rounded Rectangle 15"/>
          <p:cNvSpPr/>
          <p:nvPr/>
        </p:nvSpPr>
        <p:spPr>
          <a:xfrm>
            <a:off x="868680" y="4023360"/>
            <a:ext cx="4983480" cy="804672"/>
          </a:xfrm>
          <a:prstGeom prst="roundRect">
            <a:avLst/>
          </a:prstGeom>
          <a:solidFill>
            <a:srgbClr val="FFFFFF"/>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78407" y="4133088"/>
            <a:ext cx="4764024" cy="292608"/>
          </a:xfrm>
          <a:prstGeom prst="rect">
            <a:avLst/>
          </a:prstGeom>
          <a:noFill/>
        </p:spPr>
        <p:txBody>
          <a:bodyPr wrap="square" lIns="18288" tIns="18288" rIns="18288" bIns="18288" anchor="t">
            <a:noAutofit/>
          </a:bodyPr>
          <a:lstStyle/>
          <a:p>
            <a:pPr algn="l"/>
            <a:r>
              <a:rPr sz="1500" b="1" i="0">
                <a:solidFill>
                  <a:srgbClr val="161A3E"/>
                </a:solidFill>
                <a:latin typeface="Calibri"/>
              </a:rPr>
              <a:t>Stale index</a:t>
            </a:r>
          </a:p>
        </p:txBody>
      </p:sp>
      <p:sp>
        <p:nvSpPr>
          <p:cNvPr id="18" name="TextBox 17"/>
          <p:cNvSpPr txBox="1"/>
          <p:nvPr/>
        </p:nvSpPr>
        <p:spPr>
          <a:xfrm>
            <a:off x="978407" y="4517136"/>
            <a:ext cx="4764024" cy="237744"/>
          </a:xfrm>
          <a:prstGeom prst="rect">
            <a:avLst/>
          </a:prstGeom>
          <a:noFill/>
        </p:spPr>
        <p:txBody>
          <a:bodyPr wrap="square" lIns="18288" tIns="18288" rIns="18288" bIns="18288" anchor="t">
            <a:noAutofit/>
          </a:bodyPr>
          <a:lstStyle/>
          <a:p>
            <a:pPr algn="l"/>
            <a:r>
              <a:rPr sz="1250" b="0" i="0">
                <a:solidFill>
                  <a:srgbClr val="44546A"/>
                </a:solidFill>
                <a:latin typeface="Calibri"/>
              </a:rPr>
              <a:t>Corpus changed but vectors were not rebuilt.</a:t>
            </a:r>
          </a:p>
        </p:txBody>
      </p:sp>
      <p:sp>
        <p:nvSpPr>
          <p:cNvPr id="19" name="TextBox 18"/>
          <p:cNvSpPr txBox="1"/>
          <p:nvPr/>
        </p:nvSpPr>
        <p:spPr>
          <a:xfrm>
            <a:off x="1143000" y="5257800"/>
            <a:ext cx="9829800" cy="320040"/>
          </a:xfrm>
          <a:prstGeom prst="rect">
            <a:avLst/>
          </a:prstGeom>
          <a:noFill/>
        </p:spPr>
        <p:txBody>
          <a:bodyPr wrap="square" lIns="0" tIns="0" rIns="0" bIns="0" anchor="t">
            <a:noAutofit/>
          </a:bodyPr>
          <a:lstStyle/>
          <a:p>
            <a:pPr algn="ctr"/>
            <a:r>
              <a:rPr sz="2400" b="1" i="0">
                <a:solidFill>
                  <a:srgbClr val="161A3E"/>
                </a:solidFill>
                <a:latin typeface="Calibri"/>
              </a:rPr>
              <a:t>Debug retrieval before blaming the LLM.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a:solidFill>
                  <a:srgbClr val="161A3E"/>
                </a:solidFill>
                <a:latin typeface="Calibri"/>
              </a:rPr>
              <a:t>From FAISS to vector databases to RAG</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78009" y="1918251"/>
            <a:ext cx="10241280" cy="320040"/>
          </a:xfrm>
          <a:prstGeom prst="rect">
            <a:avLst/>
          </a:prstGeom>
          <a:noFill/>
        </p:spPr>
        <p:txBody>
          <a:bodyPr wrap="square" lIns="0" tIns="0" rIns="0" bIns="0" anchor="t">
            <a:noAutofit/>
          </a:bodyPr>
          <a:lstStyle/>
          <a:p>
            <a:pPr algn="ctr"/>
            <a:r>
              <a:rPr sz="2000" b="1" i="0" dirty="0">
                <a:solidFill>
                  <a:srgbClr val="161A3E"/>
                </a:solidFill>
                <a:latin typeface="Calibri"/>
              </a:rPr>
              <a:t>This session builds the retrieval core. The next steps add storage, filtering, operations, and generation.</a:t>
            </a:r>
          </a:p>
        </p:txBody>
      </p:sp>
      <p:sp>
        <p:nvSpPr>
          <p:cNvPr id="5" name="Rounded Rectangle 4"/>
          <p:cNvSpPr/>
          <p:nvPr/>
        </p:nvSpPr>
        <p:spPr>
          <a:xfrm>
            <a:off x="679838" y="2987702"/>
            <a:ext cx="2331720" cy="1280160"/>
          </a:xfrm>
          <a:prstGeom prst="roundRect">
            <a:avLst/>
          </a:prstGeom>
          <a:solidFill>
            <a:srgbClr val="D6E4F0"/>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79838" y="2987702"/>
            <a:ext cx="2331720" cy="420624"/>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52990" y="3060854"/>
            <a:ext cx="2185415" cy="256032"/>
          </a:xfrm>
          <a:prstGeom prst="rect">
            <a:avLst/>
          </a:prstGeom>
          <a:noFill/>
        </p:spPr>
        <p:txBody>
          <a:bodyPr wrap="square" lIns="0" tIns="0" rIns="0" bIns="0" anchor="t">
            <a:noAutofit/>
          </a:bodyPr>
          <a:lstStyle/>
          <a:p>
            <a:pPr algn="ctr"/>
            <a:r>
              <a:rPr sz="1500" b="1" i="0">
                <a:solidFill>
                  <a:srgbClr val="FFFFFF"/>
                </a:solidFill>
                <a:latin typeface="Calibri"/>
              </a:rPr>
              <a:t>Now</a:t>
            </a:r>
          </a:p>
        </p:txBody>
      </p:sp>
      <p:sp>
        <p:nvSpPr>
          <p:cNvPr id="8" name="TextBox 7"/>
          <p:cNvSpPr txBox="1"/>
          <p:nvPr/>
        </p:nvSpPr>
        <p:spPr>
          <a:xfrm>
            <a:off x="789565" y="3499766"/>
            <a:ext cx="2112263" cy="713231"/>
          </a:xfrm>
          <a:prstGeom prst="rect">
            <a:avLst/>
          </a:prstGeom>
          <a:noFill/>
        </p:spPr>
        <p:txBody>
          <a:bodyPr wrap="square" lIns="18288" tIns="18288" rIns="18288" bIns="18288" anchor="t">
            <a:noAutofit/>
          </a:bodyPr>
          <a:lstStyle/>
          <a:p>
            <a:pPr algn="ctr"/>
            <a:r>
              <a:rPr sz="1300" b="0" i="0">
                <a:solidFill>
                  <a:srgbClr val="44546A"/>
                </a:solidFill>
                <a:latin typeface="Calibri"/>
              </a:rPr>
              <a:t>FAISS in memory</a:t>
            </a:r>
            <a:br/>
            <a:r>
              <a:rPr sz="1300" b="0" i="0">
                <a:solidFill>
                  <a:srgbClr val="44546A"/>
                </a:solidFill>
                <a:latin typeface="Calibri"/>
              </a:rPr>
              <a:t>vectors + search</a:t>
            </a:r>
          </a:p>
        </p:txBody>
      </p:sp>
      <p:cxnSp>
        <p:nvCxnSpPr>
          <p:cNvPr id="9" name="Connector 8"/>
          <p:cNvCxnSpPr>
            <a:cxnSpLocks/>
            <a:stCxn id="5" idx="3"/>
            <a:endCxn id="10" idx="1"/>
          </p:cNvCxnSpPr>
          <p:nvPr/>
        </p:nvCxnSpPr>
        <p:spPr>
          <a:xfrm>
            <a:off x="3011558" y="3627782"/>
            <a:ext cx="502920" cy="0"/>
          </a:xfrm>
          <a:prstGeom prst="line">
            <a:avLst/>
          </a:prstGeom>
          <a:ln w="25400">
            <a:solidFill>
              <a:srgbClr val="5B9BD5"/>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514478" y="2987702"/>
            <a:ext cx="2331720" cy="1280160"/>
          </a:xfrm>
          <a:prstGeom prst="roundRect">
            <a:avLst/>
          </a:prstGeom>
          <a:solidFill>
            <a:srgbClr val="FFFFFF"/>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514478" y="2987702"/>
            <a:ext cx="2331720" cy="420624"/>
          </a:xfrm>
          <a:prstGeom prst="round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87630" y="3060854"/>
            <a:ext cx="2185415" cy="256032"/>
          </a:xfrm>
          <a:prstGeom prst="rect">
            <a:avLst/>
          </a:prstGeom>
          <a:noFill/>
        </p:spPr>
        <p:txBody>
          <a:bodyPr wrap="square" lIns="0" tIns="0" rIns="0" bIns="0" anchor="t">
            <a:noAutofit/>
          </a:bodyPr>
          <a:lstStyle/>
          <a:p>
            <a:pPr algn="ctr"/>
            <a:r>
              <a:rPr sz="1500" b="1" i="0">
                <a:solidFill>
                  <a:srgbClr val="FFFFFF"/>
                </a:solidFill>
                <a:latin typeface="Calibri"/>
              </a:rPr>
              <a:t>Next</a:t>
            </a:r>
          </a:p>
        </p:txBody>
      </p:sp>
      <p:sp>
        <p:nvSpPr>
          <p:cNvPr id="13" name="TextBox 12"/>
          <p:cNvSpPr txBox="1"/>
          <p:nvPr/>
        </p:nvSpPr>
        <p:spPr>
          <a:xfrm>
            <a:off x="3624206" y="3499766"/>
            <a:ext cx="2112263" cy="713231"/>
          </a:xfrm>
          <a:prstGeom prst="rect">
            <a:avLst/>
          </a:prstGeom>
          <a:noFill/>
        </p:spPr>
        <p:txBody>
          <a:bodyPr wrap="square" lIns="18288" tIns="18288" rIns="18288" bIns="18288" anchor="t">
            <a:noAutofit/>
          </a:bodyPr>
          <a:lstStyle/>
          <a:p>
            <a:pPr algn="ctr"/>
            <a:r>
              <a:rPr sz="1300" b="0" i="0">
                <a:solidFill>
                  <a:srgbClr val="44546A"/>
                </a:solidFill>
                <a:latin typeface="Calibri"/>
              </a:rPr>
              <a:t>Vector DB Landscape</a:t>
            </a:r>
            <a:br/>
            <a:r>
              <a:rPr sz="1300" b="0" i="0">
                <a:solidFill>
                  <a:srgbClr val="44546A"/>
                </a:solidFill>
                <a:latin typeface="Calibri"/>
              </a:rPr>
              <a:t>persistence + metadata</a:t>
            </a:r>
          </a:p>
        </p:txBody>
      </p:sp>
      <p:cxnSp>
        <p:nvCxnSpPr>
          <p:cNvPr id="14" name="Connector 13"/>
          <p:cNvCxnSpPr>
            <a:cxnSpLocks/>
            <a:stCxn id="10" idx="3"/>
            <a:endCxn id="15" idx="1"/>
          </p:cNvCxnSpPr>
          <p:nvPr/>
        </p:nvCxnSpPr>
        <p:spPr>
          <a:xfrm>
            <a:off x="5846198" y="3627782"/>
            <a:ext cx="502920" cy="0"/>
          </a:xfrm>
          <a:prstGeom prst="line">
            <a:avLst/>
          </a:prstGeom>
          <a:ln w="25400">
            <a:solidFill>
              <a:srgbClr val="5B9BD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349118" y="2987702"/>
            <a:ext cx="2331720" cy="1280160"/>
          </a:xfrm>
          <a:prstGeom prst="roundRect">
            <a:avLst/>
          </a:prstGeom>
          <a:solidFill>
            <a:srgbClr val="FFFFFF"/>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349118" y="2987702"/>
            <a:ext cx="2331720" cy="420624"/>
          </a:xfrm>
          <a:prstGeom prst="round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22270" y="3060854"/>
            <a:ext cx="2185415" cy="256032"/>
          </a:xfrm>
          <a:prstGeom prst="rect">
            <a:avLst/>
          </a:prstGeom>
          <a:noFill/>
        </p:spPr>
        <p:txBody>
          <a:bodyPr wrap="square" lIns="0" tIns="0" rIns="0" bIns="0" anchor="t">
            <a:noAutofit/>
          </a:bodyPr>
          <a:lstStyle/>
          <a:p>
            <a:pPr algn="ctr"/>
            <a:r>
              <a:rPr sz="1500" b="1" i="0">
                <a:solidFill>
                  <a:srgbClr val="FFFFFF"/>
                </a:solidFill>
                <a:latin typeface="Calibri"/>
              </a:rPr>
              <a:t>Then</a:t>
            </a:r>
          </a:p>
        </p:txBody>
      </p:sp>
      <p:sp>
        <p:nvSpPr>
          <p:cNvPr id="18" name="TextBox 17"/>
          <p:cNvSpPr txBox="1"/>
          <p:nvPr/>
        </p:nvSpPr>
        <p:spPr>
          <a:xfrm>
            <a:off x="6458846" y="3499766"/>
            <a:ext cx="2112263" cy="713231"/>
          </a:xfrm>
          <a:prstGeom prst="rect">
            <a:avLst/>
          </a:prstGeom>
          <a:noFill/>
        </p:spPr>
        <p:txBody>
          <a:bodyPr wrap="square" lIns="18288" tIns="18288" rIns="18288" bIns="18288" anchor="t">
            <a:noAutofit/>
          </a:bodyPr>
          <a:lstStyle/>
          <a:p>
            <a:pPr algn="ctr"/>
            <a:r>
              <a:rPr sz="1300" b="0" i="0">
                <a:solidFill>
                  <a:srgbClr val="44546A"/>
                </a:solidFill>
                <a:latin typeface="Calibri"/>
              </a:rPr>
              <a:t>Text-RAG Pipeline</a:t>
            </a:r>
            <a:br/>
            <a:r>
              <a:rPr sz="1300" b="0" i="0">
                <a:solidFill>
                  <a:srgbClr val="44546A"/>
                </a:solidFill>
                <a:latin typeface="Calibri"/>
              </a:rPr>
              <a:t>chunking + retriever + LLM</a:t>
            </a:r>
          </a:p>
        </p:txBody>
      </p:sp>
      <p:cxnSp>
        <p:nvCxnSpPr>
          <p:cNvPr id="19" name="Connector 18"/>
          <p:cNvCxnSpPr>
            <a:cxnSpLocks/>
            <a:stCxn id="15" idx="3"/>
            <a:endCxn id="20" idx="1"/>
          </p:cNvCxnSpPr>
          <p:nvPr/>
        </p:nvCxnSpPr>
        <p:spPr>
          <a:xfrm>
            <a:off x="8680838" y="3627782"/>
            <a:ext cx="502920" cy="0"/>
          </a:xfrm>
          <a:prstGeom prst="line">
            <a:avLst/>
          </a:prstGeom>
          <a:ln w="25400">
            <a:solidFill>
              <a:srgbClr val="5B9BD5"/>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183758" y="2987702"/>
            <a:ext cx="2331720" cy="1280160"/>
          </a:xfrm>
          <a:prstGeom prst="roundRect">
            <a:avLst/>
          </a:prstGeom>
          <a:solidFill>
            <a:srgbClr val="FFFFFF"/>
          </a:solidFill>
          <a:ln w="12700">
            <a:solidFill>
              <a:srgbClr val="161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183758" y="2987702"/>
            <a:ext cx="2331720" cy="420624"/>
          </a:xfrm>
          <a:prstGeom prst="round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256910" y="3060854"/>
            <a:ext cx="2185415" cy="256032"/>
          </a:xfrm>
          <a:prstGeom prst="rect">
            <a:avLst/>
          </a:prstGeom>
          <a:noFill/>
        </p:spPr>
        <p:txBody>
          <a:bodyPr wrap="square" lIns="0" tIns="0" rIns="0" bIns="0" anchor="t">
            <a:noAutofit/>
          </a:bodyPr>
          <a:lstStyle/>
          <a:p>
            <a:pPr algn="ctr"/>
            <a:r>
              <a:rPr sz="1500" b="1" i="0">
                <a:solidFill>
                  <a:srgbClr val="FFFFFF"/>
                </a:solidFill>
                <a:latin typeface="Calibri"/>
              </a:rPr>
              <a:t>Later</a:t>
            </a:r>
          </a:p>
        </p:txBody>
      </p:sp>
      <p:sp>
        <p:nvSpPr>
          <p:cNvPr id="23" name="TextBox 22"/>
          <p:cNvSpPr txBox="1"/>
          <p:nvPr/>
        </p:nvSpPr>
        <p:spPr>
          <a:xfrm>
            <a:off x="9293486" y="3499766"/>
            <a:ext cx="2112263" cy="713231"/>
          </a:xfrm>
          <a:prstGeom prst="rect">
            <a:avLst/>
          </a:prstGeom>
          <a:noFill/>
        </p:spPr>
        <p:txBody>
          <a:bodyPr wrap="square" lIns="18288" tIns="18288" rIns="18288" bIns="18288" anchor="t">
            <a:noAutofit/>
          </a:bodyPr>
          <a:lstStyle/>
          <a:p>
            <a:pPr algn="ctr"/>
            <a:r>
              <a:rPr sz="1300" b="0" i="0">
                <a:solidFill>
                  <a:srgbClr val="44546A"/>
                </a:solidFill>
                <a:latin typeface="Calibri"/>
              </a:rPr>
              <a:t>Multimodal RAG</a:t>
            </a:r>
            <a:br/>
            <a:r>
              <a:rPr sz="1300" b="0" i="0">
                <a:solidFill>
                  <a:srgbClr val="44546A"/>
                </a:solidFill>
                <a:latin typeface="Calibri"/>
              </a:rPr>
              <a:t>text + images + video</a:t>
            </a:r>
          </a:p>
        </p:txBody>
      </p:sp>
      <p:sp>
        <p:nvSpPr>
          <p:cNvPr id="24" name="Rounded Rectangle 23"/>
          <p:cNvSpPr/>
          <p:nvPr/>
        </p:nvSpPr>
        <p:spPr>
          <a:xfrm>
            <a:off x="1005840" y="4795828"/>
            <a:ext cx="10149840" cy="736292"/>
          </a:xfrm>
          <a:prstGeom prst="roundRect">
            <a:avLst/>
          </a:prstGeom>
          <a:solidFill>
            <a:srgbClr val="D6E4F0"/>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15568" y="4896414"/>
            <a:ext cx="9930384" cy="292608"/>
          </a:xfrm>
          <a:prstGeom prst="rect">
            <a:avLst/>
          </a:prstGeom>
          <a:noFill/>
        </p:spPr>
        <p:txBody>
          <a:bodyPr wrap="square" lIns="18288" tIns="18288" rIns="18288" bIns="18288" anchor="t">
            <a:noAutofit/>
          </a:bodyPr>
          <a:lstStyle/>
          <a:p>
            <a:pPr algn="l"/>
            <a:r>
              <a:rPr sz="1500" b="1" i="0" dirty="0">
                <a:solidFill>
                  <a:srgbClr val="161A3E"/>
                </a:solidFill>
                <a:latin typeface="Calibri"/>
              </a:rPr>
              <a:t>Mental model to carry forward</a:t>
            </a:r>
          </a:p>
        </p:txBody>
      </p:sp>
      <p:sp>
        <p:nvSpPr>
          <p:cNvPr id="26" name="TextBox 25"/>
          <p:cNvSpPr txBox="1"/>
          <p:nvPr/>
        </p:nvSpPr>
        <p:spPr>
          <a:xfrm>
            <a:off x="1115568" y="5240706"/>
            <a:ext cx="9930384" cy="118872"/>
          </a:xfrm>
          <a:prstGeom prst="rect">
            <a:avLst/>
          </a:prstGeom>
          <a:noFill/>
        </p:spPr>
        <p:txBody>
          <a:bodyPr wrap="square" lIns="18288" tIns="18288" rIns="18288" bIns="18288" anchor="t">
            <a:noAutofit/>
          </a:bodyPr>
          <a:lstStyle/>
          <a:p>
            <a:pPr algn="l"/>
            <a:r>
              <a:rPr sz="1400" b="0" i="0" dirty="0">
                <a:solidFill>
                  <a:srgbClr val="44546A"/>
                </a:solidFill>
                <a:latin typeface="Calibri"/>
              </a:rPr>
              <a:t>RAG is not “LLM + documents.” It is a retrieval system feeding evidence into a generation system.</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10160"/>
            <a:ext cx="12192000" cy="6858000"/>
          </a:xfrm>
          <a:prstGeom prst="rect">
            <a:avLst/>
          </a:prstGeom>
          <a:solidFill>
            <a:srgbClr val="161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822960"/>
            <a:ext cx="10424160" cy="548640"/>
          </a:xfrm>
          <a:prstGeom prst="rect">
            <a:avLst/>
          </a:prstGeom>
          <a:noFill/>
        </p:spPr>
        <p:txBody>
          <a:bodyPr wrap="square" lIns="0" tIns="0" rIns="0" bIns="0" anchor="t">
            <a:noAutofit/>
          </a:bodyPr>
          <a:lstStyle/>
          <a:p>
            <a:pPr algn="ctr"/>
            <a:r>
              <a:rPr sz="3600" b="1" i="0">
                <a:solidFill>
                  <a:srgbClr val="FFFFFF"/>
                </a:solidFill>
                <a:latin typeface="Calibri"/>
              </a:rPr>
              <a:t>Key takeaways</a:t>
            </a:r>
          </a:p>
        </p:txBody>
      </p:sp>
      <p:sp>
        <p:nvSpPr>
          <p:cNvPr id="4" name="TextBox 3"/>
          <p:cNvSpPr txBox="1"/>
          <p:nvPr/>
        </p:nvSpPr>
        <p:spPr>
          <a:xfrm>
            <a:off x="1331844" y="2025818"/>
            <a:ext cx="9541565" cy="3389243"/>
          </a:xfrm>
          <a:prstGeom prst="rect">
            <a:avLst/>
          </a:prstGeom>
          <a:noFill/>
        </p:spPr>
        <p:txBody>
          <a:bodyPr wrap="square" lIns="0" tIns="0" rIns="0" bIns="0" anchor="t">
            <a:noAutofit/>
          </a:bodyPr>
          <a:lstStyle/>
          <a:p>
            <a:pPr marL="342900" indent="-342900" algn="l">
              <a:spcBef>
                <a:spcPts val="600"/>
              </a:spcBef>
              <a:buFont typeface="Arial" panose="020B0604020202020204" pitchFamily="34" charset="0"/>
              <a:buChar char="•"/>
            </a:pPr>
            <a:r>
              <a:rPr sz="2200" b="0" i="0" dirty="0">
                <a:solidFill>
                  <a:srgbClr val="FFFFFF"/>
                </a:solidFill>
                <a:latin typeface="Calibri"/>
              </a:rPr>
              <a:t>Embeddings place text in a learned meaning space.</a:t>
            </a:r>
            <a:endParaRPr lang="en-US" sz="2200" b="0" i="0" dirty="0">
              <a:solidFill>
                <a:srgbClr val="FFFFFF"/>
              </a:solidFill>
              <a:latin typeface="Calibri"/>
            </a:endParaRPr>
          </a:p>
          <a:p>
            <a:pPr marL="342900" indent="-342900">
              <a:spcBef>
                <a:spcPts val="600"/>
              </a:spcBef>
              <a:buFont typeface="Arial" panose="020B0604020202020204" pitchFamily="34" charset="0"/>
              <a:buChar char="•"/>
            </a:pPr>
            <a:r>
              <a:rPr lang="en-US" sz="2200" dirty="0">
                <a:solidFill>
                  <a:srgbClr val="FFFFFF"/>
                </a:solidFill>
              </a:rPr>
              <a:t>Similarity metrics create rankings, not guarantees.</a:t>
            </a:r>
          </a:p>
          <a:p>
            <a:pPr marL="342900" indent="-342900">
              <a:spcBef>
                <a:spcPts val="600"/>
              </a:spcBef>
              <a:buFont typeface="Arial" panose="020B0604020202020204" pitchFamily="34" charset="0"/>
              <a:buChar char="•"/>
            </a:pPr>
            <a:r>
              <a:rPr lang="en-US" sz="2200" dirty="0">
                <a:solidFill>
                  <a:srgbClr val="FFFFFF"/>
                </a:solidFill>
              </a:rPr>
              <a:t>Dense search handles paraphrases; sparse search protects exact-match precision.</a:t>
            </a:r>
          </a:p>
          <a:p>
            <a:pPr marL="342900" indent="-342900">
              <a:spcBef>
                <a:spcPts val="600"/>
              </a:spcBef>
              <a:buFont typeface="Arial" panose="020B0604020202020204" pitchFamily="34" charset="0"/>
              <a:buChar char="•"/>
            </a:pPr>
            <a:r>
              <a:rPr lang="en-US" sz="2200" dirty="0">
                <a:solidFill>
                  <a:srgbClr val="FFFFFF"/>
                </a:solidFill>
              </a:rPr>
              <a:t>FAISS is a local index for searching dense vectors efficiently.</a:t>
            </a:r>
          </a:p>
          <a:p>
            <a:pPr marL="342900" indent="-342900">
              <a:spcBef>
                <a:spcPts val="600"/>
              </a:spcBef>
              <a:buFont typeface="Arial" panose="020B0604020202020204" pitchFamily="34" charset="0"/>
              <a:buChar char="•"/>
            </a:pPr>
            <a:r>
              <a:rPr lang="en-US" sz="2200" dirty="0">
                <a:solidFill>
                  <a:srgbClr val="FFFFFF"/>
                </a:solidFill>
              </a:rPr>
              <a:t>Retrieval quality must be measured before adding an LLM.</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a:solidFill>
                  <a:srgbClr val="161A3E"/>
                </a:solidFill>
                <a:latin typeface="Calibri"/>
              </a:rPr>
              <a:t>Industry anchor: embeddings power real search and discovery systems</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68680" y="1920240"/>
            <a:ext cx="5166360" cy="2011680"/>
          </a:xfrm>
          <a:prstGeom prst="roundRect">
            <a:avLst/>
          </a:prstGeom>
          <a:solidFill>
            <a:srgbClr val="FFFFFF"/>
          </a:solidFill>
          <a:ln w="1270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68680" y="1920240"/>
            <a:ext cx="5166360" cy="420624"/>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41832" y="1993392"/>
            <a:ext cx="5020056" cy="256032"/>
          </a:xfrm>
          <a:prstGeom prst="rect">
            <a:avLst/>
          </a:prstGeom>
          <a:noFill/>
        </p:spPr>
        <p:txBody>
          <a:bodyPr wrap="square" lIns="0" tIns="0" rIns="0" bIns="0" anchor="t">
            <a:noAutofit/>
          </a:bodyPr>
          <a:lstStyle/>
          <a:p>
            <a:pPr algn="l"/>
            <a:r>
              <a:rPr sz="1700" b="1" i="0">
                <a:solidFill>
                  <a:srgbClr val="FFFFFF"/>
                </a:solidFill>
                <a:latin typeface="Calibri"/>
              </a:rPr>
              <a:t>DoorDash example</a:t>
            </a:r>
          </a:p>
        </p:txBody>
      </p:sp>
      <p:sp>
        <p:nvSpPr>
          <p:cNvPr id="7" name="TextBox 6"/>
          <p:cNvSpPr txBox="1"/>
          <p:nvPr/>
        </p:nvSpPr>
        <p:spPr>
          <a:xfrm>
            <a:off x="978407" y="2432304"/>
            <a:ext cx="4946904" cy="1444752"/>
          </a:xfrm>
          <a:prstGeom prst="rect">
            <a:avLst/>
          </a:prstGeom>
          <a:noFill/>
        </p:spPr>
        <p:txBody>
          <a:bodyPr wrap="square" lIns="18288" tIns="18288" rIns="18288" bIns="18288" anchor="t">
            <a:noAutofit/>
          </a:bodyPr>
          <a:lstStyle/>
          <a:p>
            <a:pPr algn="l"/>
            <a:r>
              <a:rPr sz="1600" b="0" i="0">
                <a:solidFill>
                  <a:srgbClr val="44546A"/>
                </a:solidFill>
                <a:latin typeface="Calibri"/>
              </a:rPr>
              <a:t>DoorDash describes using LLM-generated profiles and embeddings to improve semantic search, recommendations, cold-start relevance, and discovery across multiple verticals.</a:t>
            </a:r>
          </a:p>
        </p:txBody>
      </p:sp>
      <p:sp>
        <p:nvSpPr>
          <p:cNvPr id="8" name="Rounded Rectangle 7"/>
          <p:cNvSpPr/>
          <p:nvPr/>
        </p:nvSpPr>
        <p:spPr>
          <a:xfrm>
            <a:off x="6355080" y="1920240"/>
            <a:ext cx="4846320" cy="2011680"/>
          </a:xfrm>
          <a:prstGeom prst="roundRect">
            <a:avLst/>
          </a:prstGeom>
          <a:solidFill>
            <a:srgbClr val="FFFFFF"/>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355080" y="1920240"/>
            <a:ext cx="4846320" cy="420624"/>
          </a:xfrm>
          <a:prstGeom prst="round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28232" y="1993392"/>
            <a:ext cx="4700016" cy="256032"/>
          </a:xfrm>
          <a:prstGeom prst="rect">
            <a:avLst/>
          </a:prstGeom>
          <a:noFill/>
        </p:spPr>
        <p:txBody>
          <a:bodyPr wrap="square" lIns="0" tIns="0" rIns="0" bIns="0" anchor="t">
            <a:noAutofit/>
          </a:bodyPr>
          <a:lstStyle/>
          <a:p>
            <a:pPr algn="l"/>
            <a:r>
              <a:rPr sz="1700" b="1" i="0">
                <a:solidFill>
                  <a:srgbClr val="FFFFFF"/>
                </a:solidFill>
                <a:latin typeface="Calibri"/>
              </a:rPr>
              <a:t>Why it fits this session</a:t>
            </a:r>
          </a:p>
        </p:txBody>
      </p:sp>
      <p:sp>
        <p:nvSpPr>
          <p:cNvPr id="11" name="TextBox 10"/>
          <p:cNvSpPr txBox="1"/>
          <p:nvPr/>
        </p:nvSpPr>
        <p:spPr>
          <a:xfrm>
            <a:off x="6464808" y="2432304"/>
            <a:ext cx="4626864" cy="1444752"/>
          </a:xfrm>
          <a:prstGeom prst="rect">
            <a:avLst/>
          </a:prstGeom>
          <a:noFill/>
        </p:spPr>
        <p:txBody>
          <a:bodyPr wrap="square" lIns="18288" tIns="18288" rIns="18288" bIns="18288" anchor="t">
            <a:noAutofit/>
          </a:bodyPr>
          <a:lstStyle/>
          <a:p>
            <a:pPr algn="l"/>
            <a:r>
              <a:rPr sz="1600" b="0" i="0">
                <a:solidFill>
                  <a:srgbClr val="44546A"/>
                </a:solidFill>
                <a:latin typeface="Calibri"/>
              </a:rPr>
              <a:t>The same primitive appears here: convert content into vectors, compare user intent against those vectors, then rank the closest candidates.</a:t>
            </a:r>
          </a:p>
        </p:txBody>
      </p:sp>
      <p:sp>
        <p:nvSpPr>
          <p:cNvPr id="12" name="TextBox 11"/>
          <p:cNvSpPr txBox="1"/>
          <p:nvPr/>
        </p:nvSpPr>
        <p:spPr>
          <a:xfrm>
            <a:off x="1005840" y="4617720"/>
            <a:ext cx="10058400" cy="502920"/>
          </a:xfrm>
          <a:prstGeom prst="rect">
            <a:avLst/>
          </a:prstGeom>
          <a:noFill/>
        </p:spPr>
        <p:txBody>
          <a:bodyPr wrap="square" lIns="0" tIns="0" rIns="0" bIns="0" anchor="t">
            <a:noAutofit/>
          </a:bodyPr>
          <a:lstStyle/>
          <a:p>
            <a:pPr algn="ctr"/>
            <a:r>
              <a:rPr sz="2100" b="1" i="0">
                <a:solidFill>
                  <a:srgbClr val="161A3E"/>
                </a:solidFill>
                <a:latin typeface="Calibri"/>
              </a:rPr>
              <a:t>Production systems add domain-specific data, ranking layers, safety checks, and evaluation — but the vector-search foundation is the same.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a:solidFill>
                  <a:srgbClr val="161A3E"/>
                </a:solidFill>
                <a:latin typeface="Calibri"/>
              </a:rPr>
              <a:t>References</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874519"/>
            <a:ext cx="228600" cy="256032"/>
          </a:xfrm>
          <a:prstGeom prst="rect">
            <a:avLst/>
          </a:prstGeom>
          <a:noFill/>
        </p:spPr>
        <p:txBody>
          <a:bodyPr wrap="square" lIns="0" tIns="0" rIns="0" bIns="0" anchor="t">
            <a:noAutofit/>
          </a:bodyPr>
          <a:lstStyle/>
          <a:p>
            <a:pPr algn="ctr"/>
            <a:r>
              <a:rPr sz="2000" b="1" i="0">
                <a:solidFill>
                  <a:srgbClr val="4472C4"/>
                </a:solidFill>
                <a:latin typeface="Calibri"/>
              </a:rPr>
              <a:t>•</a:t>
            </a:r>
          </a:p>
        </p:txBody>
      </p:sp>
      <p:sp>
        <p:nvSpPr>
          <p:cNvPr id="5" name="TextBox 4"/>
          <p:cNvSpPr txBox="1"/>
          <p:nvPr/>
        </p:nvSpPr>
        <p:spPr>
          <a:xfrm>
            <a:off x="1207008" y="1874519"/>
            <a:ext cx="9765792" cy="310896"/>
          </a:xfrm>
          <a:prstGeom prst="rect">
            <a:avLst/>
          </a:prstGeom>
          <a:noFill/>
        </p:spPr>
        <p:txBody>
          <a:bodyPr wrap="square" lIns="18288" tIns="18288" rIns="18288" bIns="18288" anchor="t">
            <a:noAutofit/>
          </a:bodyPr>
          <a:lstStyle/>
          <a:p>
            <a:pPr algn="l"/>
            <a:r>
              <a:rPr sz="1800" b="0" i="0">
                <a:solidFill>
                  <a:srgbClr val="161A3E"/>
                </a:solidFill>
                <a:latin typeface="Calibri"/>
              </a:rPr>
              <a:t>FAISS documentation — efficient similarity search and clustering of dense vectors</a:t>
            </a:r>
          </a:p>
        </p:txBody>
      </p:sp>
      <p:sp>
        <p:nvSpPr>
          <p:cNvPr id="6" name="TextBox 5"/>
          <p:cNvSpPr txBox="1"/>
          <p:nvPr/>
        </p:nvSpPr>
        <p:spPr>
          <a:xfrm>
            <a:off x="914400" y="2377439"/>
            <a:ext cx="228600" cy="256032"/>
          </a:xfrm>
          <a:prstGeom prst="rect">
            <a:avLst/>
          </a:prstGeom>
          <a:noFill/>
        </p:spPr>
        <p:txBody>
          <a:bodyPr wrap="square" lIns="0" tIns="0" rIns="0" bIns="0" anchor="t">
            <a:noAutofit/>
          </a:bodyPr>
          <a:lstStyle/>
          <a:p>
            <a:pPr algn="ctr"/>
            <a:r>
              <a:rPr sz="2000" b="1" i="0">
                <a:solidFill>
                  <a:srgbClr val="4472C4"/>
                </a:solidFill>
                <a:latin typeface="Calibri"/>
              </a:rPr>
              <a:t>•</a:t>
            </a:r>
          </a:p>
        </p:txBody>
      </p:sp>
      <p:sp>
        <p:nvSpPr>
          <p:cNvPr id="7" name="TextBox 6"/>
          <p:cNvSpPr txBox="1"/>
          <p:nvPr/>
        </p:nvSpPr>
        <p:spPr>
          <a:xfrm>
            <a:off x="1207008" y="2377439"/>
            <a:ext cx="9765792" cy="310896"/>
          </a:xfrm>
          <a:prstGeom prst="rect">
            <a:avLst/>
          </a:prstGeom>
          <a:noFill/>
        </p:spPr>
        <p:txBody>
          <a:bodyPr wrap="square" lIns="18288" tIns="18288" rIns="18288" bIns="18288" anchor="t">
            <a:noAutofit/>
          </a:bodyPr>
          <a:lstStyle/>
          <a:p>
            <a:pPr algn="l"/>
            <a:r>
              <a:rPr sz="1800" b="0" i="0">
                <a:solidFill>
                  <a:srgbClr val="161A3E"/>
                </a:solidFill>
                <a:latin typeface="Calibri"/>
              </a:rPr>
              <a:t>Hugging Face model card — sentence-transformers/all-MiniLM-L6-v2</a:t>
            </a:r>
          </a:p>
        </p:txBody>
      </p:sp>
      <p:sp>
        <p:nvSpPr>
          <p:cNvPr id="8" name="TextBox 7"/>
          <p:cNvSpPr txBox="1"/>
          <p:nvPr/>
        </p:nvSpPr>
        <p:spPr>
          <a:xfrm>
            <a:off x="914400" y="2880359"/>
            <a:ext cx="228600" cy="256032"/>
          </a:xfrm>
          <a:prstGeom prst="rect">
            <a:avLst/>
          </a:prstGeom>
          <a:noFill/>
        </p:spPr>
        <p:txBody>
          <a:bodyPr wrap="square" lIns="0" tIns="0" rIns="0" bIns="0" anchor="t">
            <a:noAutofit/>
          </a:bodyPr>
          <a:lstStyle/>
          <a:p>
            <a:pPr algn="ctr"/>
            <a:r>
              <a:rPr sz="2000" b="1" i="0">
                <a:solidFill>
                  <a:srgbClr val="4472C4"/>
                </a:solidFill>
                <a:latin typeface="Calibri"/>
              </a:rPr>
              <a:t>•</a:t>
            </a:r>
          </a:p>
        </p:txBody>
      </p:sp>
      <p:sp>
        <p:nvSpPr>
          <p:cNvPr id="9" name="TextBox 8"/>
          <p:cNvSpPr txBox="1"/>
          <p:nvPr/>
        </p:nvSpPr>
        <p:spPr>
          <a:xfrm>
            <a:off x="1207008" y="2880359"/>
            <a:ext cx="9765792" cy="310896"/>
          </a:xfrm>
          <a:prstGeom prst="rect">
            <a:avLst/>
          </a:prstGeom>
          <a:noFill/>
        </p:spPr>
        <p:txBody>
          <a:bodyPr wrap="square" lIns="18288" tIns="18288" rIns="18288" bIns="18288" anchor="t">
            <a:noAutofit/>
          </a:bodyPr>
          <a:lstStyle/>
          <a:p>
            <a:pPr algn="l"/>
            <a:r>
              <a:rPr sz="1800" b="0" i="0">
                <a:solidFill>
                  <a:srgbClr val="161A3E"/>
                </a:solidFill>
                <a:latin typeface="Calibri"/>
              </a:rPr>
              <a:t>OpenAI API pricing — text-embedding models</a:t>
            </a:r>
          </a:p>
        </p:txBody>
      </p:sp>
      <p:sp>
        <p:nvSpPr>
          <p:cNvPr id="10" name="TextBox 9"/>
          <p:cNvSpPr txBox="1"/>
          <p:nvPr/>
        </p:nvSpPr>
        <p:spPr>
          <a:xfrm>
            <a:off x="914400" y="3383279"/>
            <a:ext cx="228600" cy="256032"/>
          </a:xfrm>
          <a:prstGeom prst="rect">
            <a:avLst/>
          </a:prstGeom>
          <a:noFill/>
        </p:spPr>
        <p:txBody>
          <a:bodyPr wrap="square" lIns="0" tIns="0" rIns="0" bIns="0" anchor="t">
            <a:noAutofit/>
          </a:bodyPr>
          <a:lstStyle/>
          <a:p>
            <a:pPr algn="ctr"/>
            <a:r>
              <a:rPr sz="2000" b="1" i="0">
                <a:solidFill>
                  <a:srgbClr val="4472C4"/>
                </a:solidFill>
                <a:latin typeface="Calibri"/>
              </a:rPr>
              <a:t>•</a:t>
            </a:r>
          </a:p>
        </p:txBody>
      </p:sp>
      <p:sp>
        <p:nvSpPr>
          <p:cNvPr id="11" name="TextBox 10"/>
          <p:cNvSpPr txBox="1"/>
          <p:nvPr/>
        </p:nvSpPr>
        <p:spPr>
          <a:xfrm>
            <a:off x="1207008" y="3383279"/>
            <a:ext cx="9765792" cy="310896"/>
          </a:xfrm>
          <a:prstGeom prst="rect">
            <a:avLst/>
          </a:prstGeom>
          <a:noFill/>
        </p:spPr>
        <p:txBody>
          <a:bodyPr wrap="square" lIns="18288" tIns="18288" rIns="18288" bIns="18288" anchor="t">
            <a:noAutofit/>
          </a:bodyPr>
          <a:lstStyle/>
          <a:p>
            <a:pPr algn="l"/>
            <a:r>
              <a:rPr sz="1800" b="0" i="0">
                <a:solidFill>
                  <a:srgbClr val="161A3E"/>
                </a:solidFill>
                <a:latin typeface="Calibri"/>
              </a:rPr>
              <a:t>DoorDash engineering blog — content embeddings for search and recommendations</a:t>
            </a:r>
          </a:p>
        </p:txBody>
      </p:sp>
      <p:sp>
        <p:nvSpPr>
          <p:cNvPr id="12" name="Rounded Rectangle 11"/>
          <p:cNvSpPr/>
          <p:nvPr/>
        </p:nvSpPr>
        <p:spPr>
          <a:xfrm>
            <a:off x="960120" y="4572000"/>
            <a:ext cx="10058400" cy="749808"/>
          </a:xfrm>
          <a:prstGeom prst="roundRect">
            <a:avLst/>
          </a:prstGeom>
          <a:solidFill>
            <a:srgbClr val="D6E4F0"/>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69848" y="4681728"/>
            <a:ext cx="9838944" cy="292608"/>
          </a:xfrm>
          <a:prstGeom prst="rect">
            <a:avLst/>
          </a:prstGeom>
          <a:noFill/>
        </p:spPr>
        <p:txBody>
          <a:bodyPr wrap="square" lIns="18288" tIns="18288" rIns="18288" bIns="18288" anchor="t">
            <a:noAutofit/>
          </a:bodyPr>
          <a:lstStyle/>
          <a:p>
            <a:pPr algn="l"/>
            <a:r>
              <a:rPr sz="1500" b="1" i="0">
                <a:solidFill>
                  <a:srgbClr val="161A3E"/>
                </a:solidFill>
                <a:latin typeface="Calibri"/>
              </a:rPr>
              <a:t>Trainer note</a:t>
            </a:r>
          </a:p>
        </p:txBody>
      </p:sp>
      <p:sp>
        <p:nvSpPr>
          <p:cNvPr id="14" name="TextBox 13"/>
          <p:cNvSpPr txBox="1"/>
          <p:nvPr/>
        </p:nvSpPr>
        <p:spPr>
          <a:xfrm>
            <a:off x="1069848" y="5065776"/>
            <a:ext cx="9838944" cy="182879"/>
          </a:xfrm>
          <a:prstGeom prst="rect">
            <a:avLst/>
          </a:prstGeom>
          <a:noFill/>
        </p:spPr>
        <p:txBody>
          <a:bodyPr wrap="square" lIns="18288" tIns="18288" rIns="18288" bIns="18288" anchor="t">
            <a:noAutofit/>
          </a:bodyPr>
          <a:lstStyle/>
          <a:p>
            <a:pPr algn="l"/>
            <a:r>
              <a:rPr sz="1400" b="0" i="0">
                <a:solidFill>
                  <a:srgbClr val="44546A"/>
                </a:solidFill>
                <a:latin typeface="Calibri"/>
              </a:rPr>
              <a:t>Re-check provider pricing before delivery. API pricing and model availability can change.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76656" y="603504"/>
            <a:ext cx="10835640" cy="612648"/>
          </a:xfrm>
          <a:prstGeom prst="rect">
            <a:avLst/>
          </a:prstGeom>
          <a:noFill/>
        </p:spPr>
        <p:txBody>
          <a:bodyPr wrap="square" lIns="0" tIns="0" rIns="0" bIns="0" anchor="t">
            <a:noAutofit/>
          </a:bodyPr>
          <a:lstStyle/>
          <a:p>
            <a:pPr algn="l"/>
            <a:r>
              <a:rPr sz="3200" b="1" i="0">
                <a:solidFill>
                  <a:srgbClr val="161A3E"/>
                </a:solidFill>
                <a:latin typeface="Calibri"/>
              </a:rPr>
              <a:t>DoubtBusters: Go-To Place for Clearing Doubts</a:t>
            </a:r>
          </a:p>
        </p:txBody>
      </p:sp>
      <p:sp>
        <p:nvSpPr>
          <p:cNvPr id="3" name="Rectangle 2"/>
          <p:cNvSpPr/>
          <p:nvPr/>
        </p:nvSpPr>
        <p:spPr>
          <a:xfrm>
            <a:off x="676656" y="1243584"/>
            <a:ext cx="1143000" cy="640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68680" y="1828800"/>
            <a:ext cx="10241280" cy="914400"/>
          </a:xfrm>
          <a:prstGeom prst="roundRect">
            <a:avLst/>
          </a:prstGeom>
          <a:solidFill>
            <a:srgbClr val="FFFFFF"/>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78407" y="1938528"/>
            <a:ext cx="10021824" cy="292608"/>
          </a:xfrm>
          <a:prstGeom prst="rect">
            <a:avLst/>
          </a:prstGeom>
          <a:noFill/>
        </p:spPr>
        <p:txBody>
          <a:bodyPr wrap="square" lIns="18288" tIns="18288" rIns="18288" bIns="18288" anchor="t">
            <a:noAutofit/>
          </a:bodyPr>
          <a:lstStyle/>
          <a:p>
            <a:pPr algn="l"/>
            <a:r>
              <a:rPr sz="1800" b="1" i="0">
                <a:solidFill>
                  <a:srgbClr val="161A3E"/>
                </a:solidFill>
                <a:latin typeface="Calibri"/>
              </a:rPr>
              <a:t>Every Thursday</a:t>
            </a:r>
          </a:p>
        </p:txBody>
      </p:sp>
      <p:sp>
        <p:nvSpPr>
          <p:cNvPr id="6" name="TextBox 5"/>
          <p:cNvSpPr txBox="1"/>
          <p:nvPr/>
        </p:nvSpPr>
        <p:spPr>
          <a:xfrm>
            <a:off x="978407" y="2322576"/>
            <a:ext cx="10021824" cy="347472"/>
          </a:xfrm>
          <a:prstGeom prst="rect">
            <a:avLst/>
          </a:prstGeom>
          <a:noFill/>
        </p:spPr>
        <p:txBody>
          <a:bodyPr wrap="square" lIns="18288" tIns="18288" rIns="18288" bIns="18288" anchor="t">
            <a:noAutofit/>
          </a:bodyPr>
          <a:lstStyle/>
          <a:p>
            <a:pPr algn="l"/>
            <a:r>
              <a:rPr sz="1700" b="0" i="0">
                <a:solidFill>
                  <a:srgbClr val="44546A"/>
                </a:solidFill>
                <a:latin typeface="Calibri"/>
              </a:rPr>
              <a:t>DoubtBusters addresses specific academic doubts and queries.</a:t>
            </a:r>
          </a:p>
        </p:txBody>
      </p:sp>
      <p:sp>
        <p:nvSpPr>
          <p:cNvPr id="7" name="Rounded Rectangle 6"/>
          <p:cNvSpPr/>
          <p:nvPr/>
        </p:nvSpPr>
        <p:spPr>
          <a:xfrm>
            <a:off x="868680" y="2926080"/>
            <a:ext cx="4983480" cy="1097280"/>
          </a:xfrm>
          <a:prstGeom prst="roundRect">
            <a:avLst/>
          </a:prstGeom>
          <a:solidFill>
            <a:srgbClr val="FFFFFF"/>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8407" y="3035808"/>
            <a:ext cx="4764024" cy="292608"/>
          </a:xfrm>
          <a:prstGeom prst="rect">
            <a:avLst/>
          </a:prstGeom>
          <a:noFill/>
        </p:spPr>
        <p:txBody>
          <a:bodyPr wrap="square" lIns="18288" tIns="18288" rIns="18288" bIns="18288" anchor="t">
            <a:noAutofit/>
          </a:bodyPr>
          <a:lstStyle/>
          <a:p>
            <a:pPr algn="l"/>
            <a:r>
              <a:rPr sz="1600" b="1" i="0">
                <a:solidFill>
                  <a:srgbClr val="161A3E"/>
                </a:solidFill>
                <a:latin typeface="Calibri"/>
              </a:rPr>
              <a:t>How to submit doubts/queries</a:t>
            </a:r>
          </a:p>
        </p:txBody>
      </p:sp>
      <p:sp>
        <p:nvSpPr>
          <p:cNvPr id="9" name="TextBox 8"/>
          <p:cNvSpPr txBox="1"/>
          <p:nvPr/>
        </p:nvSpPr>
        <p:spPr>
          <a:xfrm>
            <a:off x="978407" y="3419856"/>
            <a:ext cx="4764024" cy="530352"/>
          </a:xfrm>
          <a:prstGeom prst="rect">
            <a:avLst/>
          </a:prstGeom>
          <a:noFill/>
        </p:spPr>
        <p:txBody>
          <a:bodyPr wrap="square" lIns="18288" tIns="18288" rIns="18288" bIns="18288" anchor="t">
            <a:noAutofit/>
          </a:bodyPr>
          <a:lstStyle/>
          <a:p>
            <a:pPr algn="l"/>
            <a:r>
              <a:rPr sz="1400" b="0" i="0">
                <a:solidFill>
                  <a:srgbClr val="44546A"/>
                </a:solidFill>
                <a:latin typeface="Calibri"/>
              </a:rPr>
              <a:t>Log in to the Campus Connect portal. In the left navigation pane, click the DoubtBuster section. Fill in and submit the doubt submission form available there.</a:t>
            </a:r>
          </a:p>
        </p:txBody>
      </p:sp>
      <p:sp>
        <p:nvSpPr>
          <p:cNvPr id="10" name="Rounded Rectangle 9"/>
          <p:cNvSpPr/>
          <p:nvPr/>
        </p:nvSpPr>
        <p:spPr>
          <a:xfrm>
            <a:off x="6172200" y="2926080"/>
            <a:ext cx="4983480" cy="1097280"/>
          </a:xfrm>
          <a:prstGeom prst="roundRect">
            <a:avLst/>
          </a:prstGeom>
          <a:solidFill>
            <a:srgbClr val="FFFFFF"/>
          </a:solidFill>
          <a:ln w="12700">
            <a:solidFill>
              <a:srgbClr val="D6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81928" y="3035808"/>
            <a:ext cx="4764024" cy="292608"/>
          </a:xfrm>
          <a:prstGeom prst="rect">
            <a:avLst/>
          </a:prstGeom>
          <a:noFill/>
        </p:spPr>
        <p:txBody>
          <a:bodyPr wrap="square" lIns="18288" tIns="18288" rIns="18288" bIns="18288" anchor="t">
            <a:noAutofit/>
          </a:bodyPr>
          <a:lstStyle/>
          <a:p>
            <a:pPr algn="l"/>
            <a:r>
              <a:rPr sz="1600" b="1" i="0">
                <a:solidFill>
                  <a:srgbClr val="161A3E"/>
                </a:solidFill>
                <a:latin typeface="Calibri"/>
              </a:rPr>
              <a:t>Attending the Thursday session</a:t>
            </a:r>
          </a:p>
        </p:txBody>
      </p:sp>
      <p:sp>
        <p:nvSpPr>
          <p:cNvPr id="12" name="TextBox 11"/>
          <p:cNvSpPr txBox="1"/>
          <p:nvPr/>
        </p:nvSpPr>
        <p:spPr>
          <a:xfrm>
            <a:off x="6281928" y="3419856"/>
            <a:ext cx="4764024" cy="530352"/>
          </a:xfrm>
          <a:prstGeom prst="rect">
            <a:avLst/>
          </a:prstGeom>
          <a:noFill/>
        </p:spPr>
        <p:txBody>
          <a:bodyPr wrap="square" lIns="18288" tIns="18288" rIns="18288" bIns="18288" anchor="t">
            <a:noAutofit/>
          </a:bodyPr>
          <a:lstStyle/>
          <a:p>
            <a:pPr algn="l"/>
            <a:r>
              <a:rPr sz="1400" b="0" i="0">
                <a:solidFill>
                  <a:srgbClr val="44546A"/>
                </a:solidFill>
                <a:latin typeface="Calibri"/>
              </a:rPr>
              <a:t>After submitting your doubt, attend the Thursday DoubtBuster session at the time specified for your region in the portal.</a:t>
            </a:r>
          </a:p>
        </p:txBody>
      </p:sp>
      <p:sp>
        <p:nvSpPr>
          <p:cNvPr id="13" name="Rounded Rectangle 12"/>
          <p:cNvSpPr/>
          <p:nvPr/>
        </p:nvSpPr>
        <p:spPr>
          <a:xfrm>
            <a:off x="868680" y="4343400"/>
            <a:ext cx="10241280" cy="914400"/>
          </a:xfrm>
          <a:prstGeom prst="roundRect">
            <a:avLst/>
          </a:prstGeom>
          <a:solidFill>
            <a:srgbClr val="D6E4F0"/>
          </a:solidFill>
          <a:ln w="12700">
            <a:solidFill>
              <a:srgbClr val="5B9B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7" y="4453128"/>
            <a:ext cx="10021824" cy="292608"/>
          </a:xfrm>
          <a:prstGeom prst="rect">
            <a:avLst/>
          </a:prstGeom>
          <a:noFill/>
        </p:spPr>
        <p:txBody>
          <a:bodyPr wrap="square" lIns="18288" tIns="18288" rIns="18288" bIns="18288" anchor="t">
            <a:noAutofit/>
          </a:bodyPr>
          <a:lstStyle/>
          <a:p>
            <a:pPr algn="l"/>
            <a:r>
              <a:rPr sz="1600" b="1" i="0">
                <a:solidFill>
                  <a:srgbClr val="161A3E"/>
                </a:solidFill>
                <a:latin typeface="Calibri"/>
              </a:rPr>
              <a:t>Important</a:t>
            </a:r>
          </a:p>
        </p:txBody>
      </p:sp>
      <p:sp>
        <p:nvSpPr>
          <p:cNvPr id="15" name="TextBox 14"/>
          <p:cNvSpPr txBox="1"/>
          <p:nvPr/>
        </p:nvSpPr>
        <p:spPr>
          <a:xfrm>
            <a:off x="978407" y="4837176"/>
            <a:ext cx="10021824" cy="347472"/>
          </a:xfrm>
          <a:prstGeom prst="rect">
            <a:avLst/>
          </a:prstGeom>
          <a:noFill/>
        </p:spPr>
        <p:txBody>
          <a:bodyPr wrap="square" lIns="18288" tIns="18288" rIns="18288" bIns="18288" anchor="t">
            <a:noAutofit/>
          </a:bodyPr>
          <a:lstStyle/>
          <a:p>
            <a:pPr algn="l"/>
            <a:r>
              <a:rPr sz="1300" b="0" i="0">
                <a:solidFill>
                  <a:srgbClr val="44546A"/>
                </a:solidFill>
                <a:latin typeface="Calibri"/>
              </a:rPr>
              <a:t>Doubts submitted must be specific — vague or broad topic mentions will not be addressed in DoubtBusters. If an entire concept or session is unclear, raise it directly with your Campus Coordinator or submit a Support Ticket on the portal.</a:t>
            </a:r>
          </a:p>
        </p:txBody>
      </p:sp>
    </p:spTree>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7496</TotalTime>
  <Words>3192</Words>
  <Application>Microsoft Office PowerPoint</Application>
  <PresentationFormat>Widescreen</PresentationFormat>
  <Paragraphs>404</Paragraphs>
  <Slides>39</Slides>
  <Notes>39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Consolas</vt:lpstr>
      <vt:lpstr>BIA 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simon.nadar@bostoninstituteofanalytics.org</dc:creator>
  <cp:lastModifiedBy>Simon Nadar</cp:lastModifiedBy>
  <cp:revision>2309</cp:revision>
  <dcterms:created xsi:type="dcterms:W3CDTF">2020-12-23T13:36:00Z</dcterms:created>
  <dcterms:modified xsi:type="dcterms:W3CDTF">2026-06-06T11:51:40Z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